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50" b="1">
                <a:solidFill>
                  <a:srgbClr val="555B3E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>
              <a:spcAft>
                <a:spcPts val="1000"/>
              </a:spcAft>
              <a:defRPr sz="3600" b="0">
                <a:solidFill>
                  <a:srgbClr val="1C1D1A"/>
                </a:solidFill>
                <a:latin typeface="Georgia"/>
              </a:defRPr>
            </a:pPr>
            <a:r>
              <a:t>Connecting Your B2B Proposition to a Repeatable Revenue Engine</a:t>
            </a:r>
          </a:p>
          <a:p>
            <a:pPr>
              <a:defRPr sz="1200">
                <a:solidFill>
                  <a:srgbClr val="73746C"/>
                </a:solidFill>
                <a:latin typeface="Arial"/>
              </a:defRPr>
            </a:pPr>
            <a:r>
              <a:t>How we take your proven wholesale catalog, 13 partner venues, and retail storefront to build an automated customer acquisition, validation, and replenishment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566160"/>
            <a:ext cx="24505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3730752"/>
            <a:ext cx="21214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01 // FOUNDATION</a:t>
            </a:r>
          </a:p>
          <a:p>
            <a:pPr>
              <a:spcAft>
                <a:spcPts val="6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13 Verified Venues</a:t>
            </a:r>
          </a:p>
          <a:p>
            <a:pPr>
              <a:defRPr sz="919">
                <a:solidFill>
                  <a:srgbClr val="4A4B45"/>
                </a:solidFill>
                <a:latin typeface="Arial"/>
              </a:defRPr>
            </a:pPr>
            <a:r>
              <a:t>Proven adoption across cafes, restaurants &amp; lounges in Berlin, Bavaria &amp; NRW.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3566160"/>
            <a:ext cx="24505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3730752"/>
            <a:ext cx="21214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02 // OFFER</a:t>
            </a:r>
          </a:p>
          <a:p>
            <a:pPr>
              <a:spcAft>
                <a:spcPts val="6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96% Cafe Margin</a:t>
            </a:r>
          </a:p>
          <a:p>
            <a:pPr>
              <a:defRPr sz="919">
                <a:solidFill>
                  <a:srgbClr val="4A4B45"/>
                </a:solidFill>
                <a:latin typeface="Arial"/>
              </a:defRPr>
            </a:pPr>
            <a:r>
              <a:t>€0.195 leaf cost vs €5 menu price. Unbeatable wholesale economics for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24505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3730752"/>
            <a:ext cx="21214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03 // VALIDATION</a:t>
            </a:r>
          </a:p>
          <a:p>
            <a:pPr>
              <a:spcAft>
                <a:spcPts val="6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Automated Filter</a:t>
            </a:r>
          </a:p>
          <a:p>
            <a:pPr>
              <a:defRPr sz="919">
                <a:solidFill>
                  <a:srgbClr val="4A4B45"/>
                </a:solidFill>
                <a:latin typeface="Arial"/>
              </a:defRPr>
            </a:pPr>
            <a:r>
              <a:t>Eliminate tire-kickers with structured intake &amp; €9.90 credited trial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3566160"/>
            <a:ext cx="24505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2" y="3730752"/>
            <a:ext cx="21214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04 // SCALE</a:t>
            </a:r>
          </a:p>
          <a:p>
            <a:pPr>
              <a:spcAft>
                <a:spcPts val="6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Self-Serve Portal</a:t>
            </a:r>
          </a:p>
          <a:p>
            <a:pPr>
              <a:defRPr sz="919">
                <a:solidFill>
                  <a:srgbClr val="4A4B45"/>
                </a:solidFill>
                <a:latin typeface="Arial"/>
              </a:defRPr>
            </a:pPr>
            <a:r>
              <a:t>Automate 30-day refills and free founder time from manual WhatsApp chats.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01 // EMPIRICAL EVIDENCE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You Have Already Built What Most Brands Struggle to Prove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Your 24-page wholesale catalog reveals clear Product-Market Fit. The tea and concept work; the bottleneck is the commercial plumbing around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3328416" cy="3657600"/>
          </a:xfrm>
          <a:prstGeom prst="roundRect">
            <a:avLst/>
          </a:prstGeom>
          <a:solidFill>
            <a:srgbClr val="FBF4E8"/>
          </a:solidFill>
          <a:ln w="12700">
            <a:solidFill>
              <a:srgbClr val="9E7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399"/>
            <a:ext cx="296265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9E7427"/>
                </a:solidFill>
                <a:latin typeface="Arial"/>
              </a:defRPr>
            </a:pPr>
            <a:r>
              <a:t>ADOPTION PROOF</a:t>
            </a:r>
          </a:p>
          <a:p>
            <a:pPr>
              <a:spcAft>
                <a:spcPts val="400"/>
              </a:spcAft>
              <a:defRPr sz="2800" b="1">
                <a:solidFill>
                  <a:srgbClr val="9E7427"/>
                </a:solidFill>
                <a:latin typeface="Georgia"/>
              </a:defRPr>
            </a:pPr>
            <a:r>
              <a:t>13 Venues</a:t>
            </a:r>
          </a:p>
          <a:p>
            <a:pPr>
              <a:spcAft>
                <a:spcPts val="6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Established Hospitality Roster</a:t>
            </a:r>
          </a:p>
          <a:p>
            <a:pPr>
              <a:defRPr sz="900">
                <a:solidFill>
                  <a:srgbClr val="4A4B45"/>
                </a:solidFill>
                <a:latin typeface="Arial"/>
              </a:defRPr>
            </a:pPr>
            <a:r>
              <a:t>Active partner accounts across diverse dining categories:</a:t>
            </a:r>
            <a:br/>
            <a:r>
              <a:t>• Dining: Vesuvio Ristorante, Hürrem Sultan, La fiamma</a:t>
            </a:r>
            <a:br/>
            <a:r>
              <a:t>• Cafes/Brunch: Melt Creperie, Café Friedrichs</a:t>
            </a:r>
            <a:br/>
            <a:r>
              <a:t>• National Reach: Flawless (Würzburg), Huqqa &amp; Junia (NRW)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874519"/>
            <a:ext cx="3328416" cy="3657600"/>
          </a:xfrm>
          <a:prstGeom prst="roundRect">
            <a:avLst/>
          </a:prstGeom>
          <a:solidFill>
            <a:srgbClr val="EEF7F2"/>
          </a:solidFill>
          <a:ln w="12700">
            <a:solidFill>
              <a:srgbClr val="2E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057399"/>
            <a:ext cx="296265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2E6347"/>
                </a:solidFill>
                <a:latin typeface="Arial"/>
              </a:defRPr>
            </a:pPr>
            <a:r>
              <a:t>WHOLESALE ECONOMICS</a:t>
            </a:r>
          </a:p>
          <a:p>
            <a:pPr>
              <a:spcAft>
                <a:spcPts val="400"/>
              </a:spcAft>
              <a:defRPr sz="2800" b="1">
                <a:solidFill>
                  <a:srgbClr val="2E6347"/>
                </a:solidFill>
                <a:latin typeface="Georgia"/>
              </a:defRPr>
            </a:pPr>
            <a:r>
              <a:t>96% Margin</a:t>
            </a:r>
          </a:p>
          <a:p>
            <a:pPr>
              <a:spcAft>
                <a:spcPts val="6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The Cafe Operator Pitch Hook</a:t>
            </a:r>
          </a:p>
          <a:p>
            <a:pPr>
              <a:defRPr sz="900">
                <a:solidFill>
                  <a:srgbClr val="4A4B45"/>
                </a:solidFill>
                <a:latin typeface="Arial"/>
              </a:defRPr>
            </a:pPr>
            <a:r>
              <a:t>At your €10.74 netto wholesale price for 220g:</a:t>
            </a:r>
            <a:br/>
            <a:r>
              <a:t>• Yields 55 standard 330ml teapots (4g dosage)</a:t>
            </a:r>
            <a:br/>
            <a:r>
              <a:t>• Tea cost per pot: only €0.195</a:t>
            </a:r>
            <a:br/>
            <a:r>
              <a:t>• Sold at €5.00 menu price = €4.80 profit per pot</a:t>
            </a:r>
            <a:br/>
            <a:r>
              <a:t>• 25 pots/day = €3,600+ monthly net margin for the cafe.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74519"/>
            <a:ext cx="332841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2057399"/>
            <a:ext cx="296265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E5E3DC"/>
                </a:solidFill>
                <a:latin typeface="Arial"/>
              </a:defRPr>
            </a:pPr>
            <a:r>
              <a:t>PRODUCT &amp; HARDWARE</a:t>
            </a:r>
          </a:p>
          <a:p>
            <a:pPr>
              <a:spcAft>
                <a:spcPts val="400"/>
              </a:spcAft>
              <a:defRPr sz="2800" b="1">
                <a:solidFill>
                  <a:srgbClr val="E5E3DC"/>
                </a:solidFill>
                <a:latin typeface="Georgia"/>
              </a:defRPr>
            </a:pPr>
            <a:r>
              <a:t>18+ SKUs</a:t>
            </a:r>
          </a:p>
          <a:p>
            <a:pPr>
              <a:spcAft>
                <a:spcPts val="6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Turnkey Serving Ritual</a:t>
            </a:r>
          </a:p>
          <a:p>
            <a:pPr>
              <a:defRPr sz="900">
                <a:solidFill>
                  <a:srgbClr val="4A4B45"/>
                </a:solidFill>
                <a:latin typeface="Arial"/>
              </a:defRPr>
            </a:pPr>
            <a:r>
              <a:t>• 13 destination blends (Istanbul, Bombay, Paris, Marrakech)</a:t>
            </a:r>
            <a:br/>
            <a:r>
              <a:t>• Borosilicate glass pot (€10.86 net) + bamboo tray (€4.20 net)</a:t>
            </a:r>
            <a:br/>
            <a:r>
              <a:t>• Teebar wooden display rack (from €49 net)</a:t>
            </a:r>
            <a:br/>
            <a:r>
              <a:t>• Eliminates messy tea bag waste; creates a 90-second premium ritual.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23560"/>
            <a:ext cx="10515600" cy="502920"/>
          </a:xfrm>
          <a:prstGeom prst="roundRect">
            <a:avLst/>
          </a:prstGeom>
          <a:solidFill>
            <a:srgbClr val="F1EFE9"/>
          </a:solidFill>
          <a:ln w="25400">
            <a:solidFill>
              <a:srgbClr val="55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defRPr sz="950">
                <a:solidFill>
                  <a:srgbClr val="1C1D1A"/>
                </a:solidFill>
                <a:latin typeface="Arial"/>
              </a:defRPr>
            </a:pPr>
            <a:r>
              <a:t>Strategic Reality: We do not need to guess if cafes want Alandas. They already buy it. Our mission is to take Sidy out of manual order-taking and build a systematic pipeline to reach 100+ accounts.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02 // OPERATIONAL DIAGNOSIS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Where the Business Is Currently Experiencing Friction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Alandas operates as two separate silos: an offline B2B channel run manually, and an online store that leaks potential wholesale buyers.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129784" cy="3657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92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19"/>
            <a:ext cx="46725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23434"/>
                </a:solidFill>
                <a:latin typeface="Arial"/>
              </a:defRPr>
            </a:pPr>
            <a:r>
              <a:t>SILO 1: OFFLINE B2B WHOLESALE</a:t>
            </a:r>
          </a:p>
          <a:p>
            <a:pPr>
              <a:spcAft>
                <a:spcPts val="10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High Traction, High Founder Overhead</a:t>
            </a:r>
          </a:p>
          <a:p>
            <a:pPr>
              <a:spcAft>
                <a:spcPts val="6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• Unfiltered Inquiries: Leads arrive via Instagram DMs and WhatsApp. Sidy manually sifts real buyers from freebie seekers.</a:t>
            </a:r>
          </a:p>
          <a:p>
            <a:pPr>
              <a:spcAft>
                <a:spcPts val="6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• Manual PDF Distribution: The 24-page catalog is sent manually back-and-forth over email or chat attachments.</a:t>
            </a:r>
          </a:p>
          <a:p>
            <a:pPr>
              <a:spcAft>
                <a:spcPts val="6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• Manual Reorder Drag: Existing cafes text photos of empty bags. Sidy manually creates draft orders and invoices.</a:t>
            </a:r>
          </a:p>
          <a:p>
            <a:pPr>
              <a:spcAft>
                <a:spcPts val="6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• Founder Time Ceiling: Sidy's personal hours are trapped in order administration instead of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74519"/>
            <a:ext cx="5129784" cy="3657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92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103119"/>
            <a:ext cx="46725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23434"/>
                </a:solidFill>
                <a:latin typeface="Arial"/>
              </a:defRPr>
            </a:pPr>
            <a:r>
              <a:t>SILO 2: ONLINE STOREFRONT (ALANDAS.DE)</a:t>
            </a:r>
          </a:p>
          <a:p>
            <a:pPr>
              <a:spcAft>
                <a:spcPts val="10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Hiding Social Proof &amp; Conversion Leaks</a:t>
            </a:r>
          </a:p>
          <a:p>
            <a:pPr>
              <a:spcAft>
                <a:spcPts val="6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• Hiding 80% of Clients: The website only mentions 3 partners; 10 top venues like Vesuvio and Melt are invisible.</a:t>
            </a:r>
          </a:p>
          <a:p>
            <a:pPr>
              <a:spcAft>
                <a:spcPts val="6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• No Product Page Reviews: Zero customer star badges or review widgets on individual tea pages.</a:t>
            </a:r>
          </a:p>
          <a:p>
            <a:pPr>
              <a:spcAft>
                <a:spcPts val="6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• Trial Price Contradiction: Gastro page lists the sample box at €19.00; Contact page lists €9.90 netto.</a:t>
            </a:r>
          </a:p>
          <a:p>
            <a:pPr>
              <a:spcAft>
                <a:spcPts val="6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• Zero Tracking Attribution: No Google Analytics 4, Tag Manager, or Meta Pixel installed to measure conversions.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23560"/>
            <a:ext cx="10515600" cy="502920"/>
          </a:xfrm>
          <a:prstGeom prst="roundRect">
            <a:avLst/>
          </a:prstGeom>
          <a:solidFill>
            <a:srgbClr val="F1EFE9"/>
          </a:solidFill>
          <a:ln w="25400">
            <a:solidFill>
              <a:srgbClr val="55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defRPr sz="950">
                <a:solidFill>
                  <a:srgbClr val="1C1D1A"/>
                </a:solidFill>
                <a:latin typeface="Arial"/>
              </a:defRPr>
            </a:pPr>
            <a:r>
              <a:t>The Goal: Connect both worlds into a unified commercial engine where the website validates leads, the system qualifies them, and reorders happen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03 // STOREFRONT TRIAGE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Fixing the 5 Public Signals That Kill Commercial Trust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Before pouring new leads into the funnel, we must repair the five discrepancies discovered during the audit that cause wholesale buyers to hesitate.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74519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297680"/>
              </a:tblGrid>
              <a:tr h="6858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AUDIT DISCREPANCY</a:t>
                      </a:r>
                    </a:p>
                  </a:txBody>
                  <a:tcPr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WHAT CAFE BUYERS SEE TODAY</a:t>
                      </a:r>
                    </a:p>
                  </a:txBody>
                  <a:tcPr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THE PHASE 1 FIX &amp; COMMERCIAL RESULT</a:t>
                      </a:r>
                    </a:p>
                  </a:txBody>
                  <a:tcPr>
                    <a:solidFill>
                      <a:srgbClr val="F2EF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Sample Box Price 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Gastro page says €19.00; Contact page says €9.90 netto. Destroys pricing confidence.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Standardize €9.90 Netto: Credited 100% against first wholesale order. Restores trust &amp; secures trial intent.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Hidden Partner Proof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Website only mentions 3 partners; 10 major venues (Vesuvio, Melt, Friedrichs) are omitted.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Interactive Partner Map: Showcase 'Where to Drink Alandas in Berlin' with venue photos to prove legitimacy.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Teebar Display Out of Stock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Marketed as the core B2B counter asset, but product page shows Unavailable (€79.00).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Enable Pre-Orders: Turn on 'Pre-Order for Your Venue' with a 10-day notice. Stop turning away ready buyers.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Google Business Profile Disconnect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Listed under alanda's tea (5.0★) with address hidden, dropping pin in central Germany.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Set Berlin Service Area: Add Tee-Großhändler category &amp; forward calls to Sidy's active WhatsApp Business line.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Shipping Threshold 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Product pages say €59; shipping policy page says €40. Causes checkout abandonment.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Unify at €49 Threshold: Install interactive cart progress bar to lift retail average order value.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04 // LEAD VALIDATION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The Automated Lead Qualification Filter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How we protect Sidy's time by systematically filtering out tire-kickers and fast-tracking high-volume hospitality accounts.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505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39111"/>
            <a:ext cx="2121408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750" b="1">
                <a:solidFill>
                  <a:srgbClr val="E5E3DC"/>
                </a:solidFill>
                <a:latin typeface="Arial"/>
              </a:defRPr>
            </a:pPr>
            <a:r>
              <a:t>STAGE 1 // INTAKE</a:t>
            </a:r>
          </a:p>
          <a:p>
            <a:pPr>
              <a:spcAft>
                <a:spcPts val="800"/>
              </a:spcAft>
              <a:defRPr sz="1250" b="1">
                <a:solidFill>
                  <a:srgbClr val="1C1D1A"/>
                </a:solidFill>
                <a:latin typeface="Arial"/>
              </a:defRPr>
            </a:pPr>
            <a:r>
              <a:t>Structured Intake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Replaces open chat with a 60-second digital B2B form capturing:</a:t>
            </a:r>
            <a:br/>
            <a:r>
              <a:t>• Venue Name &amp; Address</a:t>
            </a:r>
            <a:br/>
            <a:r>
              <a:t>• German Tax ID (USt-IdNr)</a:t>
            </a:r>
            <a:br/>
            <a:r>
              <a:t>• Seating Covers (&gt;40)</a:t>
            </a:r>
            <a:br/>
            <a:r>
              <a:t>• Current Weekly Tea Spend</a:t>
            </a:r>
            <a:br/>
            <a:r>
              <a:t>• Decision Maker Contact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874519"/>
            <a:ext cx="2450592" cy="3657600"/>
          </a:xfrm>
          <a:prstGeom prst="roundRect">
            <a:avLst/>
          </a:prstGeom>
          <a:solidFill>
            <a:srgbClr val="ECEFE3"/>
          </a:solidFill>
          <a:ln w="12700">
            <a:solidFill>
              <a:srgbClr val="55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2039111"/>
            <a:ext cx="2121408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STAGE 2 // FILTER</a:t>
            </a:r>
          </a:p>
          <a:p>
            <a:pPr>
              <a:spcAft>
                <a:spcPts val="800"/>
              </a:spcAft>
              <a:defRPr sz="1250" b="1">
                <a:solidFill>
                  <a:srgbClr val="1C1D1A"/>
                </a:solidFill>
                <a:latin typeface="Arial"/>
              </a:defRPr>
            </a:pPr>
            <a:r>
              <a:t>Automated Scoring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System automatically categorizes:</a:t>
            </a:r>
            <a:br/>
            <a:r>
              <a:t>• Tier 1 (VIP Cafe): &gt;40 seats -&gt; instant booking link.</a:t>
            </a:r>
            <a:br/>
            <a:r>
              <a:t>• Tier 2 (Small Venue): Sample pack offer.</a:t>
            </a:r>
            <a:br/>
            <a:r>
              <a:t>• Disqualified: Home consumer -&gt; redirect to D2C store with 10% coupon.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2450592" cy="3657600"/>
          </a:xfrm>
          <a:prstGeom prst="roundRect">
            <a:avLst/>
          </a:prstGeom>
          <a:solidFill>
            <a:srgbClr val="FBF4E8"/>
          </a:solidFill>
          <a:ln w="12700">
            <a:solidFill>
              <a:srgbClr val="9E7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2039111"/>
            <a:ext cx="2121408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750" b="1">
                <a:solidFill>
                  <a:srgbClr val="9E7427"/>
                </a:solidFill>
                <a:latin typeface="Arial"/>
              </a:defRPr>
            </a:pPr>
            <a:r>
              <a:t>STAGE 3 // COMMIT</a:t>
            </a:r>
          </a:p>
          <a:p>
            <a:pPr>
              <a:spcAft>
                <a:spcPts val="800"/>
              </a:spcAft>
              <a:defRPr sz="1250" b="1">
                <a:solidFill>
                  <a:srgbClr val="1C1D1A"/>
                </a:solidFill>
                <a:latin typeface="Arial"/>
              </a:defRPr>
            </a:pPr>
            <a:r>
              <a:t>€9.90 Trial Box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Standardize Experience Box at €9.90 netto.</a:t>
            </a:r>
            <a:br/>
            <a:br/>
            <a:r>
              <a:t>• Eliminates 100% of freebie hunters.</a:t>
            </a:r>
            <a:br/>
            <a:r>
              <a:t>• Credited 100% on first order.</a:t>
            </a:r>
            <a:br/>
            <a:r>
              <a:t>• Includes pot, tray, spoon, 5 teas + QR brewing video.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874519"/>
            <a:ext cx="2450592" cy="3657600"/>
          </a:xfrm>
          <a:prstGeom prst="roundRect">
            <a:avLst/>
          </a:prstGeom>
          <a:solidFill>
            <a:srgbClr val="EEF7F2"/>
          </a:solidFill>
          <a:ln w="12700">
            <a:solidFill>
              <a:srgbClr val="2E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9992" y="2039111"/>
            <a:ext cx="2121408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750" b="1">
                <a:solidFill>
                  <a:srgbClr val="2E6347"/>
                </a:solidFill>
                <a:latin typeface="Arial"/>
              </a:defRPr>
            </a:pPr>
            <a:r>
              <a:t>STAGE 4 // CLOSE</a:t>
            </a:r>
          </a:p>
          <a:p>
            <a:pPr>
              <a:spcAft>
                <a:spcPts val="800"/>
              </a:spcAft>
              <a:defRPr sz="1250" b="1">
                <a:solidFill>
                  <a:srgbClr val="1C1D1A"/>
                </a:solidFill>
                <a:latin typeface="Arial"/>
              </a:defRPr>
            </a:pPr>
            <a:r>
              <a:t>4-Touch Follow-Up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Triggered automatically upon parcel delivery:</a:t>
            </a:r>
            <a:br/>
            <a:r>
              <a:t>• Day 2: WhatsApp unboxing check-in.</a:t>
            </a:r>
            <a:br/>
            <a:r>
              <a:t>• Day 4: Sensory brew &amp; margin guide.</a:t>
            </a:r>
            <a:br/>
            <a:r>
              <a:t>• Day 7: Turnkey Starter Crate close.</a:t>
            </a:r>
            <a:br/>
            <a:r>
              <a:t>• Sidy steps in only when warm.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623560"/>
            <a:ext cx="10515600" cy="502920"/>
          </a:xfrm>
          <a:prstGeom prst="roundRect">
            <a:avLst/>
          </a:prstGeom>
          <a:solidFill>
            <a:srgbClr val="F1EFE9"/>
          </a:solidFill>
          <a:ln w="25400">
            <a:solidFill>
              <a:srgbClr val="55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defRPr sz="950">
                <a:solidFill>
                  <a:srgbClr val="1C1D1A"/>
                </a:solidFill>
                <a:latin typeface="Arial"/>
              </a:defRPr>
            </a:pPr>
            <a:r>
              <a:t>The Filter Outcome: Sidy never spends 30 minutes fielding inquiries from home consumers again. Only qualified hospitality operators with real commercial intent reach his calendar.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05 // LEAD GENERATION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Building the Pipeline: Inbound Social &amp; Outbound Blitz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How we feed qualified leads into the qualification filter consistently using organic channels and targeted regional outreach.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129784" cy="4114800"/>
          </a:xfrm>
          <a:prstGeom prst="roundRect">
            <a:avLst/>
          </a:prstGeom>
          <a:solidFill>
            <a:srgbClr val="FBF4E8"/>
          </a:solidFill>
          <a:ln w="12700">
            <a:solidFill>
              <a:srgbClr val="9E7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19"/>
            <a:ext cx="46725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E7427"/>
                </a:solidFill>
                <a:latin typeface="Arial"/>
              </a:defRPr>
            </a:pPr>
            <a:r>
              <a:t>ENGINE 1 // INBOUND SOCIAL</a:t>
            </a:r>
          </a:p>
          <a:p>
            <a:pPr>
              <a:spcAft>
                <a:spcPts val="800"/>
              </a:spcAft>
              <a:defRPr sz="1350" b="1">
                <a:solidFill>
                  <a:srgbClr val="1C1D1A"/>
                </a:solidFill>
                <a:latin typeface="Arial"/>
              </a:defRPr>
            </a:pPr>
            <a:r>
              <a:t>OpenReply Comment-to-DM Engine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The Audience Asset: Alandas already has active followers on Instagram (@alandastea). Right now, engagement produces zero structured leads.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The Visual Hook: Sidy posts a 15-second Reel of tea blooming in the borosilicate pot on a bamboo tray.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The Trigger CTA: Caption: 'Berlin cafe &amp; restaurant managers: Comment GASTRO for our wholesale catalog &amp; sample kit.'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Automated Instant DM: OpenReply (self-hosted via official Meta Graph API) sends an automated DM within 3 seconds with the private intake form.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Zero SaaS Cost: No expensive $150/month ManyChat subscription.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74519"/>
            <a:ext cx="5129784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103119"/>
            <a:ext cx="46725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555B3E"/>
                </a:solidFill>
                <a:latin typeface="Arial"/>
              </a:defRPr>
            </a:pPr>
            <a:r>
              <a:t>ENGINE 2 // REGIONAL OUTBOUND</a:t>
            </a:r>
          </a:p>
          <a:p>
            <a:pPr>
              <a:spcAft>
                <a:spcPts val="800"/>
              </a:spcAft>
              <a:defRPr sz="1350" b="1">
                <a:solidFill>
                  <a:srgbClr val="1C1D1A"/>
                </a:solidFill>
                <a:latin typeface="Arial"/>
              </a:defRPr>
            </a:pPr>
            <a:r>
              <a:t>Berlin District-by-District Blitz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The Market Universe: Berlin has over 3,000 licensed food and beverage venues. We target 50 qualified venues per district cluster.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Charlottenburg / Ku'damm: Bakeries, patisseries, daytime cafes (Target blends: Earl Grey Blue, Sencha, Paris).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Kreuzberg / Neukölln: High-volume Mediterranean dining &amp; evening lounges (Hürrem Sultan profile; massive black tea demand).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Mitte / Friedrichshain: Specialty brunch spots &amp; boutique hotels (Melt Creperie profile).</a:t>
            </a:r>
          </a:p>
          <a:p>
            <a:pPr>
              <a:spcAft>
                <a:spcPts val="45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The Touchpoint: 20-second personalized founder voice note or physical mini-sample drop with QR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06 // OFFER ARCHITECTURE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The High-Conversion Offer: Turnkey Starter Crate (€249 Netto)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Cafes hesitate when forced to piece together individual teapots, trays, and tea bags. We package an all-in-one launch pack that makes buying an immediate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129784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19"/>
            <a:ext cx="46725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555B3E"/>
                </a:solidFill>
                <a:latin typeface="Arial"/>
              </a:defRPr>
            </a:pPr>
            <a:r>
              <a:t>PACKAGE SPECIFICATION</a:t>
            </a:r>
          </a:p>
          <a:p>
            <a:pPr>
              <a:spcAft>
                <a:spcPts val="1000"/>
              </a:spcAft>
              <a:defRPr sz="1350" b="1">
                <a:solidFill>
                  <a:srgbClr val="1C1D1A"/>
                </a:solidFill>
                <a:latin typeface="Arial"/>
              </a:defRPr>
            </a:pPr>
            <a:r>
              <a:t>Everything a Cafe Needs in One Box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1x Solid Wood Teebar Display: Visual countertop sales centerpiece holding 6 aroma-tight canisters (Catalog cost: €49.00).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6x Borosilicate Glass Teapots (330ml): Built-in lid strainers; zero messy clean-up for waitstaff (Catalog cost: €65.16).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6x Sustainable Bamboo Trays: Dedicated tableside presentation for 1 pot + 1 glass (Catalog cost: €25.20).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1x Stainless Dosing Spoon: Calibrated 1-pot dose; eliminates employee waste (Catalog cost: €2.00).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6x Flagship 220g Tea Pouches: 1.32kg total tea stock / ~330 fresh servings (Catalog cost: €64.44).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74519"/>
            <a:ext cx="5129784" cy="4114800"/>
          </a:xfrm>
          <a:prstGeom prst="roundRect">
            <a:avLst/>
          </a:prstGeom>
          <a:solidFill>
            <a:srgbClr val="EEF7F2"/>
          </a:solidFill>
          <a:ln w="12700">
            <a:solidFill>
              <a:srgbClr val="2E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103119"/>
            <a:ext cx="46725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E6347"/>
                </a:solidFill>
                <a:latin typeface="Arial"/>
              </a:defRPr>
            </a:pPr>
            <a:r>
              <a:t>COMMERCIAL UNIT ECONOMICS</a:t>
            </a:r>
          </a:p>
          <a:p>
            <a:pPr>
              <a:spcAft>
                <a:spcPts val="1000"/>
              </a:spcAft>
              <a:defRPr sz="1350" b="1">
                <a:solidFill>
                  <a:srgbClr val="1C1D1A"/>
                </a:solidFill>
                <a:latin typeface="Arial"/>
              </a:defRPr>
            </a:pPr>
            <a:r>
              <a:t>Day-1 Profit &amp; The Recurring Refill Lock-In</a:t>
            </a:r>
          </a:p>
          <a:p>
            <a:pPr>
              <a:defRPr sz="950">
                <a:solidFill>
                  <a:srgbClr val="4A4B45"/>
                </a:solidFill>
                <a:latin typeface="Arial"/>
              </a:defRPr>
            </a:pPr>
            <a:r>
              <a:t>For Alandas:</a:t>
            </a:r>
            <a:br/>
            <a:r>
              <a:t>• Total Wholesale Component Cost: €205.80</a:t>
            </a:r>
            <a:br/>
            <a:r>
              <a:t>• Starter Crate Package Price: €249.00 Netto</a:t>
            </a:r>
            <a:br/>
            <a:r>
              <a:t>• Day-1 Net Profit: €43.20 (zero hardware subsidy or loss).</a:t>
            </a:r>
            <a:br/>
            <a:br/>
            <a:r>
              <a:t>For the Cafe Operator:</a:t>
            </a:r>
            <a:br/>
            <a:r>
              <a:t>• 330 servings sold at €5.00 menu price = €1,650 in gross sales.</a:t>
            </a:r>
            <a:br/>
            <a:r>
              <a:t>• Net return on their €249 investment: €1,401 pure profit.</a:t>
            </a:r>
            <a:br/>
            <a:br/>
            <a:r>
              <a:t>The Recurring Cash Flow Lock-In:</a:t>
            </a:r>
            <a:br/>
            <a:r>
              <a:t>Once the display is on the counter, the venue reorders 2–4kg in refills monthly, generating €150–€300/month in recurring wholesale orders on autopilot.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07 // TECHNICAL ARCHITECTURE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The Automation Architecture: Orchestrating the Business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The software layer must connect the business, not complicate it. A clear division between automation, commerce state, and human judgment.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332841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399"/>
            <a:ext cx="296265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E5E3DC"/>
                </a:solidFill>
                <a:latin typeface="Arial"/>
              </a:defRPr>
            </a:pPr>
            <a:r>
              <a:t>LAYER 1 // TOUCHPOINTS</a:t>
            </a:r>
          </a:p>
          <a:p>
            <a:pPr>
              <a:spcAft>
                <a:spcPts val="8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Customer Frontends</a:t>
            </a:r>
          </a:p>
          <a:p>
            <a:pPr>
              <a:defRPr sz="950">
                <a:solidFill>
                  <a:srgbClr val="4A4B45"/>
                </a:solidFill>
                <a:latin typeface="Arial"/>
              </a:defRPr>
            </a:pPr>
            <a:r>
              <a:t>Where buyers interact:</a:t>
            </a:r>
            <a:br/>
            <a:r>
              <a:t>• Instagram: OpenReply comment triggers</a:t>
            </a:r>
            <a:br/>
            <a:r>
              <a:t>• Storefront: Shopify + B2B intake form</a:t>
            </a:r>
            <a:br/>
            <a:r>
              <a:t>• WhatsApp: Direct high-touch communication</a:t>
            </a:r>
            <a:br/>
            <a:r>
              <a:t>• Local Search: Google Business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874519"/>
            <a:ext cx="3328416" cy="3657600"/>
          </a:xfrm>
          <a:prstGeom prst="roundRect">
            <a:avLst/>
          </a:prstGeom>
          <a:solidFill>
            <a:srgbClr val="ECEFE3"/>
          </a:solidFill>
          <a:ln w="12700">
            <a:solidFill>
              <a:srgbClr val="55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057399"/>
            <a:ext cx="296265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555B3E"/>
                </a:solidFill>
                <a:latin typeface="Arial"/>
              </a:defRPr>
            </a:pPr>
            <a:r>
              <a:t>LAYER 2 // ORCHESTRATION</a:t>
            </a:r>
          </a:p>
          <a:p>
            <a:pPr>
              <a:spcAft>
                <a:spcPts val="8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Central Automation Core</a:t>
            </a:r>
          </a:p>
          <a:p>
            <a:pPr>
              <a:defRPr sz="950">
                <a:solidFill>
                  <a:srgbClr val="4A4B45"/>
                </a:solidFill>
                <a:latin typeface="Arial"/>
              </a:defRPr>
            </a:pPr>
            <a:r>
              <a:t>Managed via n8n + Webhooks:</a:t>
            </a:r>
            <a:br/>
            <a:r>
              <a:t>• Routes leads from IG/Form into CRM</a:t>
            </a:r>
            <a:br/>
            <a:r>
              <a:t>• Evaluates 5-point qualification score</a:t>
            </a:r>
            <a:br/>
            <a:r>
              <a:t>• Triggers automated delivery follow-up</a:t>
            </a:r>
            <a:br/>
            <a:r>
              <a:t>• Pings Sidy on WhatsApp for VIP leads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74519"/>
            <a:ext cx="332841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2057399"/>
            <a:ext cx="296265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E5E3DC"/>
                </a:solidFill>
                <a:latin typeface="Arial"/>
              </a:defRPr>
            </a:pPr>
            <a:r>
              <a:t>LAYER 3 // STATE OF RECORD</a:t>
            </a:r>
          </a:p>
          <a:p>
            <a:pPr>
              <a:spcAft>
                <a:spcPts val="800"/>
              </a:spcAft>
              <a:defRPr sz="1300" b="1">
                <a:solidFill>
                  <a:srgbClr val="1C1D1A"/>
                </a:solidFill>
                <a:latin typeface="Arial"/>
              </a:defRPr>
            </a:pPr>
            <a:r>
              <a:t>Commerce &amp; Customer Truth</a:t>
            </a:r>
          </a:p>
          <a:p>
            <a:pPr>
              <a:defRPr sz="950">
                <a:solidFill>
                  <a:srgbClr val="4A4B45"/>
                </a:solidFill>
                <a:latin typeface="Arial"/>
              </a:defRPr>
            </a:pPr>
            <a:r>
              <a:t>The databases holding truth:</a:t>
            </a:r>
            <a:br/>
            <a:r>
              <a:t>• Shopify: Orders, inventory, VAT status</a:t>
            </a:r>
            <a:br/>
            <a:r>
              <a:t>• CRM: Account stage (Trial, Won, Refill)</a:t>
            </a:r>
            <a:br/>
            <a:r>
              <a:t>• Human Control: Sidy handles tastings, negotiations, and partner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23560"/>
            <a:ext cx="10515600" cy="502920"/>
          </a:xfrm>
          <a:prstGeom prst="roundRect">
            <a:avLst/>
          </a:prstGeom>
          <a:solidFill>
            <a:srgbClr val="F1EFE9"/>
          </a:solidFill>
          <a:ln w="25400">
            <a:solidFill>
              <a:srgbClr val="55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defRPr sz="950">
                <a:solidFill>
                  <a:srgbClr val="1C1D1A"/>
                </a:solidFill>
                <a:latin typeface="Arial"/>
              </a:defRPr>
            </a:pPr>
            <a:r>
              <a:t>The Design Principle: Deterministic rules for pricing, inventory, and qualification. Human judgment for taste, hospitality culture, and long-term contracts.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08 // IMPLEMENTATION TIMELINE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The 30-Day Phased Implementation Plan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A disciplined rollout where each phase builds the foundation for the next, with zero disruption to daily tea fulfillment.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74519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3200400"/>
              </a:tblGrid>
              <a:tr h="8229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PHASE &amp; TIMELINE</a:t>
                      </a:r>
                    </a:p>
                  </a:txBody>
                  <a:tcPr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CORE ACTIONS &amp; DELIVERABLES</a:t>
                      </a:r>
                    </a:p>
                  </a:txBody>
                  <a:tcPr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C1D1A"/>
                          </a:solidFill>
                          <a:latin typeface="Arial"/>
                        </a:defRPr>
                      </a:pPr>
                      <a:r>
                        <a:t>MEASURABLE BUSINESS OUTCOME</a:t>
                      </a:r>
                    </a:p>
                  </a:txBody>
                  <a:tcPr>
                    <a:solidFill>
                      <a:srgbClr val="F2EFE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E7427"/>
                          </a:solidFill>
                          <a:latin typeface="Arial"/>
                        </a:defRPr>
                      </a:pPr>
                      <a:r>
                        <a:t>Phase 1: Triage &amp; Proof</a:t>
                      </a:r>
                      <a:br/>
                      <a:r>
                        <a:t>Days 1 –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• Standardize sample box at €9.90 netto credited.</a:t>
                      </a:r>
                      <a:br/>
                      <a:r>
                        <a:t>• Unify shipping at €49 threshold with cart progress bar.</a:t>
                      </a:r>
                      <a:br/>
                      <a:r>
                        <a:t>• Sync Google Business Profile to Berlin &amp; forward phone to WhatsApp.</a:t>
                      </a:r>
                      <a:br/>
                      <a:r>
                        <a:t>• Publish 13 verified partner venues on interactive map on alandas.de.</a:t>
                      </a:r>
                      <a:br/>
                      <a:r>
                        <a:t>• Enable pre-orders on Teebar wooden counter rack.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Stops Inbound Leaks</a:t>
                      </a:r>
                      <a:br/>
                      <a:r>
                        <a:t>Immediate trust boost; stops cart abandonment.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E7427"/>
                          </a:solidFill>
                          <a:latin typeface="Arial"/>
                        </a:defRPr>
                      </a:pPr>
                      <a:r>
                        <a:t>Phase 2: Intake &amp; Tracking</a:t>
                      </a:r>
                      <a:br/>
                      <a:r>
                        <a:t>Weeks 2 – 3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• Deploy structured B2B Lead Intake Form &amp; scoring filter.</a:t>
                      </a:r>
                      <a:br/>
                      <a:r>
                        <a:t>• Deploy GA4, GTM e-commerce tracking &amp; Meta CAPI.</a:t>
                      </a:r>
                      <a:br/>
                      <a:r>
                        <a:t>• Integrate Klaviyo &amp; launch automated 4-touch sample follow-up.</a:t>
                      </a:r>
                      <a:br/>
                      <a:r>
                        <a:t>• Launch B2C 'World Tour' Sampler Pack (€19.90).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Protects Founder Time</a:t>
                      </a:r>
                      <a:br/>
                      <a:r>
                        <a:t>Tire-kickers filtered; full funnel analytics active.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E7427"/>
                          </a:solidFill>
                          <a:latin typeface="Arial"/>
                        </a:defRPr>
                      </a:pPr>
                      <a:r>
                        <a:t>Phase 3: Social &amp; Video</a:t>
                      </a:r>
                      <a:br/>
                      <a:r>
                        <a:t>Weeks 4 –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• Deploy OpenReply on @alandastea (Reel trigger: 'GASTRO').</a:t>
                      </a:r>
                      <a:br/>
                      <a:r>
                        <a:t>• Batch-produce 9:16 vertical brewing Reels using OpenChatCut.</a:t>
                      </a:r>
                      <a:br/>
                      <a:r>
                        <a:t>• Launch Instagram Comment-to-DM B2B sample acquisition flow.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Zero-Cost Inbound Flow</a:t>
                      </a:r>
                      <a:br/>
                      <a:r>
                        <a:t>Directly monetizes existing Instagram audience.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E7427"/>
                          </a:solidFill>
                          <a:latin typeface="Arial"/>
                        </a:defRPr>
                      </a:pPr>
                      <a:r>
                        <a:t>Phase 4: Scaled B2B Portal</a:t>
                      </a:r>
                      <a:br/>
                      <a:r>
                        <a:t>Weeks 6 – 8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4A4B45"/>
                          </a:solidFill>
                          <a:latin typeface="Arial"/>
                        </a:defRPr>
                      </a:pPr>
                      <a:r>
                        <a:t>• Build self-serve Shopify B2B Wholesale Portal with instant VAT check.</a:t>
                      </a:r>
                      <a:br/>
                      <a:r>
                        <a:t>• Display €10.74 tea rates, €10.86 pots, and bulk 1kg catering tiers.</a:t>
                      </a:r>
                      <a:br/>
                      <a:r>
                        <a:t>• Launch Turnkey Hospitality Starter Crate (€249 package).</a:t>
                      </a:r>
                      <a:br/>
                      <a:r>
                        <a:t>• Execute Berlin Outbound Blitz (50 targeted venues/district).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E6347"/>
                          </a:solidFill>
                          <a:latin typeface="Arial"/>
                        </a:defRPr>
                      </a:pPr>
                      <a:r>
                        <a:t>Scales to 100+ Venues</a:t>
                      </a:r>
                      <a:br/>
                      <a:r>
                        <a:t>Automated reordering; recurring wholesale cash flow.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09 // MEASUREMENT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The System Needs a Scoreboard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We manage what we measure. The 6 key operational metrics that determine if the commercial engine is succeeding.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32841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103120"/>
            <a:ext cx="2999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METRIC 1</a:t>
            </a:r>
          </a:p>
          <a:p>
            <a:pPr>
              <a:spcAft>
                <a:spcPts val="4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Inquiry Response Time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Target: &lt; 5 minutes via OpenReply automated DM vs. 24–48 hours manual WhatsApp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965960"/>
            <a:ext cx="332841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2103120"/>
            <a:ext cx="2999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METRIC 2</a:t>
            </a:r>
          </a:p>
          <a:p>
            <a:pPr>
              <a:spcAft>
                <a:spcPts val="4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Lead Qualification Rate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Target: 100% of non-commercial freebie seekers filtered out before touching Sidy's calendar.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965960"/>
            <a:ext cx="332841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2103120"/>
            <a:ext cx="2999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METRIC 3</a:t>
            </a:r>
          </a:p>
          <a:p>
            <a:pPr>
              <a:spcAft>
                <a:spcPts val="4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Trial Box Conversion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Target: &gt; 40% of €9.90 sample boxes converting into first wholesale orders via 4-touch cadence.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40"/>
            <a:ext cx="332841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114800"/>
            <a:ext cx="2999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METRIC 4</a:t>
            </a:r>
          </a:p>
          <a:p>
            <a:pPr>
              <a:spcAft>
                <a:spcPts val="4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First-Order Starter Value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Target: €249 Starter Crate AOV rather than small piecemeal orders, ensuring Day-1 hardware profit.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3977640"/>
            <a:ext cx="332841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4114800"/>
            <a:ext cx="2999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METRIC 5</a:t>
            </a:r>
          </a:p>
          <a:p>
            <a:pPr>
              <a:spcAft>
                <a:spcPts val="4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30-Day Reorder Rate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Target: &gt; 75% recurring monthly replenishment driven by automated restock reminders.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977640"/>
            <a:ext cx="3328416" cy="1783080"/>
          </a:xfrm>
          <a:prstGeom prst="roundRect">
            <a:avLst/>
          </a:prstGeom>
          <a:solidFill>
            <a:srgbClr val="ECEFE3"/>
          </a:solidFill>
          <a:ln w="12700">
            <a:solidFill>
              <a:srgbClr val="55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4114800"/>
            <a:ext cx="29992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750" b="1">
                <a:solidFill>
                  <a:srgbClr val="555B3E"/>
                </a:solidFill>
                <a:latin typeface="Arial"/>
              </a:defRPr>
            </a:pPr>
            <a:r>
              <a:t>METRIC 6</a:t>
            </a:r>
          </a:p>
          <a:p>
            <a:pPr>
              <a:spcAft>
                <a:spcPts val="400"/>
              </a:spcAft>
              <a:defRPr sz="1150" b="1">
                <a:solidFill>
                  <a:srgbClr val="1C1D1A"/>
                </a:solidFill>
                <a:latin typeface="Arial"/>
              </a:defRPr>
            </a:pPr>
            <a:r>
              <a:t>Founder Manual Hours</a:t>
            </a:r>
          </a:p>
          <a:p>
            <a:pPr>
              <a:defRPr sz="880">
                <a:solidFill>
                  <a:srgbClr val="4A4B45"/>
                </a:solidFill>
                <a:latin typeface="Arial"/>
              </a:defRPr>
            </a:pPr>
            <a:r>
              <a:t>Target: Reduce Sidy's manual order-entry time by 12+ hours/week through self-serve portal.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555B3E"/>
                </a:solidFill>
                <a:latin typeface="Arial"/>
              </a:defRPr>
            </a:pPr>
            <a:r>
              <a:t>10 // IMMEDIATE KICKOFF</a:t>
            </a:r>
          </a:p>
          <a:p>
            <a:pPr>
              <a:spcAft>
                <a:spcPts val="400"/>
              </a:spcAft>
              <a:defRPr sz="2500" b="0">
                <a:solidFill>
                  <a:srgbClr val="1C1D1A"/>
                </a:solidFill>
                <a:latin typeface="Georgia"/>
              </a:defRPr>
            </a:pPr>
            <a:r>
              <a:t>How We Start: The Phase 1 Quick Wins This Week</a:t>
            </a:r>
          </a:p>
          <a:p>
            <a:pPr>
              <a:defRPr sz="1050">
                <a:solidFill>
                  <a:srgbClr val="73746C"/>
                </a:solidFill>
                <a:latin typeface="Arial"/>
              </a:defRPr>
            </a:pPr>
            <a:r>
              <a:t>We begin with immediate, high-impact fixes that remove friction, establish proof, and prepare the foundation.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129784" cy="4114800"/>
          </a:xfrm>
          <a:prstGeom prst="roundRect">
            <a:avLst/>
          </a:prstGeom>
          <a:solidFill>
            <a:srgbClr val="FBF4E8"/>
          </a:solidFill>
          <a:ln w="12700">
            <a:solidFill>
              <a:srgbClr val="9E7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19"/>
            <a:ext cx="46725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E7427"/>
                </a:solidFill>
                <a:latin typeface="Arial"/>
              </a:defRPr>
            </a:pPr>
            <a:r>
              <a:t>THE PARTNERSHIP ROLE</a:t>
            </a:r>
          </a:p>
          <a:p>
            <a:pPr>
              <a:spcAft>
                <a:spcPts val="800"/>
              </a:spcAft>
              <a:defRPr sz="1350" b="1">
                <a:solidFill>
                  <a:srgbClr val="1C1D1A"/>
                </a:solidFill>
                <a:latin typeface="Arial"/>
              </a:defRPr>
            </a:pPr>
            <a:r>
              <a:t>What I Build for Alandas</a:t>
            </a:r>
          </a:p>
          <a:p>
            <a:pPr>
              <a:spcAft>
                <a:spcPts val="800"/>
              </a:spcAft>
              <a:defRPr sz="950">
                <a:solidFill>
                  <a:srgbClr val="4A4B45"/>
                </a:solidFill>
                <a:latin typeface="Arial"/>
              </a:defRPr>
            </a:pPr>
            <a:r>
              <a:t>I do not operate as a typical freelance web designer who just changes fonts or installs bloated monthly plugins.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Technical Systems Architect: Building custom API connections, automated lead scoring, and clean server-side integrations.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Revenue Operations (RevOps): Fixing checkout leaks, harmonizing pricing, and setting up true attribution tracking.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Founder Liberation: Decoupling your personal hours from order fulfillment so you can focus on partnerships and brand 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74519"/>
            <a:ext cx="5129784" cy="4114800"/>
          </a:xfrm>
          <a:prstGeom prst="roundRect">
            <a:avLst/>
          </a:prstGeom>
          <a:solidFill>
            <a:srgbClr val="EEF7F2"/>
          </a:solidFill>
          <a:ln w="12700">
            <a:solidFill>
              <a:srgbClr val="2E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103119"/>
            <a:ext cx="46725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E6347"/>
                </a:solidFill>
                <a:latin typeface="Arial"/>
              </a:defRPr>
            </a:pPr>
            <a:r>
              <a:t>ACTION ITEMS FOR TODAY</a:t>
            </a:r>
          </a:p>
          <a:p>
            <a:pPr>
              <a:spcAft>
                <a:spcPts val="1000"/>
              </a:spcAft>
              <a:defRPr sz="1350" b="1">
                <a:solidFill>
                  <a:srgbClr val="1C1D1A"/>
                </a:solidFill>
                <a:latin typeface="Arial"/>
              </a:defRPr>
            </a:pPr>
            <a:r>
              <a:t>Phase 1 Kickoff Checklist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Step 1: Grant Shopify Access: Grant collaborator access so I can standardize the €9.90 sample box and unify shipping at €49.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Step 2: Sync Google Profile: Forward Google Business phone number to your active WhatsApp Business line and add Berlin service area.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Step 3: Publish Partner Map: Build and publish the interactive 13-venue partner map on alandas.de.</a:t>
            </a:r>
          </a:p>
          <a:p>
            <a:pPr>
              <a:spcAft>
                <a:spcPts val="600"/>
              </a:spcAft>
              <a:defRPr sz="919">
                <a:solidFill>
                  <a:srgbClr val="4A4B45"/>
                </a:solidFill>
                <a:latin typeface="Arial"/>
              </a:defRPr>
            </a:pPr>
            <a:r>
              <a:t>• Step 4: Deploy OpenReply: Deploy OpenReply on our server to prep your first Instagram Comment-to-DM Reel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950" b="1">
                <a:solidFill>
                  <a:srgbClr val="555B3E"/>
                </a:solidFill>
                <a:latin typeface="Arial"/>
              </a:defRPr>
            </a:pPr>
            <a:r>
              <a:t>11 // STRATEGIC ALIGNMENT</a:t>
            </a:r>
          </a:p>
          <a:p>
            <a:pPr algn="ctr">
              <a:spcAft>
                <a:spcPts val="1200"/>
              </a:spcAft>
              <a:defRPr sz="3600" b="0">
                <a:solidFill>
                  <a:srgbClr val="1C1D1A"/>
                </a:solidFill>
                <a:latin typeface="Georgia"/>
              </a:defRPr>
            </a:pPr>
            <a:r>
              <a:t>Let's Build Your Commercial Operating System</a:t>
            </a:r>
          </a:p>
          <a:p>
            <a:pPr algn="ctr">
              <a:defRPr sz="1200" i="1">
                <a:solidFill>
                  <a:srgbClr val="73746C"/>
                </a:solidFill>
                <a:latin typeface="Arial"/>
              </a:defRPr>
            </a:pPr>
            <a:r>
              <a:t>"You've already built the brand, the cultural blends, and proven traction across 13 venues. Let's install the system that scales it."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9607" y="3474720"/>
            <a:ext cx="8412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5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55367" y="37490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555B3E"/>
                </a:solidFill>
                <a:latin typeface="Arial"/>
              </a:defRPr>
            </a:pPr>
            <a:r>
              <a:t>Key Discussion Questions for Today:</a:t>
            </a:r>
          </a:p>
          <a:p>
            <a:pPr>
              <a:defRPr sz="1000">
                <a:solidFill>
                  <a:srgbClr val="4A4B45"/>
                </a:solidFill>
                <a:latin typeface="Arial"/>
              </a:defRPr>
            </a:pPr>
            <a:r>
              <a:t>1. Which of your 13 partner venues represents your ideal customer profile (dining, brunch, or lounge)?</a:t>
            </a:r>
            <a:br/>
            <a:r>
              <a:t>2. How much time are you currently spending manually entering WhatsApp reorders and invoices?</a:t>
            </a:r>
            <a:br/>
            <a:r>
              <a:t>3. Are you ready to grant Shopify collaborator access so we can launch Phase 1 this week?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73746C"/>
                </a:solidFill>
                <a:latin typeface="Arial"/>
              </a:defRPr>
            </a:pPr>
            <a:r>
              <a:t>ALANDAS TEA BERLIN • COMMERCIAL OPERATING SYSTEM</a:t>
            </a:r>
          </a:p>
          <a:p>
            <a:pPr algn="r">
              <a:defRPr sz="750" b="1">
                <a:solidFill>
                  <a:srgbClr val="73746C"/>
                </a:solidFill>
                <a:latin typeface="Arial"/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