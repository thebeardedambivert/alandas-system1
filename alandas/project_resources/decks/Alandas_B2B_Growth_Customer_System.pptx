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85800"/>
            <a:ext cx="1072865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515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44C32"/>
                </a:solidFill>
                <a:latin typeface="Calibri"/>
              </a:defRPr>
            </a:pPr>
            <a:r>
              <a:t>ALANDAS TEA // NATIONWIDE COMMERCIAL ARCHITECTURE</a:t>
            </a:r>
          </a:p>
          <a:p>
            <a:pPr>
              <a:spcAft>
                <a:spcPts val="1200"/>
              </a:spcAft>
              <a:defRPr sz="3800" b="1">
                <a:solidFill>
                  <a:srgbClr val="181916"/>
                </a:solidFill>
                <a:latin typeface="Georgia"/>
              </a:defRPr>
            </a:pPr>
            <a:r>
              <a:t>Master Commercial Growth &amp;</a:t>
            </a:r>
            <a:br/>
            <a:r>
              <a:t>Customer Operating System</a:t>
            </a:r>
          </a:p>
          <a:p>
            <a:pPr>
              <a:defRPr sz="1400">
                <a:solidFill>
                  <a:srgbClr val="5C5950"/>
                </a:solidFill>
                <a:latin typeface="Calibri"/>
              </a:defRPr>
            </a:pPr>
            <a:r>
              <a:t>Turning Alandas' verified hospitality proposition into a predictable nationwide B2B acquisition, qualification, and recurring-order revenue machine across Germany — Scaling from 25 to 100 Active Accounts.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4114800"/>
            <a:ext cx="1956816" cy="164592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4752" y="4261104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1</a:t>
            </a:r>
          </a:p>
          <a:p>
            <a:pPr>
              <a:spcAft>
                <a:spcPts val="4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01 Validate</a:t>
            </a:r>
          </a:p>
          <a:p>
            <a:pPr>
              <a:defRPr sz="1000">
                <a:solidFill>
                  <a:srgbClr val="5C5950"/>
                </a:solidFill>
                <a:latin typeface="Calibri"/>
              </a:defRPr>
            </a:pPr>
            <a:r>
              <a:t>Process, unit economics, Dolibarr CRM &amp; founder workload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4114800"/>
            <a:ext cx="1956816" cy="164592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4261104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2</a:t>
            </a:r>
          </a:p>
          <a:p>
            <a:pPr>
              <a:spcAft>
                <a:spcPts val="4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02 Foundation</a:t>
            </a:r>
          </a:p>
          <a:p>
            <a:pPr>
              <a:defRPr sz="1000">
                <a:solidFill>
                  <a:srgbClr val="5C5950"/>
                </a:solidFill>
                <a:latin typeface="Calibri"/>
              </a:defRPr>
            </a:pPr>
            <a:r>
              <a:t>Storefront triage, partner proof &amp; €19 trial box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2976" y="4114800"/>
            <a:ext cx="1956816" cy="164592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87568" y="4261104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3</a:t>
            </a:r>
          </a:p>
          <a:p>
            <a:pPr>
              <a:spcAft>
                <a:spcPts val="4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03 Acquire</a:t>
            </a:r>
          </a:p>
          <a:p>
            <a:pPr>
              <a:defRPr sz="1000">
                <a:solidFill>
                  <a:srgbClr val="5C5950"/>
                </a:solidFill>
                <a:latin typeface="Calibri"/>
              </a:defRPr>
            </a:pPr>
            <a:r>
              <a:t>Dual Instagram comment-to-DM &amp; German venue blitz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44384" y="4114800"/>
            <a:ext cx="1956816" cy="164592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6" y="4261104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4</a:t>
            </a:r>
          </a:p>
          <a:p>
            <a:pPr>
              <a:spcAft>
                <a:spcPts val="4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04 Convert</a:t>
            </a:r>
          </a:p>
          <a:p>
            <a:pPr>
              <a:defRPr sz="1000">
                <a:solidFill>
                  <a:srgbClr val="5C5950"/>
                </a:solidFill>
                <a:latin typeface="Calibri"/>
              </a:defRPr>
            </a:pPr>
            <a:r>
              <a:t>Intake qualification filter &amp; Turnkey Starter Crate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65792" y="4114800"/>
            <a:ext cx="1956816" cy="164592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0384" y="4261104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5</a:t>
            </a:r>
          </a:p>
          <a:p>
            <a:pPr>
              <a:spcAft>
                <a:spcPts val="4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05 Scale</a:t>
            </a:r>
          </a:p>
          <a:p>
            <a:pPr>
              <a:defRPr sz="1000">
                <a:solidFill>
                  <a:srgbClr val="5C5950"/>
                </a:solidFill>
                <a:latin typeface="Calibri"/>
              </a:defRPr>
            </a:pPr>
            <a:r>
              <a:t>Day-25 predictive refills &amp; Dolibarr-Hermes order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01 // EXECUTIVE OBSERVATION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What I See in Alandas Tea Berlin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The product and proposition are already proven in the market. The opportunity is connecting them with an automated commercial system.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02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ASSET 01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Distinctive Luxury Brand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Whole-leaf organic positioning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Editorial visual aesthetic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Stands out clearly against commodity dust tea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Strong culinary reputation across Berlin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ASSET 02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Proven B2B Proposition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Turnkey Teebar display concept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Ultra-thick shatter-resistant teapot eliminates cafe breakage fear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High-margin beverage category (96% cafe gross margin)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Direct founder-tested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ASSET 03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25 Live Partner Venues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Verified accounts across Germany (Berlin, Hamburg, Munich, Frankfurt, NRW)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Includes Vesuvio, Melt, Café Friedrichs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Solid proof of recurring wholesale demand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Foundation to scale to 100 active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5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ASSET 04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Omnichannel Infrastructure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Shopify storefront + custom domain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Dual Instagram channels: @alandastea B2C + B2B wholesale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Direct WhatsApp customer dialogue with cafe owners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Dolibarr CRM for clients, inventory &amp; PDF invoicing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02 // WHOLESALE POTENTIAL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The B2B Opportunity: Why Wholesale Leads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The catalog and customer base make a compelling case for treating B2B wholesale as the primary engine to reach 100 accounts across Germany.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03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87168" cy="173736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65960"/>
            <a:ext cx="20848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44C32"/>
                </a:solidFill>
                <a:latin typeface="Georgia"/>
              </a:defRPr>
            </a:pPr>
            <a:r>
              <a:t>25 → 100</a:t>
            </a:r>
          </a:p>
          <a:p>
            <a:pPr>
              <a:defRPr sz="1350" b="1">
                <a:solidFill>
                  <a:srgbClr val="181916"/>
                </a:solidFill>
                <a:latin typeface="Calibri"/>
              </a:defRPr>
            </a:pPr>
            <a:r>
              <a:t>Growth Trajectory</a:t>
            </a:r>
          </a:p>
          <a:p>
            <a:pPr>
              <a:defRPr sz="1050">
                <a:solidFill>
                  <a:srgbClr val="5C5950"/>
                </a:solidFill>
                <a:latin typeface="Calibri"/>
              </a:defRPr>
            </a:pPr>
            <a:r>
              <a:t>Phase 1: 25 active venues (€3k–€5k/mo) → Master Goal: 100 accounts (€15k–€30k/mo)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87168" cy="173736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8" y="1965960"/>
            <a:ext cx="20848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44C32"/>
                </a:solidFill>
                <a:latin typeface="Georgia"/>
              </a:defRPr>
            </a:pPr>
            <a:r>
              <a:t>18+</a:t>
            </a:r>
          </a:p>
          <a:p>
            <a:pPr>
              <a:defRPr sz="1350" b="1">
                <a:solidFill>
                  <a:srgbClr val="181916"/>
                </a:solidFill>
                <a:latin typeface="Calibri"/>
              </a:defRPr>
            </a:pPr>
            <a:r>
              <a:t>Artisan Tea SKUs</a:t>
            </a:r>
          </a:p>
          <a:p>
            <a:pPr>
              <a:defRPr sz="1050">
                <a:solidFill>
                  <a:srgbClr val="5C5950"/>
                </a:solidFill>
                <a:latin typeface="Calibri"/>
              </a:defRPr>
            </a:pPr>
            <a:r>
              <a:t>Covering black, green, herbal, fruit &amp; wellness blends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87168" cy="173736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965960"/>
            <a:ext cx="20848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44C32"/>
                </a:solidFill>
                <a:latin typeface="Georgia"/>
              </a:defRPr>
            </a:pPr>
            <a:r>
              <a:t>50%</a:t>
            </a:r>
          </a:p>
          <a:p>
            <a:pPr>
              <a:defRPr sz="1350" b="1">
                <a:solidFill>
                  <a:srgbClr val="181916"/>
                </a:solidFill>
                <a:latin typeface="Calibri"/>
              </a:defRPr>
            </a:pPr>
            <a:r>
              <a:t>Organic Share</a:t>
            </a:r>
          </a:p>
          <a:p>
            <a:pPr>
              <a:defRPr sz="1050">
                <a:solidFill>
                  <a:srgbClr val="5C5950"/>
                </a:solidFill>
                <a:latin typeface="Calibri"/>
              </a:defRPr>
            </a:pPr>
            <a:r>
              <a:t>Certified organic ingredients across blends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87168" cy="1737360"/>
          </a:xfrm>
          <a:prstGeom prst="roundRect">
            <a:avLst/>
          </a:prstGeom>
          <a:solidFill>
            <a:srgbClr val="F3EFE6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965960"/>
            <a:ext cx="20848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44C32"/>
                </a:solidFill>
                <a:latin typeface="Georgia"/>
              </a:defRPr>
            </a:pPr>
            <a:r>
              <a:t>€0.195</a:t>
            </a:r>
          </a:p>
          <a:p>
            <a:pPr>
              <a:defRPr sz="1350" b="1">
                <a:solidFill>
                  <a:srgbClr val="181916"/>
                </a:solidFill>
                <a:latin typeface="Calibri"/>
              </a:defRPr>
            </a:pPr>
            <a:r>
              <a:t>Leaf Cost per Pot</a:t>
            </a:r>
          </a:p>
          <a:p>
            <a:pPr>
              <a:defRPr sz="1050">
                <a:solidFill>
                  <a:srgbClr val="5C5950"/>
                </a:solidFill>
                <a:latin typeface="Calibri"/>
              </a:defRPr>
            </a:pPr>
            <a:r>
              <a:t>Enables 96% gross margin for cafes charging €5/pot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9379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4041648"/>
            <a:ext cx="475488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COMMERCIAL ADVANTAGE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Why Cafes Switch to Alandas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Aesthetic Teebar counter display elevates cafe interior design instantly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Whole-leaf brewing ritual justifies €4.50 - €6.00 premium menu price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Ultra-thick shatter-resistant teapot solves baristas' breakage fears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Replaces low-margin supermarket tea bags with an artisan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40480"/>
            <a:ext cx="519379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4041648"/>
            <a:ext cx="475488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FINANCIAL ADVANTAGE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Compounding Account Economics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First order Starter Crate establishes €249 netto immediate hardware revenue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Average venue consumes 4 to 8 pouches/month (€50 to €150 netto replenishment)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Phase 1: 25 accounts (€2,500–€5k/mo) → Master Goal: 100 accounts (€15,000–€30,000/mo)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Predictable recurring cash flow allowing Sidy to quit his Swiss job &amp; be his own boss again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03 // CURRENT BOTTLENECKS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Operational Diagnosis: Where Friction Lives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The current commercial process relies on founder manual effort at every step, creating leaks across the funnel.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04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962656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GAP 01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Fragmented Lead Capture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Inquiries scattered across 2 Instagram accounts, WhatsApp, and website email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Incoming leads need central routing into Dolibarr CRM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29968"/>
            <a:ext cx="2962656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GAP 02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Unsystematic Qualification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No automated filter for venue size or intent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Time wasted on home consumers asking for free wholesale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2029968"/>
            <a:ext cx="2962656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GAP 03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Undefined Trial Journey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Sample requests handled ad-hoc without structured follow-up cadence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Trial kit needs standardized €19 credited offer and tasting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288536"/>
            <a:ext cx="2962656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GAP 04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Manual WhatsApp Orders &amp; AI Fragility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Clients text paper order photos and voice notes via WhatsApp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Hermes AI previously crashed and lost prompts without containerized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4288536"/>
            <a:ext cx="2962656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GAP 05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Memory-Based Reorders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Refills depend entirely on customer remembering to reorder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Alandas does not anticipate inventory depletion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4288536"/>
            <a:ext cx="2962656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GAP 06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Founder Dual-Workload Strain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Sidy manages WhatsApp chats while working full-time in Switzerland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Uncontained bots hallucinated ecological claims; requires human-in-the-loop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04 // STRATEGIC SEPARATION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B2C Has a Different Problem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B2C e-commerce and B2B wholesale serve completely different unit economics and must be treated as separate workstreams.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05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B2B WHOLESALE ENGINE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Account-Level Relationship &amp; Retention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Customer: Cafe owners, F&amp;B directors, boutique hotels, baristas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Sales Cycle: 7 - 21 days from sample trial to Starter Crate setup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Order Value: €249 Day-1 setup + €150–€300 monthly recurring refills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Hardware Hook: Ultra-thick shatter-resistant teapot breaks cafe resistance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Primary Goal: Scale from 25 verified venues to 100 recurring accounts across Germany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Freedom Metric: €15,000–€30,000/mo recurring revenue to transition Sidy 100% full-time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B2C E-COMMERCE FUNNEL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Consumer Traffic, Conversion &amp; Gifting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Customer: Premium home tea drinkers, gift givers, aesthetic lifestyle buyers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Sales Cycle: Impulse / 24-hour decision on mobile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Order Value: €25 - €60 average order value (AOV)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Core Bottleneck: Funnel drop-offs, shipping threshold friction, cart abandonment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Primary Goal: Automate retention emails &amp; optimize checkout conversion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Leverage: Brand prestige, word-of-mouth, holiday gifting surges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05 // STRATEGIC FOCUS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Why Start with B2B Wholesale First?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There is already a formal offer, customer proof, and catalog. B2B represents the highest ROI for early engineering investment.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06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REASON 01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Existing Market Proof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25 active hospitality venues prove product-market fit immediately across Germany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No need to hypothesize customer interest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REASON 02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Predictable Path to Freedom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100 cafe accounts generate €180,000 to €360,000 in annual recurring revenue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Provides stable cash flow so Sidy can transition 100% to Alandas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REASON 03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Finite, Mappable Journey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B2B has exact linear steps: Lead → Qualify → €19 Trial → Crate → Refill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Easy to instrument and automate inside Dolibarr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REASON 04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Immediate Founder Leverage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Streamlines 10–20 daily WhatsApp chats with AI-assisted drafting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Sidy stays in control of customer chats while AI handles Dolibarr invoices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6064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REASON 05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Living Billboards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Every cafe serving Alandas acts as a branded showroom for retail consumers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Drives passive B2C awareness nationwide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06 // ECONOMIC MODEL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What Account Economics Mean for Alandas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Average Order Value is a consumer metric. In B2B wholesale, revenue is unlocked through compounding Account Lifetime Value toward 100 active accounts.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07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TRANSACTION 1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Day-1 Starter Crate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€249.00 Netto Retail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Teebar counter rack + 6 jars + 6 heavy glass pots + trays + spoon + 6 pouches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Ultra-thick shatter-proof glass teapots solve breakage fears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Alandas Hardware Margin: €43.20 + turnkey counter presence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TRANSACTION 2+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Monthly Replenishment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€150 - €300 Netto / Month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Average cafe orders 4 to 8 replacement pouches every 25 days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Alandas Tea Margin: ~65% gross profit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Automated reorder triggers on Day 25 via Dolibarr &amp; WhatsApp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COMPOUNDING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Annual Account Value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Phase 1: 25 active partner accounts generate €50,000 - €95,000 recurring base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Master Goal: 100 accounts scale past €180,000–€360,000 recurring ARR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Yields €15,000–€30,000/mo gross margin for Alandas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Delivers full financial independence &amp; sustainable wholesale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07 // PIPELINE ARCHITECTURE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The Managed 9-Stage B2B Journey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Every hospitality relationship follows an exact linear path with a visible stage, assigned owner, and automated trigger.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08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56816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01 // PROSPECT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Target cafe identified across German dining clusters (Berlin, Munich, Hamburg, Frankfurt, NRW)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956816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02 // ENQUIRY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Inbound DM on B2B Instagram or response to outbound 96% gross margin pitch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956816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03 // QUALIFY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60-sec intake scores seating capacity, volume &amp; commercial 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19272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447288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04 // TRIAL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€19.00 credited trial box (ultra-thick teapot + tray + spoon + 5 blends) dispatched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19272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447288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05 // SALES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Day-4 structured tasting review &amp; Starter Crate proposal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319272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3447288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06 // ORDER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€249 Starter Crate invoiced via Dolibarr &amp; delivered with turnkey display 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9744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937760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07 // ONBOARD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Counter display installed &amp; staff brewing cheat sheets deployed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809744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937760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08 // REORDER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Day-25 predictive refill prompt dispatched automatically via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809744"/>
            <a:ext cx="340156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4937760"/>
            <a:ext cx="29992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STAGE 09 // EXPAND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Multi-venue group rollout &amp; seasonal iced tea menu rotations across Germany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08 // ACQUISITION CHANNELS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Lead Generation: Building Top-of-Funnel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Combining automated inbound conversion with targeted outbound prospecting across Germany's top culinary hubs.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09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INBOUND ENGINE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Dual Instagram &amp; Web Capture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Dual Instagram Channels: B2C @alandastea + dedicated B2B hospitality profile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Automation: OpenReply comment-to-DM triggers on keywords ('TEABAR', 'TASTE')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Immediate Action: Direct DM sends interactive 60-second B2B qualification link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Website Capture: Dedicated B2B landing page on Alandas.de with direct WhatsApp button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Conversion Target: 10 - 15 warm inbound hospitality inquiries /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OUTBOUND ENGINE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Nationwide Hospitality Blitz (Sprint to 100)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Target Metro Hubs: Berlin, Hamburg, Munich, Frankfurt, Cologne/Düsseldorf (NRW)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Google Maps Scraping: Identify cafes serving specialty coffee/tea with 30+ seats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Hook: 'How top German cafes generate 96% gross profit on table-side tea'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Cadence: 3-touch personalized message (DM/Email → WhatsApp → Tasting Dispatch)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Offer: €19 Credited Discovery Kit featuring the shatter-resistant glass teapot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09 // LEAD QUALIFICATION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Qualification Framework: Filtering for Commercial Intent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Qualification asks one fundamental question: Is there a real, profitable commercial opportunity 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10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FIT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Target Profile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Specialty hospitality venue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Seating capacity &gt; 30 seats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Emphasis on quality food &amp; coffee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Design-conscious interior aesthetic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NEED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Pain Point / Gap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Currently serves low-grade tea bags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Breakage fears with fragile glass teaware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Seeking to increase breakfast check averages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Desires table-side guest theater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VALUE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Account Potential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Serves minimum 15 - 30 hot beverages daily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Potential monthly reorder &gt; €150 netto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Multi-location expansion potential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Reliable payment track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TIMING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Purchase Window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Actively revamping seasonal beverage menu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Opening a new location or terrace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Displeased with existing tea supplier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Ready to trial within 7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6064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AUTHORITY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Decision Maker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Contact is owner, general manager or head barista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Direct WhatsApp access established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Power to approve €249 initial setup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Involved in tasting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10 // LEAD SCORING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Practical B2B Account Scoring Matrix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Automating tier classification to ensure Sidy spends 80% of his time closing high-probability accounts.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11 OF 28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645920"/>
                <a:gridCol w="4327855"/>
              </a:tblGrid>
              <a:tr h="61395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Criterion</a:t>
                      </a:r>
                    </a:p>
                  </a:txBody>
                  <a:tcPr>
                    <a:solidFill>
                      <a:srgbClr val="444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Attribute Measured</a:t>
                      </a:r>
                    </a:p>
                  </a:txBody>
                  <a:tcPr>
                    <a:solidFill>
                      <a:srgbClr val="444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Weight</a:t>
                      </a:r>
                    </a:p>
                  </a:txBody>
                  <a:tcPr>
                    <a:solidFill>
                      <a:srgbClr val="444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Routing &amp; Next Action</a:t>
                      </a:r>
                    </a:p>
                  </a:txBody>
                  <a:tcPr>
                    <a:solidFill>
                      <a:srgbClr val="444C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Premium Concept &amp; Seating &gt; 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Volume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44C32"/>
                          </a:solidFill>
                          <a:latin typeface="Calibri"/>
                        </a:defRPr>
                      </a:pPr>
                      <a:r>
                        <a:t>+2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Tier A: Priority €19 trial box + Founder WhatsApp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Already Serves Tea on Menu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Category Validation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44C32"/>
                          </a:solidFill>
                          <a:latin typeface="Calibri"/>
                        </a:defRPr>
                      </a:pPr>
                      <a:r>
                        <a:t>+2 Points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Tier A: Immediate comparison sample dispatch with heavy teapot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High-Volume Breakfast / Brunch 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Consumption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44C32"/>
                          </a:solidFill>
                          <a:latin typeface="Calibri"/>
                        </a:defRPr>
                      </a:pPr>
                      <a:r>
                        <a:t>+1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Tier A: Margin breakdown pitch focused on morning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Multiple Locations in Germany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Expansion Potential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44C32"/>
                          </a:solidFill>
                          <a:latin typeface="Calibri"/>
                        </a:defRPr>
                      </a:pPr>
                      <a:r>
                        <a:t>+2 Points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Tier A: Proposal prepared for group-level deployment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Clear Quality Upgrade Intent Stated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Buyer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444C32"/>
                          </a:solidFill>
                          <a:latin typeface="Calibri"/>
                        </a:defRPr>
                      </a:pPr>
                      <a:r>
                        <a:t>+2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Tier A/B: Fast-track to €19 trial box &amp; Starter Crate closing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Individual Consumer / Home Hobbyist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Non-Commercial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C48737"/>
                          </a:solidFill>
                          <a:latin typeface="Calibri"/>
                        </a:defRPr>
                      </a:pPr>
                      <a:r>
                        <a:t>Disqualify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81916"/>
                          </a:solidFill>
                          <a:latin typeface="Calibri"/>
                        </a:defRPr>
                      </a:pPr>
                      <a:r>
                        <a:t>Tier C: Route automatically to D2C retail e-commerce store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11 // DIAGNOSTIC DISCOVERY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What We Must Learn First: Discovery Audit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Building without evidence creates expensive software. Discovery replaces assumptions with verified operational facts.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12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VOLUME &amp; INQUIRIES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Funnel Inputs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How many B2B wholesale inquiries arrive each month?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What percentage come from Instagram vs referrals vs website?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How many €19 trial boxes are currently dispatched monthly?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What is the cost of shipping kits to unverified leads?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CONVERSION &amp; PRICING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Sales Velocity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What percentage of sample recipients become paying accounts?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What is the average first-order basket value (€)?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How do cafe owners react to the heavy borosilicate teapot?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How long does it take from first chat to payment clearance?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RETENTION &amp; WORKLOAD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Account Health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How many days between an active venue's refills in Dolibarr?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How to stabilize Dolibarr CRM &amp; Hermes AI order parsing?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How to support Sidy managing 10–20 daily WhatsApp chats?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What happens when a warm prospect goes quiet on WhatsApp?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12 // OPERATING METHOD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The Evidence-Based Intervention Loop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Every engineering and commercial change follows a disciplined scientific progression.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13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STAGE 01</a:t>
            </a:r>
          </a:p>
          <a:p>
            <a:pPr>
              <a:spcAft>
                <a:spcPts val="6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Observation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Founder texts cafes manually; cafes ghost or fear fragile glass teaware breaking in busy dining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29968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STAGE 02</a:t>
            </a:r>
          </a:p>
          <a:p>
            <a:pPr>
              <a:spcAft>
                <a:spcPts val="6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Evidence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Free samples attract non-commercial leads, while cafe owners' #1 objection is fragile glass teapots.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2029968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STAGE 03</a:t>
            </a:r>
          </a:p>
          <a:p>
            <a:pPr>
              <a:spcAft>
                <a:spcPts val="6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Consequence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Capital bled on freebies, while serious cafe buyers hesitate due to teaware durability concerns.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288536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STAGE 04</a:t>
            </a:r>
          </a:p>
          <a:p>
            <a:pPr>
              <a:spcAft>
                <a:spcPts val="6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Hypothesis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Requiring a €19.00 credited trial box featuring the shatter-resistant teapot eliminates tire-kickers and proves durability.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4288536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STAGE 05</a:t>
            </a:r>
          </a:p>
          <a:p>
            <a:pPr>
              <a:spcAft>
                <a:spcPts val="6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Intervention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Deploy 60-second intake filter, showcase heavy glass durability, and automate Dolibarr invoicing.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4288536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STAGE 06</a:t>
            </a:r>
          </a:p>
          <a:p>
            <a:pPr>
              <a:spcAft>
                <a:spcPts val="6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Measurement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Track 30-day trial-to-Starter-Crate conversion and quantify weekly founder hours saved.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13 // PHASE 1 ROADMAP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Phase 1: Discover &amp; Validate Current Operations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Map the real B2B process, quantify volume, conversion, order economics, and founder manual workload.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14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DISCOVERY WORKSTREAM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Auditing the Ground Truth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Audit existing Dolibarr CRM database, customer records, and product margins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Containerize and stabilize Hermes AI with persistent prompt templates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Calculate true gross margin on bulk pouches vs glass jars vs tea ware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Review the 25 live accounts to map reorder frequency and consumption velocity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Log exact hours Sidy spends balancing his day job with WhatsApp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CORE DELIVERABLES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Outputs of Phase 1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Dolibarr CRM API integration &amp; automated cloud backup architecture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Shatter-resistant teapot positioning &amp; €19 trial box pricing synchronization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Customer Lifetime Value (LTV) &amp; Churn Benchmark across the 25 active venues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Founder Time Allocation Audit (Identifying automatable drafting hours)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Sprint roadmap toward 100 active accounts across Germany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14 // PHASE 2 ROADMAP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Phase 2: Fix Storefront Commercial Friction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Resolving contradictory pricing, sample clarity, out-of-stock equipment, and local trust blockers.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15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FIX 01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€19 Discovery Box Price Sync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Standardize €19 trial box (heavy teapot, tray, spoon, 5 blends) across web &amp; DMs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Clarify 100% credit policy against subsequent €249 Starter Crate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FIX 02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Partner Social Proof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Publish interactive map and logo grid of the 25 live partner cafes across Germany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Establish immediate hospitality credibility in major metro dining hubs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FIX 03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Highlight Teapot Durability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Address cafe owners' #1 objection: feature the ultra-thick, shatter-resistant glass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Reassure baristas that Alandas teapots withstand commercial dishwashers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FIX 04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Teebar Pre-Order Status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Remove 'out of stock' badge from Teebar countertop display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Enable 'B2B Pre-Order / Included with Turnkey Setup'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828800"/>
            <a:ext cx="19933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6064" y="2029968"/>
            <a:ext cx="15544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FIX 05</a:t>
            </a:r>
          </a:p>
          <a:p>
            <a:pPr>
              <a:spcAft>
                <a:spcPts val="8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Shipping Threshold Policy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Eliminate €59 vs €40 conflict across store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Unify free shipping threshold clearly at €49 across store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15 // PHASE 3 ROADMAP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Phase 3: Build the Multi-Channel Lead Engine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Target top hospitality accounts, establish multi-channel acquisition, and centralize all incoming inquiries.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16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INBOUND CAPTURE ARCHITECTURE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Dual Instagram &amp; OpenReply Loop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Dual Instagram strategy: Retail on @alandastea, wholesale on B2B page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Automate comment triggers ('TASTE', 'TEABAR', 'B2B') on video reels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Send personalized Instagram DM with instant 60-second qualification link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Install floating WhatsApp B2B chat widget on high-intent website pages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Capture 100% of social interest directly into Dolibarr CRM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OUTBOUND CAMPAIGN ENGINE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Nationwide Hospitality Blitz (Sprint to 100)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Compile target database of 100 high-potential cafes across German dining hubs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Google Maps automated discovery of specialty cafes and brunch venues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Deploy 3-touch outreach sequence focusing on beverage gross margins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Offer €19 credited trial box with ultra-thick shatter-resistant teapot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Target milestone: 25 active discovery tasting evaluations booked in 14 days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16 // PHASE 4 ROADMAP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Phase 4: Qualification &amp; Trial Automation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Score leads, route them intelligently, dispatch credited trial boxes, and automate structured follow-up.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17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AUTOMATED QUALIFICATION INTAKE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60-Second Scoring Filter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Step 1: Collect venue name, address, website / Instagram handle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Step 2: Collect seating capacity (&lt;20, 20-50, &gt;50 seats)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Step 3: Capture current tea setup (teabags, loose-leaf, none)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Tier A Routing (&gt;40 seats): Immediate WhatsApp notification to Sidy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Tier C Routing (Home consumer): Polite redirect to D2C retail store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Charge €19.00 credited fee for trial box (heavy teapot + tray + spoon + 5 blends)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4-TOUCH TRIAL CADENCE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Structured Follow-Up Automation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Day 0: WhatsApp dispatch notice with tracking and digital tasting menu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Day 2: Delivery confirmation + whole-leaf brewing temperature cheat sheet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Day 4: Interactive survey: 'How did the teapot handle and which blend was your favorite?'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Day 7: €249 Starter Crate proposal with €19 credit deducted automatically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Consequence: Eliminates leads ghosting after sample delivery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17 // PHASE 5 ROADMAP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Phase 5: Sales Conversion &amp; Turnkey Onboarding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Standardize the Turnkey Starter Crate pitch, barista brewing education, and Day-1 counter rollout.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18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THE €249 NETTO STARTER CRATE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Turnkey Beverage Profit Center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Handcrafted wooden Teebar countertop display rack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6 airtight borosilicate glass display jars with cork stoppers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6 ultra-thick shatter-resistant borosilicate glass teapots with infusers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6 bamboo serving presentation trays + stainless/wooden dosing spoon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6 commercial 220g pouches (yielding 330 premium cafe pots)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Financial pitch: Cafe generates €1,650 gross revenue from Day-1 crate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BARISTA TRAINING &amp; LAUNCH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Zero Friction Counter Deployment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Laminated counter cheat sheet: Water temp (80°C vs 100°C) &amp; steeping times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Pre-measured dosing spoon eliminates tea leaf waste and over-infusion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Digital brewing video guide accessible via QR code on display rack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Instant Dolibarr PDF invoice generation upon WhatsApp confirmation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Result: Baristas brew perfect tea even during chaotic rush hours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18 // PHASE 6 ROADMAP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Phase 6: Replenishment &amp; Predictive Reorders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Track purchasing patterns, trigger timely reorder reminders, and make reordering effortless.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19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CONSUMPTION PREDICTION MODEL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Anticipating Inventory Depletion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Baseline metric: 220g pouch = ~55 pots of tea at 4g/dose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Average cafe serving 15 pots/day depletes 6 pouches in ~22 days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Trigger Day 20: Gentle check-in: 'How are your jars looking for the weekend?'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Trigger Day 25: 1-click reorder link sent via WhatsApp with draft Dolibarr invoice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Eliminates running out of stock and emergency last-minute rush deliveries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CHURN PREVENTION &amp; HEALTH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Active Account Monitoring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Dolibarr CRM alert triggered if an active account passes Day 35 without reordering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Founder check-in prompt: 'Did seasonal foot traffic change or blends run out?'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Quarterly blend rotation: Introducing fresh seasonal herbal and iced blends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Wholesale customer portal: Fast re-ordering with instant PDF tax invoice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Result: 90-day account retention rate maintained above 85%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19 // PHASE 7 ROADMAP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Phase 7: B2C Growth &amp; Account Expansion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Strengthen B2C e-commerce retention and expand successful B2B accounts across multi-venue groups.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20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B2B ACCOUNT EXPANSION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The 'Land &amp; Expand' Playbook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Multi-Venue Expansion: Rolling Alandas into sister locations of existing accounts across Germany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Seasonal Menu Programs: Summer artisan cold brew iced tea menus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Counter Retail Display: Supplying 220g retail pouches for cafe guest take-home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Corporate Gifting: Packaging premium tea chests for hospitality corporate clients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Impact: Doubles average account value without acquiring new venues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B2C E-COMMERCE ACCELERATION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Scaling the Direct-to-Consumer Engine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Deploy automated post-purchase brewing education email sequence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Introduce whole-leaf loose tea monthly home refill subscriptions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Curate luxury gifting bundles for Q4 Christmas and holiday spikes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Leverage hospitality partner foot traffic via on-menu QR codes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Impact: Scalable consumer e-commerce running on full autopilot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20 // SYSTEMS BLUEPRINT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Technical Architecture: Orchestrating the Machine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The automation layer orchestrates the business without creating technical debt or fragile complexity.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21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LAYER 01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Touchpoints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Dual Instagram Profiles (B2C &amp; B2B)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WhatsApp Business (Sidy human-in-the-loop)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Shopify Storefront (Alandas.de)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Typeform / Tally B2B Intake Form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Google Maps Cafe Lead Scraper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LAYER 02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Orchestration &amp; AI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Hermes AI Order Parser (Vision &amp; Text)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OpenReply Instagram Comment-to-DM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Meta Ads MCP Optimization Agent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Deterministic Follow-up Rules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Dockerized Containerized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LAYER 03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System of Record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Dolibarr CRM &amp; ERP (System of Record)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Automated Cloud Backups &amp; REST API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Venue Profiles &amp; Lead Scores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Inventory Stock &amp; Reorder Tracker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PDF Invoices &amp; Tax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5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LAYER 04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Commerce &amp; Ops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Shopify B2B Wholesale Engine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SEPA &amp; Direct Bank Transfer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DHL / DPD Tracking Integration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Hardware Starter Crate Assembly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Predictive Reorder Schedule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21 // INTELLIGENT AUTOMATION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Automation Philosophy: AI-Native, Not AI-Everywhere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Rigidly separating where AI accelerates workflows from where deterministic code and human judgment must govern.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22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AI ACCELERATION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Unstructured to Structured Tasks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Hermes WhatsApp Order Extraction: Transcribes paper note photos &amp; voice notes into line items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Google Maps Prospecting: Identifies German cafes serving coffee/tea with seat counts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Meta Ads MCP Optimization: Automatically halts underperforming ads and scales winners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Drafting WhatsApp Responses: Generates contextual reply drafts for Sidy to approve in 1 tap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Message Classification: Categorizes DMs into Wholesale vs Retail vs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DETERMINISTIC LOGIC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Zero Guesswork / 100% Rules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Dolibarr Invoice Generation: Exact VAT, item codes, and pricing calculation with zero errors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Zero Botanical Hallucinations: Enforces verified ecological claims to prevent regulatory fines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Lead Scoring: Strict mathematical calculation (seats, tea presence, location)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Inventory Truth: Live stock decrement and low-inventory alerts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Follow-Up Policies: Sending Day 2/4/7 messages at exact timestamps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2029968"/>
            <a:ext cx="29626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81916"/>
                </a:solidFill>
                <a:latin typeface="Calibri"/>
              </a:defRPr>
            </a:pPr>
            <a:r>
              <a:t>HUMAN EXECUTIVE ROLE</a:t>
            </a:r>
          </a:p>
          <a:p>
            <a:pPr>
              <a:spcAft>
                <a:spcPts val="8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Sidy's High-Leverage Superpower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Sidy Manages WhatsApp Chats: Directly interacts with 10–20 cafe owners daily to build trust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Sensory Tastings &amp; Hospitality Deals: Sidy leads high-value partner relationships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Commercial Negotiation: Agreeing terms on multi-venue regional accounts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Custom Blends: Designing bespoke tea recipes for luxury hotels</a:t>
            </a:r>
          </a:p>
          <a:p>
            <a:pPr>
              <a:spcAft>
                <a:spcPts val="500"/>
              </a:spcAft>
              <a:defRPr sz="1200">
                <a:solidFill>
                  <a:srgbClr val="5C5950"/>
                </a:solidFill>
                <a:latin typeface="Calibri"/>
              </a:defRPr>
            </a:pPr>
            <a:r>
              <a:t>•  Strategic Exceptions: Handling bespoke partner requests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22 // PARALLEL OPERATIONS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The Parallel B2C E-Commerce Workstream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Run B2C optimization in parallel, but do not let it distract from proving the core B2B wholesale engine.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23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STAGE 1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Discover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SEO optimization for organic whole-leaf tea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Instagram aesthetics &amp; brewing reels on @alandastea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Customer referrals &amp; gifting shares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1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STAGE 2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Consider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Origin transparency &amp; organic certifications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Customer tasting reviews and ratings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Clear brewing instructions &amp; taste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STAGE 3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Convert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Unify shipping threshold copy at €49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1-click mobile checkout (Apple Pay / PayPal)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Sync €19 trial kit across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8716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0576" y="2029968"/>
            <a:ext cx="2048256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STAGE 4</a:t>
            </a:r>
          </a:p>
          <a:p>
            <a:pPr>
              <a:spcAft>
                <a:spcPts val="8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Retain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Post-purchase email: How to brew loose-leaf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Day 40 replenishment reminder sequence</a:t>
            </a:r>
          </a:p>
          <a:p>
            <a:pPr>
              <a:spcAft>
                <a:spcPts val="500"/>
              </a:spcAft>
              <a:defRPr sz="1150">
                <a:solidFill>
                  <a:srgbClr val="5C5950"/>
                </a:solidFill>
                <a:latin typeface="Calibri"/>
              </a:defRPr>
            </a:pPr>
            <a:r>
              <a:t>•  Seasonal gifting catalog for winter/holidays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23 // OPERATIONAL SCOREBOARD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B2B Measurement: The Commercial Dashboard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The operating system requires a real-time scoreboard to measure pipeline velocity and identify conversion bottlenecks.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24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1168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INQUIRY VELOCITY</a:t>
            </a:r>
          </a:p>
          <a:p>
            <a:pPr>
              <a:spcAft>
                <a:spcPts val="4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15 - 25 Leads / Mo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Target weekly inflow of qualified hospitality leads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Measured across Inbound DM and Outbound blitz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1168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QUALIFICATION RATE</a:t>
            </a:r>
          </a:p>
          <a:p>
            <a:pPr>
              <a:spcAft>
                <a:spcPts val="4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60% Pass Tier A/B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Percentage of inquiries meeting seating &amp; commercial criteria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Instantly filters out retail tire-kickers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2011680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TRIAL CONVERSION</a:t>
            </a:r>
          </a:p>
          <a:p>
            <a:pPr>
              <a:spcAft>
                <a:spcPts val="4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70% Order €19 Kit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Percentage of qualified leads ordering €19 credited box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Puts durable teapot directly in baristas' hands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270248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STARTER CRATE CLOSE</a:t>
            </a:r>
          </a:p>
          <a:p>
            <a:pPr>
              <a:spcAft>
                <a:spcPts val="4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40% Close Rate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Percentage of trial box recipients ordering €249 Starter Crate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Generates immediate positive ROI on acquisition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4270248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ACTIVE VENUES TARGET</a:t>
            </a:r>
          </a:p>
          <a:p>
            <a:pPr>
              <a:spcAft>
                <a:spcPts val="4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100 Accounts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Phase 1: 25 active venues (€3k–€5k/mo) → Master Goal: 100 accounts (€15k–€30k/mo)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Achieves full founder independence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4270248"/>
            <a:ext cx="29626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4C32"/>
                </a:solidFill>
                <a:latin typeface="Calibri"/>
              </a:defRPr>
            </a:pPr>
            <a:r>
              <a:t>FOUNDER WORKLOAD</a:t>
            </a:r>
          </a:p>
          <a:p>
            <a:pPr>
              <a:spcAft>
                <a:spcPts val="4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10–20 Chats / Day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Sidy manages high-touch WhatsApp relationships effortlessly with AI drafting</a:t>
            </a:r>
          </a:p>
          <a:p>
            <a:pPr>
              <a:defRPr sz="1100">
                <a:solidFill>
                  <a:srgbClr val="5C5950"/>
                </a:solidFill>
                <a:latin typeface="Calibri"/>
              </a:defRPr>
            </a:pPr>
            <a:r>
              <a:t>•  Zero bot hallucination risk with human-in-the-loop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24 // COMMERCE ANALYTICS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B2C Telemetry: Making Commerce Observable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Instrumenting the e-commerce funnel with modern event telemetry before scaling acquisition budgets.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25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FULL-FUNNEL EVENT TRACKING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GA4 + Google Tag Manager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Event 01 (view_item): Track engagement on product detail pages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Event 02 (add_to_cart): Monitor product selection &amp; cart additions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Event 03 (begin_checkout): Measure transition to payment flow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Event 04 (purchase): Verify conversion, revenue, and product basket mix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Meta CAPI: Server-side Conversions API for privacy-compliant ad attribution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AUTOMATED LIFECYCLE FLOWS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Klaviyo / Brevo Retention Loops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Welcome Sequence: Brand story, organic sourcing, whole-leaf education (3 emails)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Abandoned Cart Recovery: 1h / 24h triggers with free shipping incentive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Post-Purchase Onboarding: Brewing temperature video &amp; accessories guide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Replenishment Prompt: Triggered at Day 45 based on tea consumption volume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Win-Back Flow: Special reserve blend offer for dormant customers at Day 90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25 // FUTURE STATE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What Success Looks Like for Alandas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A commercial operating system that makes revenue opportunities visible, systematic, and compounding.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26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CENTRALIZED CAPTURE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A Lead Enters Once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No inquiry is ever lost in unread Instagram DMs or fragmented WhatsApp messages across personal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2029968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AUTOMATED INTAKE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A Lead Is Understood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Venue profile, seat count, and intent scored before Sidy spends a single minute texting.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2029968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MANAGED FOLLOW-UP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A Trial Has a Journey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The €19 trial box puts the shatter-resistant teapot in the barista's hands, backed by an automated 4-touch follow-up.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288536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PREDICTIVE REFILLS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A Customer Has a Next Action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Day 25 Dolibarr reorder reminders ensure steady wholesale cash flow and eliminate preventable cafe churn.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4288536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REAL-TIME CLARITY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Management Sees the Funnel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Sidy tracks pipeline velocity and order logs without manual chaos, while continuing his day job until hitting the 100-account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87368"/>
            <a:ext cx="34015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4288536"/>
            <a:ext cx="2962656" cy="165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MASTER SCALE MILESTONE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Founder Achieves Freedom</a:t>
            </a:r>
          </a:p>
          <a:p>
            <a:pPr>
              <a:defRPr sz="1200">
                <a:solidFill>
                  <a:srgbClr val="5C5950"/>
                </a:solidFill>
                <a:latin typeface="Calibri"/>
              </a:defRPr>
            </a:pPr>
            <a:r>
              <a:t>Scaling to 100 recurring accounts across Germany delivers €15k–€30k monthly gross margin, allowing Sidy to return to being his own boss full-time.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26 // IMPLEMENTATION PLAN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Proposed Master Roadmap: 6 Sprints to Scale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Each phase earns the next through evidence, validating assumptions before expanding scope.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27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5506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121615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1</a:t>
            </a:r>
          </a:p>
          <a:p>
            <a:pPr>
              <a:spcAft>
                <a:spcPts val="8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Validate &amp; Dolibarr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Audit volume &amp; economics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Stabilize Dolibarr CRM &amp; API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Fix 5 website blockers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Sync €19 trial box offer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828800"/>
            <a:ext cx="165506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61488" y="2029968"/>
            <a:ext cx="121615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2</a:t>
            </a:r>
          </a:p>
          <a:p>
            <a:pPr>
              <a:spcAft>
                <a:spcPts val="8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Intake &amp; Hermes AI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Deploy 60-sec intake form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Harden Hermes AI order parser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Launch €19 credited box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Containerize prompts &amp; backup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28800"/>
            <a:ext cx="165506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29968"/>
            <a:ext cx="121615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3</a:t>
            </a:r>
          </a:p>
          <a:p>
            <a:pPr>
              <a:spcAft>
                <a:spcPts val="8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Starter Crate &amp; Outbound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Package €249 Starter Crate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Scrape 100 German target cafes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Launch margin-based outreach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Highlight thick glass teapot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828800"/>
            <a:ext cx="165506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029968"/>
            <a:ext cx="121615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SPRINT 4</a:t>
            </a:r>
          </a:p>
          <a:p>
            <a:pPr>
              <a:spcAft>
                <a:spcPts val="8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Dual Instagram &amp; Inbound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Connect OpenReply Instagram loop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Deploy B2B comment-to-DM flows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Automate 4-touch tasting cadence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Install website WhatsApp widget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828800"/>
            <a:ext cx="165506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2029968"/>
            <a:ext cx="121615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SPRINT 5</a:t>
            </a:r>
          </a:p>
          <a:p>
            <a:pPr>
              <a:spcAft>
                <a:spcPts val="8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Retention &amp; Reorders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Deploy Day-25 refill automation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Dolibarr WhatsApp refill prompts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Barista counter cheat sheets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Monitor account churn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828800"/>
            <a:ext cx="165506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03536" y="2029968"/>
            <a:ext cx="1216152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SPRINT 6</a:t>
            </a:r>
          </a:p>
          <a:p>
            <a:pPr>
              <a:spcAft>
                <a:spcPts val="800"/>
              </a:spcAft>
              <a:defRPr sz="1400" b="1">
                <a:solidFill>
                  <a:srgbClr val="181916"/>
                </a:solidFill>
                <a:latin typeface="Georgia"/>
              </a:defRPr>
            </a:pPr>
            <a:r>
              <a:t>Scale to 100 Accounts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Meta Ads MCP budget scaling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Multi-venue hospitality rollouts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GA4 / GTM e-commerce tracking</a:t>
            </a:r>
          </a:p>
          <a:p>
            <a:pPr>
              <a:spcAft>
                <a:spcPts val="500"/>
              </a:spcAft>
              <a:defRPr sz="1100">
                <a:solidFill>
                  <a:srgbClr val="5C5950"/>
                </a:solidFill>
                <a:latin typeface="Calibri"/>
              </a:defRPr>
            </a:pPr>
            <a:r>
              <a:t>•  Sidy transitions to full-time boss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27 // IMMEDIATE KICKOFF</a:t>
            </a:r>
          </a:p>
          <a:p>
            <a:pPr>
              <a:spcAft>
                <a:spcPts val="400"/>
              </a:spcAft>
              <a:defRPr sz="2800" b="1">
                <a:solidFill>
                  <a:srgbClr val="181916"/>
                </a:solidFill>
                <a:latin typeface="Georgia"/>
              </a:defRPr>
            </a:pPr>
            <a:r>
              <a:t>The Immediate First Step: Mapping Ground Truth</a:t>
            </a:r>
          </a:p>
          <a:p>
            <a:pPr>
              <a:defRPr sz="1350">
                <a:solidFill>
                  <a:srgbClr val="5C5950"/>
                </a:solidFill>
                <a:latin typeface="Calibri"/>
              </a:defRPr>
            </a:pPr>
            <a:r>
              <a:t>Before building software, we map the exact realities of Alandas' current B2B process.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C5950"/>
                </a:solidFill>
                <a:latin typeface="Calibri"/>
              </a:defRPr>
            </a:pPr>
            <a:r>
              <a:t>ALANDAS TEA BERLIN  •  MASTER COMMERCIAL OPERATING SYSTEM  |  SLIDE 28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SPRINT 1 DISCOVERY AGENDA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7-Day Foundation &amp; Mapping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1. Stabilize Sidy's Dolibarr CRM with automated backups and REST API access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2. Re-establish Hermes AI WhatsApp order parsing with strict deterministic guardrails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3. Triage the 5 website blockers (synchronize €19 trial box, fix out-of-stock badge, update map pin)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4. Create the standardized 60-second B2B qualification intake filter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5. Compile the first batch of 25 priority target cafes in Berlin, Munich, Hamburg &amp; Frankfurt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19379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3096" y="2029968"/>
            <a:ext cx="4754880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48737"/>
                </a:solidFill>
                <a:latin typeface="Calibri"/>
              </a:defRPr>
            </a:pPr>
            <a:r>
              <a:t>CALL TO ACTION FOR SIDY</a:t>
            </a:r>
          </a:p>
          <a:p>
            <a:pPr>
              <a:spcAft>
                <a:spcPts val="800"/>
              </a:spcAft>
              <a:defRPr sz="2000" b="1">
                <a:solidFill>
                  <a:srgbClr val="181916"/>
                </a:solidFill>
                <a:latin typeface="Georgia"/>
              </a:defRPr>
            </a:pPr>
            <a:r>
              <a:t>The Next Decision Today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Commitment to the 100-Account Master Goal to transition Sidy back to full-time independence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Agreement to keep Sidy as the human-in-the-loop on WhatsApp (10–20 chats/day) with AI drafting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Approval to synchronize the €19 credited discovery box and highlight teapot durability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Access to Dolibarr instance, Shopify admin, and Instagram credentials for integration</a:t>
            </a:r>
          </a:p>
          <a:p>
            <a:pPr>
              <a:spcAft>
                <a:spcPts val="500"/>
              </a:spcAft>
              <a:defRPr sz="1250">
                <a:solidFill>
                  <a:srgbClr val="5C5950"/>
                </a:solidFill>
                <a:latin typeface="Calibri"/>
              </a:defRPr>
            </a:pPr>
            <a:r>
              <a:t>•  Kick off Sprint 1 immediately to stabilize operations before tonight's strategic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