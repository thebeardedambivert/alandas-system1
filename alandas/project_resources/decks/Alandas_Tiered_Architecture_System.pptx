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EXCALIDRAW STATE-MACHINE SPECIFICATION: tier1_essential_automation_flowchart.excalidraw</a:t>
            </a:r>
          </a:p>
          <a:p>
            <a:r>
              <a:t>Architecture: Terminal Start (Raw Lead) -&gt; Deduplication -&gt; Circuit Breaker (Rate Limit) -&gt; Section 5 TMG Legal Impressum -&gt; 3-Stage Waterfall -&gt; ICP Qualification Agent -&gt; Personalization Agent -&gt; Sidy WhatsApp 1-Tap Gate -&gt; Dolibarr CRM Sync -&gt; Temporal Day-4 &amp; Day-25 Timers.</a:t>
            </a:r>
          </a:p>
          <a:p>
            <a:r>
              <a:t>Inspect in browser: excalidraw_canvas_viewer.html#t1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EXCALIDRAW STATE-MACHINE SPECIFICATION: waterfall_enrichment_engine.excalidraw</a:t>
            </a:r>
          </a:p>
          <a:p>
            <a:r>
              <a:t>Stage 0 (Section 5 TMG Impressum, 0 EUR, 48% find) -&gt; Stage 1 (GitLeads bulk, 0.005 EUR, 24%) -&gt; Stage 2 (Prospeo, 0.02 EUR, 18%) -&gt; Stage 3 (LeadMagic Mobile, 0.05 EUR) -&gt; Deliverability Gate (&lt;1.5% bounce).</a:t>
            </a:r>
          </a:p>
          <a:p>
            <a:r>
              <a:t>Inspect in browser: excalidraw_canvas_viewer.html#wf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EXCALIDRAW STATE-MACHINE SPECIFICATION: tier2_governed_intelligence_flowchart.excalidraw</a:t>
            </a:r>
          </a:p>
          <a:p>
            <a:r>
              <a:t>Signal Ingest -&gt; LangGraph Creative Loop -&gt; Typed Decision Contract -&gt; Schema Gate -&gt; Policy Engine Check -&gt; Budget Delta Gate (&gt;5 EUR requires Sidy 1-tap sign-off) -&gt; Meta API Dispatch -&gt; Post-Action Query Verification -&gt; Immutable PostgreSQL Audit Ledger.</a:t>
            </a:r>
          </a:p>
          <a:p>
            <a:r>
              <a:t>Inspect in browser: excalidraw_canvas_viewer.html#t2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EXCALIDRAW STATE-MACHINE SPECIFICATION: tier3_autonomous_platform_flowchart.excalidraw</a:t>
            </a:r>
          </a:p>
          <a:p>
            <a:r>
              <a:t>Commercial Event Bus -&gt; Shared Revenue State Graph -&gt; Multi-Agent Domain Team (Acquisition, Creative, RevOps) -&gt; Continuous Experimentation -&gt; Automated Circuit Breakers -&gt; MCP Dynamic Tool Layer -&gt; Closed-Loop Flywheel.</a:t>
            </a:r>
          </a:p>
          <a:p>
            <a:r>
              <a:t>Inspect in browser: excalidraw_canvas_viewer.html#t3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Rounded Rectangle 1"/>
          <p:cNvSpPr/>
          <p:nvPr/>
        </p:nvSpPr>
        <p:spPr>
          <a:xfrm>
            <a:off x="731520" y="685800"/>
            <a:ext cx="10728655" cy="548640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80160" y="1051560"/>
            <a:ext cx="9601200" cy="2743200"/>
          </a:xfrm>
          <a:prstGeom prst="rect">
            <a:avLst/>
          </a:prstGeom>
          <a:noFill/>
        </p:spPr>
        <p:txBody>
          <a:bodyPr wrap="square">
            <a:spAutoFit/>
          </a:bodyPr>
          <a:lstStyle/>
          <a:p>
            <a:pPr>
              <a:spcAft>
                <a:spcPts val="1000"/>
              </a:spcAft>
              <a:defRPr sz="1300" b="1">
                <a:solidFill>
                  <a:srgbClr val="444C32"/>
                </a:solidFill>
                <a:latin typeface="Calibri"/>
              </a:defRPr>
            </a:pPr>
            <a:r>
              <a:t>EXECUTIVE ARCHITECTURE &amp; COMMERCIAL STRATEGY</a:t>
            </a:r>
          </a:p>
          <a:p>
            <a:pPr>
              <a:spcAft>
                <a:spcPts val="1000"/>
              </a:spcAft>
              <a:defRPr sz="4000" b="1">
                <a:solidFill>
                  <a:srgbClr val="181916"/>
                </a:solidFill>
                <a:latin typeface="Georgia"/>
              </a:defRPr>
            </a:pPr>
            <a:r>
              <a:t>Tiered Revenue Architecture</a:t>
            </a:r>
          </a:p>
          <a:p>
            <a:pPr>
              <a:defRPr sz="1400">
                <a:solidFill>
                  <a:srgbClr val="5C5950"/>
                </a:solidFill>
                <a:latin typeface="Calibri"/>
              </a:defRPr>
            </a:pPr>
            <a:r>
              <a:t>Designing for Durability, Governance &amp; Scalable Revenue: Why commercial AI systems must be tiered by operational maturity rather than framework count — A case study for Alandas Tea Berlin.</a:t>
            </a:r>
          </a:p>
        </p:txBody>
      </p:sp>
      <p:sp>
        <p:nvSpPr>
          <p:cNvPr id="4" name="Rounded Rectangle 3"/>
          <p:cNvSpPr/>
          <p:nvPr/>
        </p:nvSpPr>
        <p:spPr>
          <a:xfrm>
            <a:off x="1280160" y="3931920"/>
            <a:ext cx="3364992" cy="192024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99616" y="4133088"/>
            <a:ext cx="2926080" cy="1517904"/>
          </a:xfrm>
          <a:prstGeom prst="rect">
            <a:avLst/>
          </a:prstGeom>
          <a:noFill/>
        </p:spPr>
        <p:txBody>
          <a:bodyPr wrap="square" lIns="0" tIns="0" rIns="0" bIns="0">
            <a:spAutoFit/>
          </a:bodyPr>
          <a:lstStyle/>
          <a:p>
            <a:pPr>
              <a:spcAft>
                <a:spcPts val="400"/>
              </a:spcAft>
              <a:defRPr sz="1100" b="1">
                <a:solidFill>
                  <a:srgbClr val="444C32"/>
                </a:solidFill>
                <a:latin typeface="Calibri"/>
              </a:defRPr>
            </a:pPr>
            <a:r>
              <a:t>TIER 1 // ESSENTIAL</a:t>
            </a:r>
          </a:p>
          <a:p>
            <a:pPr>
              <a:spcAft>
                <a:spcPts val="800"/>
              </a:spcAft>
              <a:defRPr sz="1500" b="1">
                <a:solidFill>
                  <a:srgbClr val="181916"/>
                </a:solidFill>
                <a:latin typeface="Georgia"/>
              </a:defRPr>
            </a:pPr>
            <a:r>
              <a:t>Durable Automation</a:t>
            </a:r>
          </a:p>
          <a:p>
            <a:pPr>
              <a:spcAft>
                <a:spcPts val="500"/>
              </a:spcAft>
              <a:defRPr sz="1050">
                <a:solidFill>
                  <a:srgbClr val="5C5950"/>
                </a:solidFill>
                <a:latin typeface="Calibri"/>
              </a:defRPr>
            </a:pPr>
            <a:r>
              <a:t>•  Human-directed workflow automation</a:t>
            </a:r>
          </a:p>
          <a:p>
            <a:pPr>
              <a:spcAft>
                <a:spcPts val="500"/>
              </a:spcAft>
              <a:defRPr sz="1050">
                <a:solidFill>
                  <a:srgbClr val="5C5950"/>
                </a:solidFill>
                <a:latin typeface="Calibri"/>
              </a:defRPr>
            </a:pPr>
            <a:r>
              <a:t>•  Temporal + Python + Postgres + APIs</a:t>
            </a:r>
          </a:p>
          <a:p>
            <a:pPr>
              <a:spcAft>
                <a:spcPts val="500"/>
              </a:spcAft>
              <a:defRPr sz="1050">
                <a:solidFill>
                  <a:srgbClr val="5C5950"/>
                </a:solidFill>
                <a:latin typeface="Calibri"/>
              </a:defRPr>
            </a:pPr>
            <a:r>
              <a:t>•  Read ➔ Analyze ➔ Propose ➔ Human Approves ➔ Execute</a:t>
            </a:r>
          </a:p>
          <a:p>
            <a:pPr>
              <a:spcAft>
                <a:spcPts val="500"/>
              </a:spcAft>
              <a:defRPr sz="1050">
                <a:solidFill>
                  <a:srgbClr val="5C5950"/>
                </a:solidFill>
                <a:latin typeface="Calibri"/>
              </a:defRPr>
            </a:pPr>
            <a:r>
              <a:t>•  Day-1 safe founder leverage without fragility</a:t>
            </a:r>
          </a:p>
        </p:txBody>
      </p:sp>
      <p:sp>
        <p:nvSpPr>
          <p:cNvPr id="6" name="Rounded Rectangle 5"/>
          <p:cNvSpPr/>
          <p:nvPr/>
        </p:nvSpPr>
        <p:spPr>
          <a:xfrm>
            <a:off x="4956048" y="3931920"/>
            <a:ext cx="3364992" cy="192024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75504" y="4133088"/>
            <a:ext cx="2926080" cy="1517904"/>
          </a:xfrm>
          <a:prstGeom prst="rect">
            <a:avLst/>
          </a:prstGeom>
          <a:noFill/>
        </p:spPr>
        <p:txBody>
          <a:bodyPr wrap="square" lIns="0" tIns="0" rIns="0" bIns="0">
            <a:spAutoFit/>
          </a:bodyPr>
          <a:lstStyle/>
          <a:p>
            <a:pPr>
              <a:spcAft>
                <a:spcPts val="400"/>
              </a:spcAft>
              <a:defRPr sz="1100" b="1">
                <a:solidFill>
                  <a:srgbClr val="C48737"/>
                </a:solidFill>
                <a:latin typeface="Calibri"/>
              </a:defRPr>
            </a:pPr>
            <a:r>
              <a:t>TIER 2 // PROFESSIONAL</a:t>
            </a:r>
          </a:p>
          <a:p>
            <a:pPr>
              <a:spcAft>
                <a:spcPts val="800"/>
              </a:spcAft>
              <a:defRPr sz="1500" b="1">
                <a:solidFill>
                  <a:srgbClr val="181916"/>
                </a:solidFill>
                <a:latin typeface="Georgia"/>
              </a:defRPr>
            </a:pPr>
            <a:r>
              <a:t>Governed Intelligence</a:t>
            </a:r>
          </a:p>
          <a:p>
            <a:pPr>
              <a:spcAft>
                <a:spcPts val="500"/>
              </a:spcAft>
              <a:defRPr sz="1050">
                <a:solidFill>
                  <a:srgbClr val="5C5950"/>
                </a:solidFill>
                <a:latin typeface="Calibri"/>
              </a:defRPr>
            </a:pPr>
            <a:r>
              <a:t>•  Human-governed decision intelligence</a:t>
            </a:r>
          </a:p>
          <a:p>
            <a:pPr>
              <a:spcAft>
                <a:spcPts val="500"/>
              </a:spcAft>
              <a:defRPr sz="1050">
                <a:solidFill>
                  <a:srgbClr val="5C5950"/>
                </a:solidFill>
                <a:latin typeface="Calibri"/>
              </a:defRPr>
            </a:pPr>
            <a:r>
              <a:t>•  Temporal + Policy Engine + Decision Contracts</a:t>
            </a:r>
          </a:p>
          <a:p>
            <a:pPr>
              <a:spcAft>
                <a:spcPts val="500"/>
              </a:spcAft>
              <a:defRPr sz="1050">
                <a:solidFill>
                  <a:srgbClr val="5C5950"/>
                </a:solidFill>
                <a:latin typeface="Calibri"/>
              </a:defRPr>
            </a:pPr>
            <a:r>
              <a:t>•  Reason ➔ Decision Contract ➔ Policy Gate ➔ Verify</a:t>
            </a:r>
          </a:p>
          <a:p>
            <a:pPr>
              <a:spcAft>
                <a:spcPts val="500"/>
              </a:spcAft>
              <a:defRPr sz="1050">
                <a:solidFill>
                  <a:srgbClr val="5C5950"/>
                </a:solidFill>
                <a:latin typeface="Calibri"/>
              </a:defRPr>
            </a:pPr>
            <a:r>
              <a:t>•  Scaling venues (25–70 accounts) with financial guardrails</a:t>
            </a:r>
          </a:p>
        </p:txBody>
      </p:sp>
      <p:sp>
        <p:nvSpPr>
          <p:cNvPr id="8" name="Rounded Rectangle 7"/>
          <p:cNvSpPr/>
          <p:nvPr/>
        </p:nvSpPr>
        <p:spPr>
          <a:xfrm>
            <a:off x="8631936" y="3931920"/>
            <a:ext cx="3364992" cy="192024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51392" y="4133088"/>
            <a:ext cx="2926080" cy="1517904"/>
          </a:xfrm>
          <a:prstGeom prst="rect">
            <a:avLst/>
          </a:prstGeom>
          <a:noFill/>
        </p:spPr>
        <p:txBody>
          <a:bodyPr wrap="square" lIns="0" tIns="0" rIns="0" bIns="0">
            <a:spAutoFit/>
          </a:bodyPr>
          <a:lstStyle/>
          <a:p>
            <a:pPr>
              <a:spcAft>
                <a:spcPts val="400"/>
              </a:spcAft>
              <a:defRPr sz="1100" b="1">
                <a:solidFill>
                  <a:srgbClr val="2F5339"/>
                </a:solidFill>
                <a:latin typeface="Calibri"/>
              </a:defRPr>
            </a:pPr>
            <a:r>
              <a:t>TIER 3 // AUTONOMOUS</a:t>
            </a:r>
          </a:p>
          <a:p>
            <a:pPr>
              <a:spcAft>
                <a:spcPts val="800"/>
              </a:spcAft>
              <a:defRPr sz="1500" b="1">
                <a:solidFill>
                  <a:srgbClr val="181916"/>
                </a:solidFill>
                <a:latin typeface="Georgia"/>
              </a:defRPr>
            </a:pPr>
            <a:r>
              <a:t>Autonomous Platform</a:t>
            </a:r>
          </a:p>
          <a:p>
            <a:pPr>
              <a:spcAft>
                <a:spcPts val="500"/>
              </a:spcAft>
              <a:defRPr sz="1050">
                <a:solidFill>
                  <a:srgbClr val="5C5950"/>
                </a:solidFill>
                <a:latin typeface="Calibri"/>
              </a:defRPr>
            </a:pPr>
            <a:r>
              <a:t>•  Policy-governed revenue operations</a:t>
            </a:r>
          </a:p>
          <a:p>
            <a:pPr>
              <a:spcAft>
                <a:spcPts val="500"/>
              </a:spcAft>
              <a:defRPr sz="1050">
                <a:solidFill>
                  <a:srgbClr val="5C5950"/>
                </a:solidFill>
                <a:latin typeface="Calibri"/>
              </a:defRPr>
            </a:pPr>
            <a:r>
              <a:t>•  Temporal Runtime + Domain Agents + MCP Tools</a:t>
            </a:r>
          </a:p>
          <a:p>
            <a:pPr>
              <a:spcAft>
                <a:spcPts val="500"/>
              </a:spcAft>
              <a:defRPr sz="1050">
                <a:solidFill>
                  <a:srgbClr val="5C5950"/>
                </a:solidFill>
                <a:latin typeface="Calibri"/>
              </a:defRPr>
            </a:pPr>
            <a:r>
              <a:t>•  Observe ➔ Reason ➔ Policy Eval ➔ Measure ➔ Learn</a:t>
            </a:r>
          </a:p>
          <a:p>
            <a:pPr>
              <a:spcAft>
                <a:spcPts val="500"/>
              </a:spcAft>
              <a:defRPr sz="1050">
                <a:solidFill>
                  <a:srgbClr val="5C5950"/>
                </a:solidFill>
                <a:latin typeface="Calibri"/>
              </a:defRPr>
            </a:pPr>
            <a:r>
              <a:t>•  Enterprise scale (100+ accounts) with automated feedback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731520" y="365760"/>
            <a:ext cx="10728655" cy="1280160"/>
          </a:xfrm>
          <a:prstGeom prst="rect">
            <a:avLst/>
          </a:prstGeom>
          <a:noFill/>
        </p:spPr>
        <p:txBody>
          <a:bodyPr wrap="square" lIns="0" tIns="0" rIns="0" bIns="0">
            <a:spAutoFit/>
          </a:bodyPr>
          <a:lstStyle/>
          <a:p>
            <a:pPr>
              <a:spcAft>
                <a:spcPts val="400"/>
              </a:spcAft>
              <a:defRPr sz="1150" b="1">
                <a:solidFill>
                  <a:srgbClr val="444C32"/>
                </a:solidFill>
                <a:latin typeface="Calibri"/>
              </a:defRPr>
            </a:pPr>
            <a:r>
              <a:t>01 // ARCHITECTURAL PHILOSOPHY</a:t>
            </a:r>
          </a:p>
          <a:p>
            <a:pPr>
              <a:spcAft>
                <a:spcPts val="400"/>
              </a:spcAft>
              <a:defRPr sz="2800" b="1">
                <a:solidFill>
                  <a:srgbClr val="181916"/>
                </a:solidFill>
                <a:latin typeface="Georgia"/>
              </a:defRPr>
            </a:pPr>
            <a:r>
              <a:t>The Trap of 'Maximum Architecture' on Day 1</a:t>
            </a:r>
          </a:p>
          <a:p>
            <a:pPr>
              <a:defRPr sz="1350">
                <a:solidFill>
                  <a:srgbClr val="5C5950"/>
                </a:solidFill>
                <a:latin typeface="Calibri"/>
              </a:defRPr>
            </a:pPr>
            <a:r>
              <a:t>Treating every customer as if they require an autonomous multi-agent platform creates expensive, unmaintainable software.</a:t>
            </a:r>
          </a:p>
        </p:txBody>
      </p:sp>
      <p:sp>
        <p:nvSpPr>
          <p:cNvPr id="3" name="TextBox 2"/>
          <p:cNvSpPr txBox="1"/>
          <p:nvPr/>
        </p:nvSpPr>
        <p:spPr>
          <a:xfrm>
            <a:off x="731520" y="6400800"/>
            <a:ext cx="10728655" cy="320040"/>
          </a:xfrm>
          <a:prstGeom prst="rect">
            <a:avLst/>
          </a:prstGeom>
          <a:noFill/>
        </p:spPr>
        <p:txBody>
          <a:bodyPr wrap="none" lIns="0" tIns="0" rIns="0" bIns="0">
            <a:spAutoFit/>
          </a:bodyPr>
          <a:lstStyle/>
          <a:p>
            <a:pPr>
              <a:defRPr sz="950" b="1">
                <a:solidFill>
                  <a:srgbClr val="5C5950"/>
                </a:solidFill>
                <a:latin typeface="Calibri"/>
              </a:defRPr>
            </a:pPr>
            <a:r>
              <a:t>ALANDAS TEA BERLIN  •  TIERED REVENUE ARCHITECTURE  |  SLIDE 02 OF 19</a:t>
            </a:r>
          </a:p>
        </p:txBody>
      </p:sp>
      <p:sp>
        <p:nvSpPr>
          <p:cNvPr id="4" name="Rounded Rectangle 3"/>
          <p:cNvSpPr/>
          <p:nvPr/>
        </p:nvSpPr>
        <p:spPr>
          <a:xfrm>
            <a:off x="731520" y="1828800"/>
            <a:ext cx="3401568"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029968"/>
            <a:ext cx="2962656" cy="3986784"/>
          </a:xfrm>
          <a:prstGeom prst="rect">
            <a:avLst/>
          </a:prstGeom>
          <a:noFill/>
        </p:spPr>
        <p:txBody>
          <a:bodyPr wrap="square" lIns="0" tIns="0" rIns="0" bIns="0">
            <a:spAutoFit/>
          </a:bodyPr>
          <a:lstStyle/>
          <a:p>
            <a:pPr>
              <a:spcAft>
                <a:spcPts val="400"/>
              </a:spcAft>
              <a:defRPr sz="1100" b="1">
                <a:solidFill>
                  <a:srgbClr val="C48737"/>
                </a:solidFill>
                <a:latin typeface="Calibri"/>
              </a:defRPr>
            </a:pPr>
            <a:r>
              <a:t>THE ANTI-PATTERN</a:t>
            </a:r>
          </a:p>
          <a:p>
            <a:pPr>
              <a:spcAft>
                <a:spcPts val="800"/>
              </a:spcAft>
              <a:defRPr sz="1800" b="1">
                <a:solidFill>
                  <a:srgbClr val="181916"/>
                </a:solidFill>
                <a:latin typeface="Georgia"/>
              </a:defRPr>
            </a:pPr>
            <a:r>
              <a:t>Technology-First Sprawl</a:t>
            </a:r>
          </a:p>
          <a:p>
            <a:pPr>
              <a:spcAft>
                <a:spcPts val="500"/>
              </a:spcAft>
              <a:defRPr sz="1200">
                <a:solidFill>
                  <a:srgbClr val="5C5950"/>
                </a:solidFill>
                <a:latin typeface="Calibri"/>
              </a:defRPr>
            </a:pPr>
            <a:r>
              <a:t>•  'Let's add LangGraph for all tasks!'</a:t>
            </a:r>
          </a:p>
          <a:p>
            <a:pPr>
              <a:spcAft>
                <a:spcPts val="500"/>
              </a:spcAft>
              <a:defRPr sz="1200">
                <a:solidFill>
                  <a:srgbClr val="5C5950"/>
                </a:solidFill>
                <a:latin typeface="Calibri"/>
              </a:defRPr>
            </a:pPr>
            <a:r>
              <a:t>•  'We need an MCP server for everything!'</a:t>
            </a:r>
          </a:p>
          <a:p>
            <a:pPr>
              <a:spcAft>
                <a:spcPts val="500"/>
              </a:spcAft>
              <a:defRPr sz="1200">
                <a:solidFill>
                  <a:srgbClr val="5C5950"/>
                </a:solidFill>
                <a:latin typeface="Calibri"/>
              </a:defRPr>
            </a:pPr>
            <a:r>
              <a:t>•  'Let's introduce Redis, Kafka &amp; Vector DBs immediately!'</a:t>
            </a:r>
          </a:p>
          <a:p>
            <a:pPr>
              <a:spcAft>
                <a:spcPts val="500"/>
              </a:spcAft>
              <a:defRPr sz="1200">
                <a:solidFill>
                  <a:srgbClr val="5C5950"/>
                </a:solidFill>
                <a:latin typeface="Calibri"/>
              </a:defRPr>
            </a:pPr>
            <a:r>
              <a:t>•  Result: 12 points of failure, massive latency, and fragile debugging.</a:t>
            </a:r>
          </a:p>
        </p:txBody>
      </p:sp>
      <p:sp>
        <p:nvSpPr>
          <p:cNvPr id="6" name="Rounded Rectangle 5"/>
          <p:cNvSpPr/>
          <p:nvPr/>
        </p:nvSpPr>
        <p:spPr>
          <a:xfrm>
            <a:off x="4389120" y="1828800"/>
            <a:ext cx="3401568"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2029968"/>
            <a:ext cx="2962656" cy="3986784"/>
          </a:xfrm>
          <a:prstGeom prst="rect">
            <a:avLst/>
          </a:prstGeom>
          <a:noFill/>
        </p:spPr>
        <p:txBody>
          <a:bodyPr wrap="square" lIns="0" tIns="0" rIns="0" bIns="0">
            <a:spAutoFit/>
          </a:bodyPr>
          <a:lstStyle/>
          <a:p>
            <a:pPr>
              <a:spcAft>
                <a:spcPts val="400"/>
              </a:spcAft>
              <a:defRPr sz="1100" b="1">
                <a:solidFill>
                  <a:srgbClr val="444C32"/>
                </a:solidFill>
                <a:latin typeface="Calibri"/>
              </a:defRPr>
            </a:pPr>
            <a:r>
              <a:t>THE GROUND TRUTH</a:t>
            </a:r>
          </a:p>
          <a:p>
            <a:pPr>
              <a:spcAft>
                <a:spcPts val="800"/>
              </a:spcAft>
              <a:defRPr sz="1800" b="1">
                <a:solidFill>
                  <a:srgbClr val="181916"/>
                </a:solidFill>
                <a:latin typeface="Georgia"/>
              </a:defRPr>
            </a:pPr>
            <a:r>
              <a:t>What Founders Actually Need</a:t>
            </a:r>
          </a:p>
          <a:p>
            <a:pPr>
              <a:spcAft>
                <a:spcPts val="500"/>
              </a:spcAft>
              <a:defRPr sz="1200">
                <a:solidFill>
                  <a:srgbClr val="5C5950"/>
                </a:solidFill>
                <a:latin typeface="Calibri"/>
              </a:defRPr>
            </a:pPr>
            <a:r>
              <a:t>•  Lead inquiries from Instagram &amp; Google Maps never get lost</a:t>
            </a:r>
          </a:p>
          <a:p>
            <a:pPr>
              <a:spcAft>
                <a:spcPts val="500"/>
              </a:spcAft>
              <a:defRPr sz="1200">
                <a:solidFill>
                  <a:srgbClr val="5C5950"/>
                </a:solidFill>
                <a:latin typeface="Calibri"/>
              </a:defRPr>
            </a:pPr>
            <a:r>
              <a:t>•  Durable WhatsApp order parsing that never crashes or wipes state</a:t>
            </a:r>
          </a:p>
          <a:p>
            <a:pPr>
              <a:spcAft>
                <a:spcPts val="500"/>
              </a:spcAft>
              <a:defRPr sz="1200">
                <a:solidFill>
                  <a:srgbClr val="5C5950"/>
                </a:solidFill>
                <a:latin typeface="Calibri"/>
              </a:defRPr>
            </a:pPr>
            <a:r>
              <a:t>•  Invoices created accurately in Dolibarr without manual math</a:t>
            </a:r>
          </a:p>
          <a:p>
            <a:pPr>
              <a:spcAft>
                <a:spcPts val="500"/>
              </a:spcAft>
              <a:defRPr sz="1200">
                <a:solidFill>
                  <a:srgbClr val="5C5950"/>
                </a:solidFill>
                <a:latin typeface="Calibri"/>
              </a:defRPr>
            </a:pPr>
            <a:r>
              <a:t>•  Timely 25-day refill prompts so cafes don't churn quietly</a:t>
            </a:r>
          </a:p>
        </p:txBody>
      </p:sp>
      <p:sp>
        <p:nvSpPr>
          <p:cNvPr id="8" name="Rounded Rectangle 7"/>
          <p:cNvSpPr/>
          <p:nvPr/>
        </p:nvSpPr>
        <p:spPr>
          <a:xfrm>
            <a:off x="8046720" y="1828800"/>
            <a:ext cx="3401568"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66176" y="2029968"/>
            <a:ext cx="2962656" cy="3986784"/>
          </a:xfrm>
          <a:prstGeom prst="rect">
            <a:avLst/>
          </a:prstGeom>
          <a:noFill/>
        </p:spPr>
        <p:txBody>
          <a:bodyPr wrap="square" lIns="0" tIns="0" rIns="0" bIns="0">
            <a:spAutoFit/>
          </a:bodyPr>
          <a:lstStyle/>
          <a:p>
            <a:pPr>
              <a:spcAft>
                <a:spcPts val="400"/>
              </a:spcAft>
              <a:defRPr sz="1100" b="1">
                <a:solidFill>
                  <a:srgbClr val="444C32"/>
                </a:solidFill>
                <a:latin typeface="Calibri"/>
              </a:defRPr>
            </a:pPr>
            <a:r>
              <a:t>THE SOLUTION</a:t>
            </a:r>
          </a:p>
          <a:p>
            <a:pPr>
              <a:spcAft>
                <a:spcPts val="800"/>
              </a:spcAft>
              <a:defRPr sz="1800" b="1">
                <a:solidFill>
                  <a:srgbClr val="181916"/>
                </a:solidFill>
                <a:latin typeface="Georgia"/>
              </a:defRPr>
            </a:pPr>
            <a:r>
              <a:t>Requirement-First Tiers</a:t>
            </a:r>
          </a:p>
          <a:p>
            <a:pPr>
              <a:spcAft>
                <a:spcPts val="500"/>
              </a:spcAft>
              <a:defRPr sz="1200">
                <a:solidFill>
                  <a:srgbClr val="5C5950"/>
                </a:solidFill>
                <a:latin typeface="Calibri"/>
              </a:defRPr>
            </a:pPr>
            <a:r>
              <a:t>•  Tier 1: Durable automation solves 80% of founder friction</a:t>
            </a:r>
          </a:p>
          <a:p>
            <a:pPr>
              <a:spcAft>
                <a:spcPts val="500"/>
              </a:spcAft>
              <a:defRPr sz="1200">
                <a:solidFill>
                  <a:srgbClr val="5C5950"/>
                </a:solidFill>
                <a:latin typeface="Calibri"/>
              </a:defRPr>
            </a:pPr>
            <a:r>
              <a:t>•  Tier 2: Policy engines protect budget &amp; pricing as volume grows</a:t>
            </a:r>
          </a:p>
          <a:p>
            <a:pPr>
              <a:spcAft>
                <a:spcPts val="500"/>
              </a:spcAft>
              <a:defRPr sz="1200">
                <a:solidFill>
                  <a:srgbClr val="5C5950"/>
                </a:solidFill>
                <a:latin typeface="Calibri"/>
              </a:defRPr>
            </a:pPr>
            <a:r>
              <a:t>•  Tier 3: Autonomous feedback loops scale revenue at maturity</a:t>
            </a:r>
          </a:p>
          <a:p>
            <a:pPr>
              <a:spcAft>
                <a:spcPts val="500"/>
              </a:spcAft>
              <a:defRPr sz="1200">
                <a:solidFill>
                  <a:srgbClr val="5C5950"/>
                </a:solidFill>
                <a:latin typeface="Calibri"/>
              </a:defRPr>
            </a:pPr>
            <a:r>
              <a:t>•  Rule: Never build Tier 3 until Tier 1 unit economics are proven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731520" y="365760"/>
            <a:ext cx="10728655" cy="1280160"/>
          </a:xfrm>
          <a:prstGeom prst="rect">
            <a:avLst/>
          </a:prstGeom>
          <a:noFill/>
        </p:spPr>
        <p:txBody>
          <a:bodyPr wrap="square" lIns="0" tIns="0" rIns="0" bIns="0">
            <a:spAutoFit/>
          </a:bodyPr>
          <a:lstStyle/>
          <a:p>
            <a:pPr>
              <a:spcAft>
                <a:spcPts val="400"/>
              </a:spcAft>
              <a:defRPr sz="1150" b="1">
                <a:solidFill>
                  <a:srgbClr val="444C32"/>
                </a:solidFill>
                <a:latin typeface="Calibri"/>
              </a:defRPr>
            </a:pPr>
            <a:r>
              <a:t>02 // RUNTIME DECISION</a:t>
            </a:r>
          </a:p>
          <a:p>
            <a:pPr>
              <a:spcAft>
                <a:spcPts val="400"/>
              </a:spcAft>
              <a:defRPr sz="2800" b="1">
                <a:solidFill>
                  <a:srgbClr val="181916"/>
                </a:solidFill>
                <a:latin typeface="Georgia"/>
              </a:defRPr>
            </a:pPr>
            <a:r>
              <a:t>Durability First: Why Temporal Over n8n?</a:t>
            </a:r>
          </a:p>
          <a:p>
            <a:pPr>
              <a:defRPr sz="1350">
                <a:solidFill>
                  <a:srgbClr val="5C5950"/>
                </a:solidFill>
                <a:latin typeface="Calibri"/>
              </a:defRPr>
            </a:pPr>
            <a:r>
              <a:t>Why visual low-code tools fail for mission-critical revenue operations, and why Temporal provides the necessary foundation.</a:t>
            </a:r>
          </a:p>
        </p:txBody>
      </p:sp>
      <p:sp>
        <p:nvSpPr>
          <p:cNvPr id="3" name="TextBox 2"/>
          <p:cNvSpPr txBox="1"/>
          <p:nvPr/>
        </p:nvSpPr>
        <p:spPr>
          <a:xfrm>
            <a:off x="731520" y="6400800"/>
            <a:ext cx="10728655" cy="320040"/>
          </a:xfrm>
          <a:prstGeom prst="rect">
            <a:avLst/>
          </a:prstGeom>
          <a:noFill/>
        </p:spPr>
        <p:txBody>
          <a:bodyPr wrap="none" lIns="0" tIns="0" rIns="0" bIns="0">
            <a:spAutoFit/>
          </a:bodyPr>
          <a:lstStyle/>
          <a:p>
            <a:pPr>
              <a:defRPr sz="950" b="1">
                <a:solidFill>
                  <a:srgbClr val="5C5950"/>
                </a:solidFill>
                <a:latin typeface="Calibri"/>
              </a:defRPr>
            </a:pPr>
            <a:r>
              <a:t>ALANDAS TEA BERLIN  •  TIERED REVENUE ARCHITECTURE  |  SLIDE 03 OF 19</a:t>
            </a:r>
          </a:p>
        </p:txBody>
      </p:sp>
      <p:sp>
        <p:nvSpPr>
          <p:cNvPr id="4" name="Rounded Rectangle 3"/>
          <p:cNvSpPr/>
          <p:nvPr/>
        </p:nvSpPr>
        <p:spPr>
          <a:xfrm>
            <a:off x="731520" y="1828800"/>
            <a:ext cx="5193792"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029968"/>
            <a:ext cx="4754880" cy="3986784"/>
          </a:xfrm>
          <a:prstGeom prst="rect">
            <a:avLst/>
          </a:prstGeom>
          <a:noFill/>
        </p:spPr>
        <p:txBody>
          <a:bodyPr wrap="square" lIns="0" tIns="0" rIns="0" bIns="0">
            <a:spAutoFit/>
          </a:bodyPr>
          <a:lstStyle/>
          <a:p>
            <a:pPr>
              <a:spcAft>
                <a:spcPts val="400"/>
              </a:spcAft>
              <a:defRPr sz="1100" b="1">
                <a:solidFill>
                  <a:srgbClr val="C48737"/>
                </a:solidFill>
                <a:latin typeface="Calibri"/>
              </a:defRPr>
            </a:pPr>
            <a:r>
              <a:t>LOW-CODE TOOLING // N8N REALITY</a:t>
            </a:r>
          </a:p>
          <a:p>
            <a:pPr>
              <a:spcAft>
                <a:spcPts val="800"/>
              </a:spcAft>
              <a:defRPr sz="2000" b="1">
                <a:solidFill>
                  <a:srgbClr val="181916"/>
                </a:solidFill>
                <a:latin typeface="Georgia"/>
              </a:defRPr>
            </a:pPr>
            <a:r>
              <a:t>Where n8n Breaks in Production</a:t>
            </a:r>
          </a:p>
          <a:p>
            <a:pPr>
              <a:spcAft>
                <a:spcPts val="500"/>
              </a:spcAft>
              <a:defRPr sz="1250">
                <a:solidFill>
                  <a:srgbClr val="5C5950"/>
                </a:solidFill>
                <a:latin typeface="Calibri"/>
              </a:defRPr>
            </a:pPr>
            <a:r>
              <a:t>•  Transient Memory &amp; State Loss: If a node fails mid-execution, intermediate state is lost. There is no native event replay.</a:t>
            </a:r>
          </a:p>
          <a:p>
            <a:pPr>
              <a:spcAft>
                <a:spcPts val="500"/>
              </a:spcAft>
              <a:defRPr sz="1250">
                <a:solidFill>
                  <a:srgbClr val="5C5950"/>
                </a:solidFill>
                <a:latin typeface="Calibri"/>
              </a:defRPr>
            </a:pPr>
            <a:r>
              <a:t>•  No Long-Running Durability: Pausing for 25 days (refill cycle) relies on fragile cron triggers instead of native durable timers.</a:t>
            </a:r>
          </a:p>
          <a:p>
            <a:pPr>
              <a:spcAft>
                <a:spcPts val="500"/>
              </a:spcAft>
              <a:defRPr sz="1250">
                <a:solidFill>
                  <a:srgbClr val="5C5950"/>
                </a:solidFill>
                <a:latin typeface="Calibri"/>
              </a:defRPr>
            </a:pPr>
            <a:r>
              <a:t>•  Lack of Code Versioning &amp; CI/CD: Drag-and-drop workflows cannot be unit-tested or linted with standard software engineering practices.</a:t>
            </a:r>
          </a:p>
          <a:p>
            <a:pPr>
              <a:spcAft>
                <a:spcPts val="500"/>
              </a:spcAft>
              <a:defRPr sz="1250">
                <a:solidFill>
                  <a:srgbClr val="5C5950"/>
                </a:solidFill>
                <a:latin typeface="Calibri"/>
              </a:defRPr>
            </a:pPr>
            <a:r>
              <a:t>•  No Deterministic Replay: Cannot reconstruct the exact history of an order or audit an AI agent's decision tree.</a:t>
            </a:r>
          </a:p>
        </p:txBody>
      </p:sp>
      <p:sp>
        <p:nvSpPr>
          <p:cNvPr id="6" name="Rounded Rectangle 5"/>
          <p:cNvSpPr/>
          <p:nvPr/>
        </p:nvSpPr>
        <p:spPr>
          <a:xfrm>
            <a:off x="6263640" y="1828800"/>
            <a:ext cx="5193792"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2029968"/>
            <a:ext cx="4754880" cy="3986784"/>
          </a:xfrm>
          <a:prstGeom prst="rect">
            <a:avLst/>
          </a:prstGeom>
          <a:noFill/>
        </p:spPr>
        <p:txBody>
          <a:bodyPr wrap="square" lIns="0" tIns="0" rIns="0" bIns="0">
            <a:spAutoFit/>
          </a:bodyPr>
          <a:lstStyle/>
          <a:p>
            <a:pPr>
              <a:spcAft>
                <a:spcPts val="400"/>
              </a:spcAft>
              <a:defRPr sz="1100" b="1">
                <a:solidFill>
                  <a:srgbClr val="444C32"/>
                </a:solidFill>
                <a:latin typeface="Calibri"/>
              </a:defRPr>
            </a:pPr>
            <a:r>
              <a:t>ENGINEERING FOUNDATION // TEMPORAL ADVANTAGE</a:t>
            </a:r>
          </a:p>
          <a:p>
            <a:pPr>
              <a:spcAft>
                <a:spcPts val="800"/>
              </a:spcAft>
              <a:defRPr sz="2000" b="1">
                <a:solidFill>
                  <a:srgbClr val="181916"/>
                </a:solidFill>
                <a:latin typeface="Georgia"/>
              </a:defRPr>
            </a:pPr>
            <a:r>
              <a:t>Why Temporal Guarantees Continuity</a:t>
            </a:r>
          </a:p>
          <a:p>
            <a:pPr>
              <a:spcAft>
                <a:spcPts val="500"/>
              </a:spcAft>
              <a:defRPr sz="1250">
                <a:solidFill>
                  <a:srgbClr val="5C5950"/>
                </a:solidFill>
                <a:latin typeface="Calibri"/>
              </a:defRPr>
            </a:pPr>
            <a:r>
              <a:t>•  True Durable Execution: Workflows are written in Python/TS. State transitions are appended to an immutable event log.</a:t>
            </a:r>
          </a:p>
          <a:p>
            <a:pPr>
              <a:spcAft>
                <a:spcPts val="500"/>
              </a:spcAft>
              <a:defRPr sz="1250">
                <a:solidFill>
                  <a:srgbClr val="5C5950"/>
                </a:solidFill>
                <a:latin typeface="Calibri"/>
              </a:defRPr>
            </a:pPr>
            <a:r>
              <a:t>•  Crash Resilience: Workers can die, reboot, or migrate, and resume at the exact millisecond of execution.</a:t>
            </a:r>
          </a:p>
          <a:p>
            <a:pPr>
              <a:spcAft>
                <a:spcPts val="500"/>
              </a:spcAft>
              <a:defRPr sz="1250">
                <a:solidFill>
                  <a:srgbClr val="5C5950"/>
                </a:solidFill>
                <a:latin typeface="Calibri"/>
              </a:defRPr>
            </a:pPr>
            <a:r>
              <a:t>•  Built-In Idempotency &amp; Retries: Activities have automatic exponential backoff with idempotency tokens.</a:t>
            </a:r>
          </a:p>
          <a:p>
            <a:pPr>
              <a:spcAft>
                <a:spcPts val="500"/>
              </a:spcAft>
              <a:defRPr sz="1250">
                <a:solidFill>
                  <a:srgbClr val="5C5950"/>
                </a:solidFill>
                <a:latin typeface="Calibri"/>
              </a:defRPr>
            </a:pPr>
            <a:r>
              <a:t>•  Native Long-Running Timers: workflow.sleep(25 * days) is a native, durable construct consuming zero compute while sleeping.</a:t>
            </a:r>
          </a:p>
          <a:p>
            <a:pPr>
              <a:spcAft>
                <a:spcPts val="500"/>
              </a:spcAft>
              <a:defRPr sz="1250">
                <a:solidFill>
                  <a:srgbClr val="5C5950"/>
                </a:solidFill>
                <a:latin typeface="Calibri"/>
              </a:defRPr>
            </a:pPr>
            <a:r>
              <a:t>•  Separation of Concerns: Temporal manages execution history; PostgreSQL stores business entities (clients, invoices, stock).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731520" y="365760"/>
            <a:ext cx="10728655" cy="1280160"/>
          </a:xfrm>
          <a:prstGeom prst="rect">
            <a:avLst/>
          </a:prstGeom>
          <a:noFill/>
        </p:spPr>
        <p:txBody>
          <a:bodyPr wrap="square" lIns="0" tIns="0" rIns="0" bIns="0">
            <a:spAutoFit/>
          </a:bodyPr>
          <a:lstStyle/>
          <a:p>
            <a:pPr>
              <a:spcAft>
                <a:spcPts val="400"/>
              </a:spcAft>
              <a:defRPr sz="1150" b="1">
                <a:solidFill>
                  <a:srgbClr val="444C32"/>
                </a:solidFill>
                <a:latin typeface="Calibri"/>
              </a:defRPr>
            </a:pPr>
            <a:r>
              <a:t>03 // GOVERNING PRINCIPLE</a:t>
            </a:r>
          </a:p>
          <a:p>
            <a:pPr>
              <a:spcAft>
                <a:spcPts val="400"/>
              </a:spcAft>
              <a:defRPr sz="2800" b="1">
                <a:solidFill>
                  <a:srgbClr val="181916"/>
                </a:solidFill>
                <a:latin typeface="Georgia"/>
              </a:defRPr>
            </a:pPr>
            <a:r>
              <a:t>'Complexity Must Be Purchased by a Requirement'</a:t>
            </a:r>
          </a:p>
          <a:p>
            <a:pPr>
              <a:defRPr sz="1350">
                <a:solidFill>
                  <a:srgbClr val="5C5950"/>
                </a:solidFill>
                <a:latin typeface="Calibri"/>
              </a:defRPr>
            </a:pPr>
            <a:r>
              <a:t>Every framework, agent boundary, and distributed bus introduces new failure modes. Follow a strict decision tree.</a:t>
            </a:r>
          </a:p>
        </p:txBody>
      </p:sp>
      <p:sp>
        <p:nvSpPr>
          <p:cNvPr id="3" name="TextBox 2"/>
          <p:cNvSpPr txBox="1"/>
          <p:nvPr/>
        </p:nvSpPr>
        <p:spPr>
          <a:xfrm>
            <a:off x="731520" y="6400800"/>
            <a:ext cx="10728655" cy="320040"/>
          </a:xfrm>
          <a:prstGeom prst="rect">
            <a:avLst/>
          </a:prstGeom>
          <a:noFill/>
        </p:spPr>
        <p:txBody>
          <a:bodyPr wrap="none" lIns="0" tIns="0" rIns="0" bIns="0">
            <a:spAutoFit/>
          </a:bodyPr>
          <a:lstStyle/>
          <a:p>
            <a:pPr>
              <a:defRPr sz="950" b="1">
                <a:solidFill>
                  <a:srgbClr val="5C5950"/>
                </a:solidFill>
                <a:latin typeface="Calibri"/>
              </a:defRPr>
            </a:pPr>
            <a:r>
              <a:t>ALANDAS TEA BERLIN  •  TIERED REVENUE ARCHITECTURE  |  SLIDE 04 OF 19</a:t>
            </a:r>
          </a:p>
        </p:txBody>
      </p:sp>
      <p:sp>
        <p:nvSpPr>
          <p:cNvPr id="4" name="Rounded Rectangle 3"/>
          <p:cNvSpPr/>
          <p:nvPr/>
        </p:nvSpPr>
        <p:spPr>
          <a:xfrm>
            <a:off x="731520" y="1828800"/>
            <a:ext cx="10728655" cy="16459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011680"/>
            <a:ext cx="1956816" cy="1280160"/>
          </a:xfrm>
          <a:prstGeom prst="roundRect">
            <a:avLst/>
          </a:prstGeom>
          <a:solidFill>
            <a:srgbClr val="F3EFE6"/>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1773936" cy="1097280"/>
          </a:xfrm>
          <a:prstGeom prst="rect">
            <a:avLst/>
          </a:prstGeom>
          <a:noFill/>
        </p:spPr>
        <p:txBody>
          <a:bodyPr wrap="square">
            <a:spAutoFit/>
          </a:bodyPr>
          <a:lstStyle/>
          <a:p>
            <a:pPr>
              <a:defRPr sz="1000" b="1">
                <a:solidFill>
                  <a:srgbClr val="444C32"/>
                </a:solidFill>
                <a:latin typeface="Calibri"/>
              </a:defRPr>
            </a:pPr>
            <a:r>
              <a:t>STEP 01</a:t>
            </a:r>
          </a:p>
          <a:p>
            <a:pPr>
              <a:defRPr sz="1300" b="1">
                <a:solidFill>
                  <a:srgbClr val="181916"/>
                </a:solidFill>
                <a:latin typeface="Georgia"/>
              </a:defRPr>
            </a:pPr>
            <a:r>
              <a:t>Business Need</a:t>
            </a:r>
          </a:p>
          <a:p>
            <a:pPr>
              <a:defRPr sz="1000">
                <a:solidFill>
                  <a:srgbClr val="5C5950"/>
                </a:solidFill>
                <a:latin typeface="Calibri"/>
              </a:defRPr>
            </a:pPr>
            <a:r>
              <a:t>Capture cafe leads</a:t>
            </a:r>
          </a:p>
        </p:txBody>
      </p:sp>
      <p:sp>
        <p:nvSpPr>
          <p:cNvPr id="7" name="Rounded Rectangle 6"/>
          <p:cNvSpPr/>
          <p:nvPr/>
        </p:nvSpPr>
        <p:spPr>
          <a:xfrm>
            <a:off x="3054096" y="2011680"/>
            <a:ext cx="1956816" cy="1280160"/>
          </a:xfrm>
          <a:prstGeom prst="roundRect">
            <a:avLst/>
          </a:prstGeom>
          <a:solidFill>
            <a:srgbClr val="F3EFE6"/>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45536" y="2103120"/>
            <a:ext cx="1773936" cy="1097280"/>
          </a:xfrm>
          <a:prstGeom prst="rect">
            <a:avLst/>
          </a:prstGeom>
          <a:noFill/>
        </p:spPr>
        <p:txBody>
          <a:bodyPr wrap="square">
            <a:spAutoFit/>
          </a:bodyPr>
          <a:lstStyle/>
          <a:p>
            <a:pPr>
              <a:defRPr sz="1000" b="1">
                <a:solidFill>
                  <a:srgbClr val="444C32"/>
                </a:solidFill>
                <a:latin typeface="Calibri"/>
              </a:defRPr>
            </a:pPr>
            <a:r>
              <a:t>STEP 02</a:t>
            </a:r>
          </a:p>
          <a:p>
            <a:pPr>
              <a:defRPr sz="1300" b="1">
                <a:solidFill>
                  <a:srgbClr val="181916"/>
                </a:solidFill>
                <a:latin typeface="Georgia"/>
              </a:defRPr>
            </a:pPr>
            <a:r>
              <a:t>Required Capability</a:t>
            </a:r>
          </a:p>
          <a:p>
            <a:pPr>
              <a:defRPr sz="1000">
                <a:solidFill>
                  <a:srgbClr val="5C5950"/>
                </a:solidFill>
                <a:latin typeface="Calibri"/>
              </a:defRPr>
            </a:pPr>
            <a:r>
              <a:t>Comment to DM</a:t>
            </a:r>
          </a:p>
        </p:txBody>
      </p:sp>
      <p:sp>
        <p:nvSpPr>
          <p:cNvPr id="9" name="Rounded Rectangle 8"/>
          <p:cNvSpPr/>
          <p:nvPr/>
        </p:nvSpPr>
        <p:spPr>
          <a:xfrm>
            <a:off x="5193792" y="2011680"/>
            <a:ext cx="1956816" cy="1280160"/>
          </a:xfrm>
          <a:prstGeom prst="roundRect">
            <a:avLst/>
          </a:prstGeom>
          <a:solidFill>
            <a:srgbClr val="F3EFE6"/>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85232" y="2103120"/>
            <a:ext cx="1773936" cy="1097280"/>
          </a:xfrm>
          <a:prstGeom prst="rect">
            <a:avLst/>
          </a:prstGeom>
          <a:noFill/>
        </p:spPr>
        <p:txBody>
          <a:bodyPr wrap="square">
            <a:spAutoFit/>
          </a:bodyPr>
          <a:lstStyle/>
          <a:p>
            <a:pPr>
              <a:defRPr sz="1000" b="1">
                <a:solidFill>
                  <a:srgbClr val="444C32"/>
                </a:solidFill>
                <a:latin typeface="Calibri"/>
              </a:defRPr>
            </a:pPr>
            <a:r>
              <a:t>STEP 03</a:t>
            </a:r>
          </a:p>
          <a:p>
            <a:pPr>
              <a:defRPr sz="1300" b="1">
                <a:solidFill>
                  <a:srgbClr val="181916"/>
                </a:solidFill>
                <a:latin typeface="Georgia"/>
              </a:defRPr>
            </a:pPr>
            <a:r>
              <a:t>Required Robustness</a:t>
            </a:r>
          </a:p>
          <a:p>
            <a:pPr>
              <a:defRPr sz="1000">
                <a:solidFill>
                  <a:srgbClr val="5C5950"/>
                </a:solidFill>
                <a:latin typeface="Calibri"/>
              </a:defRPr>
            </a:pPr>
            <a:r>
              <a:t>100% webhook receipt</a:t>
            </a:r>
          </a:p>
        </p:txBody>
      </p:sp>
      <p:sp>
        <p:nvSpPr>
          <p:cNvPr id="11" name="Rounded Rectangle 10"/>
          <p:cNvSpPr/>
          <p:nvPr/>
        </p:nvSpPr>
        <p:spPr>
          <a:xfrm>
            <a:off x="7333488" y="2011680"/>
            <a:ext cx="1956816" cy="1280160"/>
          </a:xfrm>
          <a:prstGeom prst="roundRect">
            <a:avLst/>
          </a:prstGeom>
          <a:solidFill>
            <a:srgbClr val="F3EFE6"/>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24928" y="2103120"/>
            <a:ext cx="1773936" cy="1097280"/>
          </a:xfrm>
          <a:prstGeom prst="rect">
            <a:avLst/>
          </a:prstGeom>
          <a:noFill/>
        </p:spPr>
        <p:txBody>
          <a:bodyPr wrap="square">
            <a:spAutoFit/>
          </a:bodyPr>
          <a:lstStyle/>
          <a:p>
            <a:pPr>
              <a:defRPr sz="1000" b="1">
                <a:solidFill>
                  <a:srgbClr val="444C32"/>
                </a:solidFill>
                <a:latin typeface="Calibri"/>
              </a:defRPr>
            </a:pPr>
            <a:r>
              <a:t>STEP 04</a:t>
            </a:r>
          </a:p>
          <a:p>
            <a:pPr>
              <a:defRPr sz="1300" b="1">
                <a:solidFill>
                  <a:srgbClr val="181916"/>
                </a:solidFill>
                <a:latin typeface="Georgia"/>
              </a:defRPr>
            </a:pPr>
            <a:r>
              <a:t>Architecture Tier</a:t>
            </a:r>
          </a:p>
          <a:p>
            <a:pPr>
              <a:defRPr sz="1000">
                <a:solidFill>
                  <a:srgbClr val="5C5950"/>
                </a:solidFill>
                <a:latin typeface="Calibri"/>
              </a:defRPr>
            </a:pPr>
            <a:r>
              <a:t>Tier 1: Essential</a:t>
            </a:r>
          </a:p>
        </p:txBody>
      </p:sp>
      <p:sp>
        <p:nvSpPr>
          <p:cNvPr id="13" name="Rounded Rectangle 12"/>
          <p:cNvSpPr/>
          <p:nvPr/>
        </p:nvSpPr>
        <p:spPr>
          <a:xfrm>
            <a:off x="9473184" y="2011680"/>
            <a:ext cx="1956816" cy="1280160"/>
          </a:xfrm>
          <a:prstGeom prst="roundRect">
            <a:avLst/>
          </a:prstGeom>
          <a:solidFill>
            <a:srgbClr val="F3EFE6"/>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64624" y="2103120"/>
            <a:ext cx="1773936" cy="1097280"/>
          </a:xfrm>
          <a:prstGeom prst="rect">
            <a:avLst/>
          </a:prstGeom>
          <a:noFill/>
        </p:spPr>
        <p:txBody>
          <a:bodyPr wrap="square">
            <a:spAutoFit/>
          </a:bodyPr>
          <a:lstStyle/>
          <a:p>
            <a:pPr>
              <a:defRPr sz="1000" b="1">
                <a:solidFill>
                  <a:srgbClr val="444C32"/>
                </a:solidFill>
                <a:latin typeface="Calibri"/>
              </a:defRPr>
            </a:pPr>
            <a:r>
              <a:t>STEP 05</a:t>
            </a:r>
          </a:p>
          <a:p>
            <a:pPr>
              <a:defRPr sz="1300" b="1">
                <a:solidFill>
                  <a:srgbClr val="181916"/>
                </a:solidFill>
                <a:latin typeface="Georgia"/>
              </a:defRPr>
            </a:pPr>
            <a:r>
              <a:t>Clean Code</a:t>
            </a:r>
          </a:p>
          <a:p>
            <a:pPr>
              <a:defRPr sz="1000">
                <a:solidFill>
                  <a:srgbClr val="5C5950"/>
                </a:solidFill>
                <a:latin typeface="Calibri"/>
              </a:defRPr>
            </a:pPr>
            <a:r>
              <a:t>Temporal + OpenReply</a:t>
            </a:r>
          </a:p>
        </p:txBody>
      </p:sp>
      <p:sp>
        <p:nvSpPr>
          <p:cNvPr id="15" name="Rounded Rectangle 14"/>
          <p:cNvSpPr/>
          <p:nvPr/>
        </p:nvSpPr>
        <p:spPr>
          <a:xfrm>
            <a:off x="731520" y="3749039"/>
            <a:ext cx="3401568" cy="246888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976" y="3950207"/>
            <a:ext cx="2962656" cy="2066544"/>
          </a:xfrm>
          <a:prstGeom prst="rect">
            <a:avLst/>
          </a:prstGeom>
          <a:noFill/>
        </p:spPr>
        <p:txBody>
          <a:bodyPr wrap="square" lIns="0" tIns="0" rIns="0" bIns="0">
            <a:spAutoFit/>
          </a:bodyPr>
          <a:lstStyle/>
          <a:p>
            <a:pPr>
              <a:spcAft>
                <a:spcPts val="400"/>
              </a:spcAft>
              <a:defRPr sz="1100" b="1">
                <a:solidFill>
                  <a:srgbClr val="444C32"/>
                </a:solidFill>
                <a:latin typeface="Calibri"/>
              </a:defRPr>
            </a:pPr>
            <a:r>
              <a:t>PRINCIPLE A</a:t>
            </a:r>
          </a:p>
          <a:p>
            <a:pPr>
              <a:spcAft>
                <a:spcPts val="800"/>
              </a:spcAft>
              <a:defRPr sz="1600" b="1">
                <a:solidFill>
                  <a:srgbClr val="181916"/>
                </a:solidFill>
                <a:latin typeface="Georgia"/>
              </a:defRPr>
            </a:pPr>
            <a:r>
              <a:t>Zero Framework Tourism</a:t>
            </a:r>
          </a:p>
          <a:p>
            <a:pPr>
              <a:spcAft>
                <a:spcPts val="500"/>
              </a:spcAft>
              <a:defRPr sz="1150">
                <a:solidFill>
                  <a:srgbClr val="5C5950"/>
                </a:solidFill>
                <a:latin typeface="Calibri"/>
              </a:defRPr>
            </a:pPr>
            <a:r>
              <a:t>•  Do not add LangGraph, MCP, or Redis simply because they exist in AI news.</a:t>
            </a:r>
          </a:p>
          <a:p>
            <a:pPr>
              <a:spcAft>
                <a:spcPts val="500"/>
              </a:spcAft>
              <a:defRPr sz="1150">
                <a:solidFill>
                  <a:srgbClr val="5C5950"/>
                </a:solidFill>
                <a:latin typeface="Calibri"/>
              </a:defRPr>
            </a:pPr>
            <a:r>
              <a:t>•  Only add them when a concrete bottleneck demands them.</a:t>
            </a:r>
          </a:p>
        </p:txBody>
      </p:sp>
      <p:sp>
        <p:nvSpPr>
          <p:cNvPr id="17" name="Rounded Rectangle 16"/>
          <p:cNvSpPr/>
          <p:nvPr/>
        </p:nvSpPr>
        <p:spPr>
          <a:xfrm>
            <a:off x="4389120" y="3749039"/>
            <a:ext cx="3401568" cy="246888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08576" y="3950207"/>
            <a:ext cx="2962656" cy="2066544"/>
          </a:xfrm>
          <a:prstGeom prst="rect">
            <a:avLst/>
          </a:prstGeom>
          <a:noFill/>
        </p:spPr>
        <p:txBody>
          <a:bodyPr wrap="square" lIns="0" tIns="0" rIns="0" bIns="0">
            <a:spAutoFit/>
          </a:bodyPr>
          <a:lstStyle/>
          <a:p>
            <a:pPr>
              <a:spcAft>
                <a:spcPts val="400"/>
              </a:spcAft>
              <a:defRPr sz="1100" b="1">
                <a:solidFill>
                  <a:srgbClr val="444C32"/>
                </a:solidFill>
                <a:latin typeface="Calibri"/>
              </a:defRPr>
            </a:pPr>
            <a:r>
              <a:t>PRINCIPLE B</a:t>
            </a:r>
          </a:p>
          <a:p>
            <a:pPr>
              <a:spcAft>
                <a:spcPts val="800"/>
              </a:spcAft>
              <a:defRPr sz="1600" b="1">
                <a:solidFill>
                  <a:srgbClr val="181916"/>
                </a:solidFill>
                <a:latin typeface="Georgia"/>
              </a:defRPr>
            </a:pPr>
            <a:r>
              <a:t>Protect the Domain Core</a:t>
            </a:r>
          </a:p>
          <a:p>
            <a:pPr>
              <a:spcAft>
                <a:spcPts val="500"/>
              </a:spcAft>
              <a:defRPr sz="1150">
                <a:solidFill>
                  <a:srgbClr val="5C5950"/>
                </a:solidFill>
                <a:latin typeface="Calibri"/>
              </a:defRPr>
            </a:pPr>
            <a:r>
              <a:t>•  Dolibarr CRM, PostgreSQL, and accounting remain the immutable source of truth.</a:t>
            </a:r>
          </a:p>
          <a:p>
            <a:pPr>
              <a:spcAft>
                <a:spcPts val="500"/>
              </a:spcAft>
              <a:defRPr sz="1150">
                <a:solidFill>
                  <a:srgbClr val="5C5950"/>
                </a:solidFill>
                <a:latin typeface="Calibri"/>
              </a:defRPr>
            </a:pPr>
            <a:r>
              <a:t>•  AI operates outside as an assistant, never as unconstrained master.</a:t>
            </a:r>
          </a:p>
        </p:txBody>
      </p:sp>
      <p:sp>
        <p:nvSpPr>
          <p:cNvPr id="19" name="Rounded Rectangle 18"/>
          <p:cNvSpPr/>
          <p:nvPr/>
        </p:nvSpPr>
        <p:spPr>
          <a:xfrm>
            <a:off x="8046720" y="3749039"/>
            <a:ext cx="3401568" cy="246888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66176" y="3950207"/>
            <a:ext cx="2962656" cy="2066544"/>
          </a:xfrm>
          <a:prstGeom prst="rect">
            <a:avLst/>
          </a:prstGeom>
          <a:noFill/>
        </p:spPr>
        <p:txBody>
          <a:bodyPr wrap="square" lIns="0" tIns="0" rIns="0" bIns="0">
            <a:spAutoFit/>
          </a:bodyPr>
          <a:lstStyle/>
          <a:p>
            <a:pPr>
              <a:spcAft>
                <a:spcPts val="400"/>
              </a:spcAft>
              <a:defRPr sz="1100" b="1">
                <a:solidFill>
                  <a:srgbClr val="444C32"/>
                </a:solidFill>
                <a:latin typeface="Calibri"/>
              </a:defRPr>
            </a:pPr>
            <a:r>
              <a:t>PRINCIPLE C</a:t>
            </a:r>
          </a:p>
          <a:p>
            <a:pPr>
              <a:spcAft>
                <a:spcPts val="800"/>
              </a:spcAft>
              <a:defRPr sz="1600" b="1">
                <a:solidFill>
                  <a:srgbClr val="181916"/>
                </a:solidFill>
                <a:latin typeface="Georgia"/>
              </a:defRPr>
            </a:pPr>
            <a:r>
              <a:t>Non-Destructive Upgrades</a:t>
            </a:r>
          </a:p>
          <a:p>
            <a:pPr>
              <a:spcAft>
                <a:spcPts val="500"/>
              </a:spcAft>
              <a:defRPr sz="1150">
                <a:solidFill>
                  <a:srgbClr val="5C5950"/>
                </a:solidFill>
                <a:latin typeface="Calibri"/>
              </a:defRPr>
            </a:pPr>
            <a:r>
              <a:t>•  Tier 1 code is never discarded when upgrading to Tier 2.</a:t>
            </a:r>
          </a:p>
          <a:p>
            <a:pPr>
              <a:spcAft>
                <a:spcPts val="500"/>
              </a:spcAft>
              <a:defRPr sz="1150">
                <a:solidFill>
                  <a:srgbClr val="5C5950"/>
                </a:solidFill>
                <a:latin typeface="Calibri"/>
              </a:defRPr>
            </a:pPr>
            <a:r>
              <a:t>•  Each tier sits cleanly on top of the prior layer's data contracts.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731520" y="365760"/>
            <a:ext cx="10728655" cy="1280160"/>
          </a:xfrm>
          <a:prstGeom prst="rect">
            <a:avLst/>
          </a:prstGeom>
          <a:noFill/>
        </p:spPr>
        <p:txBody>
          <a:bodyPr wrap="square" lIns="0" tIns="0" rIns="0" bIns="0">
            <a:spAutoFit/>
          </a:bodyPr>
          <a:lstStyle/>
          <a:p>
            <a:pPr>
              <a:spcAft>
                <a:spcPts val="400"/>
              </a:spcAft>
              <a:defRPr sz="1150" b="1">
                <a:solidFill>
                  <a:srgbClr val="444C32"/>
                </a:solidFill>
                <a:latin typeface="Calibri"/>
              </a:defRPr>
            </a:pPr>
            <a:r>
              <a:t>04 // COMMERCIAL STRATEGY</a:t>
            </a:r>
          </a:p>
          <a:p>
            <a:pPr>
              <a:spcAft>
                <a:spcPts val="400"/>
              </a:spcAft>
              <a:defRPr sz="2800" b="1">
                <a:solidFill>
                  <a:srgbClr val="181916"/>
                </a:solidFill>
                <a:latin typeface="Georgia"/>
              </a:defRPr>
            </a:pPr>
            <a:r>
              <a:t>Selling Business Capability, Never Tech Stacks</a:t>
            </a:r>
          </a:p>
          <a:p>
            <a:pPr>
              <a:defRPr sz="1350">
                <a:solidFill>
                  <a:srgbClr val="5C5950"/>
                </a:solidFill>
                <a:latin typeface="Calibri"/>
              </a:defRPr>
            </a:pPr>
            <a:r>
              <a:t>Clients pay for capability, reliability, autonomy, scale, and risk controls — never for underlying framework names.</a:t>
            </a:r>
          </a:p>
        </p:txBody>
      </p:sp>
      <p:sp>
        <p:nvSpPr>
          <p:cNvPr id="3" name="TextBox 2"/>
          <p:cNvSpPr txBox="1"/>
          <p:nvPr/>
        </p:nvSpPr>
        <p:spPr>
          <a:xfrm>
            <a:off x="731520" y="6400800"/>
            <a:ext cx="10728655" cy="320040"/>
          </a:xfrm>
          <a:prstGeom prst="rect">
            <a:avLst/>
          </a:prstGeom>
          <a:noFill/>
        </p:spPr>
        <p:txBody>
          <a:bodyPr wrap="none" lIns="0" tIns="0" rIns="0" bIns="0">
            <a:spAutoFit/>
          </a:bodyPr>
          <a:lstStyle/>
          <a:p>
            <a:pPr>
              <a:defRPr sz="950" b="1">
                <a:solidFill>
                  <a:srgbClr val="5C5950"/>
                </a:solidFill>
                <a:latin typeface="Calibri"/>
              </a:defRPr>
            </a:pPr>
            <a:r>
              <a:t>ALANDAS TEA BERLIN  •  TIERED REVENUE ARCHITECTURE  |  SLIDE 05 OF 19</a:t>
            </a:r>
          </a:p>
        </p:txBody>
      </p:sp>
      <p:sp>
        <p:nvSpPr>
          <p:cNvPr id="4" name="Rounded Rectangle 3"/>
          <p:cNvSpPr/>
          <p:nvPr/>
        </p:nvSpPr>
        <p:spPr>
          <a:xfrm>
            <a:off x="731520" y="1828800"/>
            <a:ext cx="3401568"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029968"/>
            <a:ext cx="2962656" cy="3986784"/>
          </a:xfrm>
          <a:prstGeom prst="rect">
            <a:avLst/>
          </a:prstGeom>
          <a:noFill/>
        </p:spPr>
        <p:txBody>
          <a:bodyPr wrap="square" lIns="0" tIns="0" rIns="0" bIns="0">
            <a:spAutoFit/>
          </a:bodyPr>
          <a:lstStyle/>
          <a:p>
            <a:pPr>
              <a:spcAft>
                <a:spcPts val="400"/>
              </a:spcAft>
              <a:defRPr sz="1100" b="1">
                <a:solidFill>
                  <a:srgbClr val="444C32"/>
                </a:solidFill>
                <a:latin typeface="Calibri"/>
              </a:defRPr>
            </a:pPr>
            <a:r>
              <a:t>TIER 1 POSITIONING</a:t>
            </a:r>
          </a:p>
          <a:p>
            <a:pPr>
              <a:spcAft>
                <a:spcPts val="800"/>
              </a:spcAft>
              <a:defRPr sz="1800" b="1">
                <a:solidFill>
                  <a:srgbClr val="181916"/>
                </a:solidFill>
                <a:latin typeface="Georgia"/>
              </a:defRPr>
            </a:pPr>
            <a:r>
              <a:t>Lead Gen &amp; Follow-Up System</a:t>
            </a:r>
          </a:p>
          <a:p>
            <a:pPr>
              <a:spcAft>
                <a:spcPts val="500"/>
              </a:spcAft>
              <a:defRPr sz="1200">
                <a:solidFill>
                  <a:srgbClr val="5C5950"/>
                </a:solidFill>
                <a:latin typeface="Calibri"/>
              </a:defRPr>
            </a:pPr>
            <a:r>
              <a:t>•  Human-Directed Automation</a:t>
            </a:r>
          </a:p>
          <a:p>
            <a:pPr>
              <a:spcAft>
                <a:spcPts val="500"/>
              </a:spcAft>
              <a:defRPr sz="1200">
                <a:solidFill>
                  <a:srgbClr val="5C5950"/>
                </a:solidFill>
                <a:latin typeface="Calibri"/>
              </a:defRPr>
            </a:pPr>
            <a:r>
              <a:t>•  System does the tedious heavy lifting; human retains control.</a:t>
            </a:r>
          </a:p>
          <a:p>
            <a:pPr>
              <a:spcAft>
                <a:spcPts val="500"/>
              </a:spcAft>
              <a:defRPr sz="1200">
                <a:solidFill>
                  <a:srgbClr val="5C5950"/>
                </a:solidFill>
                <a:latin typeface="Calibri"/>
              </a:defRPr>
            </a:pPr>
            <a:r>
              <a:t>•  Saves 15+ hours/week for Sidy.</a:t>
            </a:r>
          </a:p>
          <a:p>
            <a:pPr>
              <a:spcAft>
                <a:spcPts val="500"/>
              </a:spcAft>
              <a:defRPr sz="1200">
                <a:solidFill>
                  <a:srgbClr val="5C5950"/>
                </a:solidFill>
                <a:latin typeface="Calibri"/>
              </a:defRPr>
            </a:pPr>
            <a:r>
              <a:t>•  Scrapes cafes, enriches profiles, drafts outreach, syncs Dolibarr CRM.</a:t>
            </a:r>
          </a:p>
          <a:p>
            <a:pPr>
              <a:spcAft>
                <a:spcPts val="500"/>
              </a:spcAft>
              <a:defRPr sz="1200">
                <a:solidFill>
                  <a:srgbClr val="5C5950"/>
                </a:solidFill>
                <a:latin typeface="Calibri"/>
              </a:defRPr>
            </a:pPr>
            <a:r>
              <a:t>•  100% brand-safe; zero hallucination risk.</a:t>
            </a:r>
          </a:p>
        </p:txBody>
      </p:sp>
      <p:sp>
        <p:nvSpPr>
          <p:cNvPr id="6" name="Rounded Rectangle 5"/>
          <p:cNvSpPr/>
          <p:nvPr/>
        </p:nvSpPr>
        <p:spPr>
          <a:xfrm>
            <a:off x="4389120" y="1828800"/>
            <a:ext cx="3401568"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2029968"/>
            <a:ext cx="2962656" cy="3986784"/>
          </a:xfrm>
          <a:prstGeom prst="rect">
            <a:avLst/>
          </a:prstGeom>
          <a:noFill/>
        </p:spPr>
        <p:txBody>
          <a:bodyPr wrap="square" lIns="0" tIns="0" rIns="0" bIns="0">
            <a:spAutoFit/>
          </a:bodyPr>
          <a:lstStyle/>
          <a:p>
            <a:pPr>
              <a:spcAft>
                <a:spcPts val="400"/>
              </a:spcAft>
              <a:defRPr sz="1100" b="1">
                <a:solidFill>
                  <a:srgbClr val="C48737"/>
                </a:solidFill>
                <a:latin typeface="Calibri"/>
              </a:defRPr>
            </a:pPr>
            <a:r>
              <a:t>TIER 2 POSITIONING</a:t>
            </a:r>
          </a:p>
          <a:p>
            <a:pPr>
              <a:spcAft>
                <a:spcPts val="800"/>
              </a:spcAft>
              <a:defRPr sz="1800" b="1">
                <a:solidFill>
                  <a:srgbClr val="181916"/>
                </a:solidFill>
                <a:latin typeface="Georgia"/>
              </a:defRPr>
            </a:pPr>
            <a:r>
              <a:t>AI Revenue Intelligence System</a:t>
            </a:r>
          </a:p>
          <a:p>
            <a:pPr>
              <a:spcAft>
                <a:spcPts val="500"/>
              </a:spcAft>
              <a:defRPr sz="1200">
                <a:solidFill>
                  <a:srgbClr val="5C5950"/>
                </a:solidFill>
                <a:latin typeface="Calibri"/>
              </a:defRPr>
            </a:pPr>
            <a:r>
              <a:t>•  Human-Governed Intelligence</a:t>
            </a:r>
          </a:p>
          <a:p>
            <a:pPr>
              <a:spcAft>
                <a:spcPts val="500"/>
              </a:spcAft>
              <a:defRPr sz="1200">
                <a:solidFill>
                  <a:srgbClr val="5C5950"/>
                </a:solidFill>
                <a:latin typeface="Calibri"/>
              </a:defRPr>
            </a:pPr>
            <a:r>
              <a:t>•  System reasons, monitors ad performance, calculates refill schedules.</a:t>
            </a:r>
          </a:p>
          <a:p>
            <a:pPr>
              <a:spcAft>
                <a:spcPts val="500"/>
              </a:spcAft>
              <a:defRPr sz="1200">
                <a:solidFill>
                  <a:srgbClr val="5C5950"/>
                </a:solidFill>
                <a:latin typeface="Calibri"/>
              </a:defRPr>
            </a:pPr>
            <a:r>
              <a:t>•  All consequential actions evaluated against strict Policy Engines.</a:t>
            </a:r>
          </a:p>
          <a:p>
            <a:pPr>
              <a:spcAft>
                <a:spcPts val="500"/>
              </a:spcAft>
              <a:defRPr sz="1200">
                <a:solidFill>
                  <a:srgbClr val="5C5950"/>
                </a:solidFill>
                <a:latin typeface="Calibri"/>
              </a:defRPr>
            </a:pPr>
            <a:r>
              <a:t>•  Prevents cafe churn with automated Day-25 reorder prompts.</a:t>
            </a:r>
          </a:p>
          <a:p>
            <a:pPr>
              <a:spcAft>
                <a:spcPts val="500"/>
              </a:spcAft>
              <a:defRPr sz="1200">
                <a:solidFill>
                  <a:srgbClr val="5C5950"/>
                </a:solidFill>
                <a:latin typeface="Calibri"/>
              </a:defRPr>
            </a:pPr>
            <a:r>
              <a:t>•  Automates ad budget optimization within verified limits.</a:t>
            </a:r>
          </a:p>
        </p:txBody>
      </p:sp>
      <p:sp>
        <p:nvSpPr>
          <p:cNvPr id="8" name="Rounded Rectangle 7"/>
          <p:cNvSpPr/>
          <p:nvPr/>
        </p:nvSpPr>
        <p:spPr>
          <a:xfrm>
            <a:off x="8046720" y="1828800"/>
            <a:ext cx="3401568"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66176" y="2029968"/>
            <a:ext cx="2962656" cy="3986784"/>
          </a:xfrm>
          <a:prstGeom prst="rect">
            <a:avLst/>
          </a:prstGeom>
          <a:noFill/>
        </p:spPr>
        <p:txBody>
          <a:bodyPr wrap="square" lIns="0" tIns="0" rIns="0" bIns="0">
            <a:spAutoFit/>
          </a:bodyPr>
          <a:lstStyle/>
          <a:p>
            <a:pPr>
              <a:spcAft>
                <a:spcPts val="400"/>
              </a:spcAft>
              <a:defRPr sz="1100" b="1">
                <a:solidFill>
                  <a:srgbClr val="2F5339"/>
                </a:solidFill>
                <a:latin typeface="Calibri"/>
              </a:defRPr>
            </a:pPr>
            <a:r>
              <a:t>TIER 3 POSITIONING</a:t>
            </a:r>
          </a:p>
          <a:p>
            <a:pPr>
              <a:spcAft>
                <a:spcPts val="800"/>
              </a:spcAft>
              <a:defRPr sz="1800" b="1">
                <a:solidFill>
                  <a:srgbClr val="181916"/>
                </a:solidFill>
                <a:latin typeface="Georgia"/>
              </a:defRPr>
            </a:pPr>
            <a:r>
              <a:t>AI Revenue Operations Platform</a:t>
            </a:r>
          </a:p>
          <a:p>
            <a:pPr>
              <a:spcAft>
                <a:spcPts val="500"/>
              </a:spcAft>
              <a:defRPr sz="1200">
                <a:solidFill>
                  <a:srgbClr val="5C5950"/>
                </a:solidFill>
                <a:latin typeface="Calibri"/>
              </a:defRPr>
            </a:pPr>
            <a:r>
              <a:t>•  Policy-Governed Autonomy</a:t>
            </a:r>
          </a:p>
          <a:p>
            <a:pPr>
              <a:spcAft>
                <a:spcPts val="500"/>
              </a:spcAft>
              <a:defRPr sz="1200">
                <a:solidFill>
                  <a:srgbClr val="5C5950"/>
                </a:solidFill>
                <a:latin typeface="Calibri"/>
              </a:defRPr>
            </a:pPr>
            <a:r>
              <a:t>•  Closed-loop commercial machine with multi-agent orchestration.</a:t>
            </a:r>
          </a:p>
          <a:p>
            <a:pPr>
              <a:spcAft>
                <a:spcPts val="500"/>
              </a:spcAft>
              <a:defRPr sz="1200">
                <a:solidFill>
                  <a:srgbClr val="5C5950"/>
                </a:solidFill>
                <a:latin typeface="Calibri"/>
              </a:defRPr>
            </a:pPr>
            <a:r>
              <a:t>•  Live customer reorder data directly trains marketing ad experiments.</a:t>
            </a:r>
          </a:p>
          <a:p>
            <a:pPr>
              <a:spcAft>
                <a:spcPts val="500"/>
              </a:spcAft>
              <a:defRPr sz="1200">
                <a:solidFill>
                  <a:srgbClr val="5C5950"/>
                </a:solidFill>
                <a:latin typeface="Calibri"/>
              </a:defRPr>
            </a:pPr>
            <a:r>
              <a:t>•  Scales Alandas to 100+ accounts across Germany with zero linear headcount growth.</a:t>
            </a:r>
          </a:p>
          <a:p>
            <a:pPr>
              <a:spcAft>
                <a:spcPts val="500"/>
              </a:spcAft>
              <a:defRPr sz="1200">
                <a:solidFill>
                  <a:srgbClr val="5C5950"/>
                </a:solidFill>
                <a:latin typeface="Calibri"/>
              </a:defRPr>
            </a:pPr>
            <a:r>
              <a:t>•  Complete operational independence for the founder.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731520" y="365760"/>
            <a:ext cx="10728655" cy="1280160"/>
          </a:xfrm>
          <a:prstGeom prst="rect">
            <a:avLst/>
          </a:prstGeom>
          <a:noFill/>
        </p:spPr>
        <p:txBody>
          <a:bodyPr wrap="square" lIns="0" tIns="0" rIns="0" bIns="0">
            <a:spAutoFit/>
          </a:bodyPr>
          <a:lstStyle/>
          <a:p>
            <a:pPr>
              <a:spcAft>
                <a:spcPts val="400"/>
              </a:spcAft>
              <a:defRPr sz="1150" b="1">
                <a:solidFill>
                  <a:srgbClr val="444C32"/>
                </a:solidFill>
                <a:latin typeface="Calibri"/>
              </a:defRPr>
            </a:pPr>
            <a:r>
              <a:t>05 // TIER 1 ARCHITECTURE</a:t>
            </a:r>
          </a:p>
          <a:p>
            <a:pPr>
              <a:spcAft>
                <a:spcPts val="400"/>
              </a:spcAft>
              <a:defRPr sz="2800" b="1">
                <a:solidFill>
                  <a:srgbClr val="181916"/>
                </a:solidFill>
                <a:latin typeface="Georgia"/>
              </a:defRPr>
            </a:pPr>
            <a:r>
              <a:t>Essential Revenue Automation Blueprint</a:t>
            </a:r>
          </a:p>
          <a:p>
            <a:pPr>
              <a:defRPr sz="1350">
                <a:solidFill>
                  <a:srgbClr val="5C5950"/>
                </a:solidFill>
                <a:latin typeface="Calibri"/>
              </a:defRPr>
            </a:pPr>
            <a:r>
              <a:t>A clean, durable, production-grade foundation. Zero LangGraph, zero MCP, zero Redis. Pure engineering reliability.</a:t>
            </a:r>
          </a:p>
        </p:txBody>
      </p:sp>
      <p:sp>
        <p:nvSpPr>
          <p:cNvPr id="3" name="TextBox 2"/>
          <p:cNvSpPr txBox="1"/>
          <p:nvPr/>
        </p:nvSpPr>
        <p:spPr>
          <a:xfrm>
            <a:off x="731520" y="6400800"/>
            <a:ext cx="10728655" cy="320040"/>
          </a:xfrm>
          <a:prstGeom prst="rect">
            <a:avLst/>
          </a:prstGeom>
          <a:noFill/>
        </p:spPr>
        <p:txBody>
          <a:bodyPr wrap="none" lIns="0" tIns="0" rIns="0" bIns="0">
            <a:spAutoFit/>
          </a:bodyPr>
          <a:lstStyle/>
          <a:p>
            <a:pPr>
              <a:defRPr sz="950" b="1">
                <a:solidFill>
                  <a:srgbClr val="5C5950"/>
                </a:solidFill>
                <a:latin typeface="Calibri"/>
              </a:defRPr>
            </a:pPr>
            <a:r>
              <a:t>ALANDAS TEA BERLIN  •  TIERED REVENUE ARCHITECTURE  |  SLIDE 06 OF 19</a:t>
            </a:r>
          </a:p>
        </p:txBody>
      </p:sp>
      <p:sp>
        <p:nvSpPr>
          <p:cNvPr id="4" name="Rounded Rectangle 3"/>
          <p:cNvSpPr/>
          <p:nvPr/>
        </p:nvSpPr>
        <p:spPr>
          <a:xfrm>
            <a:off x="731520" y="1828800"/>
            <a:ext cx="5193792"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029968"/>
            <a:ext cx="4754880" cy="3986784"/>
          </a:xfrm>
          <a:prstGeom prst="rect">
            <a:avLst/>
          </a:prstGeom>
          <a:noFill/>
        </p:spPr>
        <p:txBody>
          <a:bodyPr wrap="square" lIns="0" tIns="0" rIns="0" bIns="0">
            <a:spAutoFit/>
          </a:bodyPr>
          <a:lstStyle/>
          <a:p>
            <a:pPr>
              <a:spcAft>
                <a:spcPts val="400"/>
              </a:spcAft>
              <a:defRPr sz="1100" b="1">
                <a:solidFill>
                  <a:srgbClr val="444C32"/>
                </a:solidFill>
                <a:latin typeface="Calibri"/>
              </a:defRPr>
            </a:pPr>
            <a:r>
              <a:t>SYSTEM BLUEPRINT</a:t>
            </a:r>
          </a:p>
          <a:p>
            <a:pPr>
              <a:spcAft>
                <a:spcPts val="800"/>
              </a:spcAft>
              <a:defRPr sz="2000" b="1">
                <a:solidFill>
                  <a:srgbClr val="181916"/>
                </a:solidFill>
                <a:latin typeface="Georgia"/>
              </a:defRPr>
            </a:pPr>
            <a:r>
              <a:t>The Durable Pipeline</a:t>
            </a:r>
          </a:p>
          <a:p>
            <a:pPr>
              <a:spcAft>
                <a:spcPts val="500"/>
              </a:spcAft>
              <a:defRPr sz="1250">
                <a:solidFill>
                  <a:srgbClr val="5C5950"/>
                </a:solidFill>
                <a:latin typeface="Calibri"/>
              </a:defRPr>
            </a:pPr>
            <a:r>
              <a:t>•  Temporal Workflow Engine: Manages execution durability and state recovery.</a:t>
            </a:r>
          </a:p>
          <a:p>
            <a:pPr>
              <a:spcAft>
                <a:spcPts val="500"/>
              </a:spcAft>
              <a:defRPr sz="1250">
                <a:solidFill>
                  <a:srgbClr val="5C5950"/>
                </a:solidFill>
                <a:latin typeface="Calibri"/>
              </a:defRPr>
            </a:pPr>
            <a:r>
              <a:t>•  Application Logic: Pure Python/TypeScript domain code.</a:t>
            </a:r>
          </a:p>
          <a:p>
            <a:pPr>
              <a:spcAft>
                <a:spcPts val="500"/>
              </a:spcAft>
              <a:defRPr sz="1250">
                <a:solidFill>
                  <a:srgbClr val="5C5950"/>
                </a:solidFill>
                <a:latin typeface="Calibri"/>
              </a:defRPr>
            </a:pPr>
            <a:r>
              <a:t>•  Deterministic Logic: Exact pricing, volume discount math, and ICP scoring.</a:t>
            </a:r>
          </a:p>
          <a:p>
            <a:pPr>
              <a:spcAft>
                <a:spcPts val="500"/>
              </a:spcAft>
              <a:defRPr sz="1250">
                <a:solidFill>
                  <a:srgbClr val="5C5950"/>
                </a:solidFill>
                <a:latin typeface="Calibri"/>
              </a:defRPr>
            </a:pPr>
            <a:r>
              <a:t>•  LLM Reasoning: Bounded web research and personalized message drafting.</a:t>
            </a:r>
          </a:p>
          <a:p>
            <a:pPr>
              <a:spcAft>
                <a:spcPts val="500"/>
              </a:spcAft>
              <a:defRPr sz="1250">
                <a:solidFill>
                  <a:srgbClr val="5C5950"/>
                </a:solidFill>
                <a:latin typeface="Calibri"/>
              </a:defRPr>
            </a:pPr>
            <a:r>
              <a:t>•  Direct APIs: Clean clients for Meta/OpenReply, Dolibarr CRM, and Shopify.</a:t>
            </a:r>
          </a:p>
          <a:p>
            <a:pPr>
              <a:spcAft>
                <a:spcPts val="500"/>
              </a:spcAft>
              <a:defRPr sz="1250">
                <a:solidFill>
                  <a:srgbClr val="5C5950"/>
                </a:solidFill>
                <a:latin typeface="Calibri"/>
              </a:defRPr>
            </a:pPr>
            <a:r>
              <a:t>•  PostgreSQL: Single system of record for leads, venues, and interaction logs.</a:t>
            </a:r>
          </a:p>
        </p:txBody>
      </p:sp>
      <p:sp>
        <p:nvSpPr>
          <p:cNvPr id="6" name="Rounded Rectangle 5"/>
          <p:cNvSpPr/>
          <p:nvPr/>
        </p:nvSpPr>
        <p:spPr>
          <a:xfrm>
            <a:off x="6263640" y="1828800"/>
            <a:ext cx="5193792"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2029968"/>
            <a:ext cx="4754880" cy="3986784"/>
          </a:xfrm>
          <a:prstGeom prst="rect">
            <a:avLst/>
          </a:prstGeom>
          <a:noFill/>
        </p:spPr>
        <p:txBody>
          <a:bodyPr wrap="square" lIns="0" tIns="0" rIns="0" bIns="0">
            <a:spAutoFit/>
          </a:bodyPr>
          <a:lstStyle/>
          <a:p>
            <a:pPr>
              <a:spcAft>
                <a:spcPts val="400"/>
              </a:spcAft>
              <a:defRPr sz="1100" b="1">
                <a:solidFill>
                  <a:srgbClr val="C48737"/>
                </a:solidFill>
                <a:latin typeface="Calibri"/>
              </a:defRPr>
            </a:pPr>
            <a:r>
              <a:t>CAPABILITIES DELIVERED</a:t>
            </a:r>
          </a:p>
          <a:p>
            <a:pPr>
              <a:spcAft>
                <a:spcPts val="800"/>
              </a:spcAft>
              <a:defRPr sz="2000" b="1">
                <a:solidFill>
                  <a:srgbClr val="181916"/>
                </a:solidFill>
                <a:latin typeface="Georgia"/>
              </a:defRPr>
            </a:pPr>
            <a:r>
              <a:t>What Tier 1 Solves Today</a:t>
            </a:r>
          </a:p>
          <a:p>
            <a:pPr>
              <a:spcAft>
                <a:spcPts val="500"/>
              </a:spcAft>
              <a:defRPr sz="1250">
                <a:solidFill>
                  <a:srgbClr val="5C5950"/>
                </a:solidFill>
                <a:latin typeface="Calibri"/>
              </a:defRPr>
            </a:pPr>
            <a:r>
              <a:t>•  Prospect Discovery: Scrapes German cafe hubs (Berlin, Munich, Hamburg, Frankfurt, NRW).</a:t>
            </a:r>
          </a:p>
          <a:p>
            <a:pPr>
              <a:spcAft>
                <a:spcPts val="500"/>
              </a:spcAft>
              <a:defRPr sz="1250">
                <a:solidFill>
                  <a:srgbClr val="5C5950"/>
                </a:solidFill>
                <a:latin typeface="Calibri"/>
              </a:defRPr>
            </a:pPr>
            <a:r>
              <a:t>•  Enrichment Waterfall: Pulls phone, email, seating count, and food/tea concept.</a:t>
            </a:r>
          </a:p>
          <a:p>
            <a:pPr>
              <a:spcAft>
                <a:spcPts val="500"/>
              </a:spcAft>
              <a:defRPr sz="1250">
                <a:solidFill>
                  <a:srgbClr val="5C5950"/>
                </a:solidFill>
                <a:latin typeface="Calibri"/>
              </a:defRPr>
            </a:pPr>
            <a:r>
              <a:t>•  Dolibarr CRM Creation: Pushes new qualified accounts into Dolibarr automatically.</a:t>
            </a:r>
          </a:p>
          <a:p>
            <a:pPr>
              <a:spcAft>
                <a:spcPts val="500"/>
              </a:spcAft>
              <a:defRPr sz="1250">
                <a:solidFill>
                  <a:srgbClr val="5C5950"/>
                </a:solidFill>
                <a:latin typeface="Calibri"/>
              </a:defRPr>
            </a:pPr>
            <a:r>
              <a:t>•  WhatsApp Order Parser: OCR extracts line items from paper note photos into draft invoices.</a:t>
            </a:r>
          </a:p>
          <a:p>
            <a:pPr>
              <a:spcAft>
                <a:spcPts val="500"/>
              </a:spcAft>
              <a:defRPr sz="1250">
                <a:solidFill>
                  <a:srgbClr val="5C5950"/>
                </a:solidFill>
                <a:latin typeface="Calibri"/>
              </a:defRPr>
            </a:pPr>
            <a:r>
              <a:t>•  Human Safety Gate: Sidy approves outreach drafts in 1 tap on WhatsApp before dispatch.</a:t>
            </a:r>
          </a:p>
          <a:p>
            <a:pPr>
              <a:spcAft>
                <a:spcPts val="500"/>
              </a:spcAft>
              <a:defRPr sz="1250">
                <a:solidFill>
                  <a:srgbClr val="5C5950"/>
                </a:solidFill>
                <a:latin typeface="Calibri"/>
              </a:defRPr>
            </a:pPr>
            <a:r>
              <a:t>•  Follow-Up Cadence: Automatic Day-4 tasting check-in after €19 sample box delivery.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731520" y="365760"/>
            <a:ext cx="10728655" cy="1280160"/>
          </a:xfrm>
          <a:prstGeom prst="rect">
            <a:avLst/>
          </a:prstGeom>
          <a:noFill/>
        </p:spPr>
        <p:txBody>
          <a:bodyPr wrap="square" lIns="0" tIns="0" rIns="0" bIns="0">
            <a:spAutoFit/>
          </a:bodyPr>
          <a:lstStyle/>
          <a:p>
            <a:pPr>
              <a:spcAft>
                <a:spcPts val="400"/>
              </a:spcAft>
              <a:defRPr sz="1150" b="1">
                <a:solidFill>
                  <a:srgbClr val="444C32"/>
                </a:solidFill>
                <a:latin typeface="Calibri"/>
              </a:defRPr>
            </a:pPr>
            <a:r>
              <a:t>06 // TIER 1 EXECUTION FLOW</a:t>
            </a:r>
          </a:p>
          <a:p>
            <a:pPr>
              <a:spcAft>
                <a:spcPts val="400"/>
              </a:spcAft>
              <a:defRPr sz="2800" b="1">
                <a:solidFill>
                  <a:srgbClr val="181916"/>
                </a:solidFill>
                <a:latin typeface="Georgia"/>
              </a:defRPr>
            </a:pPr>
            <a:r>
              <a:t>The Human-Directed Autonomy Model</a:t>
            </a:r>
          </a:p>
          <a:p>
            <a:pPr>
              <a:defRPr sz="1350">
                <a:solidFill>
                  <a:srgbClr val="5C5950"/>
                </a:solidFill>
                <a:latin typeface="Calibri"/>
              </a:defRPr>
            </a:pPr>
            <a:r>
              <a:t>The safest entry model: Read ➔ Analyze ➔ Propose ➔ Human Approves ➔ Execute. 100% brand control.</a:t>
            </a:r>
          </a:p>
        </p:txBody>
      </p:sp>
      <p:sp>
        <p:nvSpPr>
          <p:cNvPr id="3" name="TextBox 2"/>
          <p:cNvSpPr txBox="1"/>
          <p:nvPr/>
        </p:nvSpPr>
        <p:spPr>
          <a:xfrm>
            <a:off x="731520" y="6400800"/>
            <a:ext cx="10728655" cy="320040"/>
          </a:xfrm>
          <a:prstGeom prst="rect">
            <a:avLst/>
          </a:prstGeom>
          <a:noFill/>
        </p:spPr>
        <p:txBody>
          <a:bodyPr wrap="none" lIns="0" tIns="0" rIns="0" bIns="0">
            <a:spAutoFit/>
          </a:bodyPr>
          <a:lstStyle/>
          <a:p>
            <a:pPr>
              <a:defRPr sz="950" b="1">
                <a:solidFill>
                  <a:srgbClr val="5C5950"/>
                </a:solidFill>
                <a:latin typeface="Calibri"/>
              </a:defRPr>
            </a:pPr>
            <a:r>
              <a:t>ALANDAS TEA BERLIN  •  TIERED REVENUE ARCHITECTURE  |  SLIDE 07 OF 19</a:t>
            </a:r>
          </a:p>
        </p:txBody>
      </p:sp>
      <p:sp>
        <p:nvSpPr>
          <p:cNvPr id="4" name="Rounded Rectangle 3"/>
          <p:cNvSpPr/>
          <p:nvPr/>
        </p:nvSpPr>
        <p:spPr>
          <a:xfrm>
            <a:off x="731520" y="1828800"/>
            <a:ext cx="1993392"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11680"/>
            <a:ext cx="1627632" cy="4023360"/>
          </a:xfrm>
          <a:prstGeom prst="rect">
            <a:avLst/>
          </a:prstGeom>
          <a:noFill/>
        </p:spPr>
        <p:txBody>
          <a:bodyPr wrap="square">
            <a:spAutoFit/>
          </a:bodyPr>
          <a:lstStyle/>
          <a:p>
            <a:pPr>
              <a:defRPr sz="1100" b="1">
                <a:solidFill>
                  <a:srgbClr val="444C32"/>
                </a:solidFill>
                <a:latin typeface="Calibri"/>
              </a:defRPr>
            </a:pPr>
            <a:r>
              <a:t>STAGE 01</a:t>
            </a:r>
          </a:p>
          <a:p>
            <a:pPr>
              <a:spcAft>
                <a:spcPts val="1000"/>
              </a:spcAft>
              <a:defRPr sz="2000" b="1">
                <a:solidFill>
                  <a:srgbClr val="181916"/>
                </a:solidFill>
                <a:latin typeface="Georgia"/>
              </a:defRPr>
            </a:pPr>
            <a:r>
              <a:t>READ</a:t>
            </a:r>
          </a:p>
          <a:p>
            <a:pPr>
              <a:defRPr sz="1300">
                <a:solidFill>
                  <a:srgbClr val="5C5950"/>
                </a:solidFill>
                <a:latin typeface="Calibri"/>
              </a:defRPr>
            </a:pPr>
            <a:r>
              <a:t>System detects inbound Instagram comment or scrapes target cafe on Google Maps.</a:t>
            </a:r>
          </a:p>
        </p:txBody>
      </p:sp>
      <p:sp>
        <p:nvSpPr>
          <p:cNvPr id="6" name="Rounded Rectangle 5"/>
          <p:cNvSpPr/>
          <p:nvPr/>
        </p:nvSpPr>
        <p:spPr>
          <a:xfrm>
            <a:off x="2907792" y="1828800"/>
            <a:ext cx="1993392"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90672" y="2011680"/>
            <a:ext cx="1627632" cy="4023360"/>
          </a:xfrm>
          <a:prstGeom prst="rect">
            <a:avLst/>
          </a:prstGeom>
          <a:noFill/>
        </p:spPr>
        <p:txBody>
          <a:bodyPr wrap="square">
            <a:spAutoFit/>
          </a:bodyPr>
          <a:lstStyle/>
          <a:p>
            <a:pPr>
              <a:defRPr sz="1100" b="1">
                <a:solidFill>
                  <a:srgbClr val="444C32"/>
                </a:solidFill>
                <a:latin typeface="Calibri"/>
              </a:defRPr>
            </a:pPr>
            <a:r>
              <a:t>STAGE 02</a:t>
            </a:r>
          </a:p>
          <a:p>
            <a:pPr>
              <a:spcAft>
                <a:spcPts val="1000"/>
              </a:spcAft>
              <a:defRPr sz="2000" b="1">
                <a:solidFill>
                  <a:srgbClr val="181916"/>
                </a:solidFill>
                <a:latin typeface="Georgia"/>
              </a:defRPr>
            </a:pPr>
            <a:r>
              <a:t>ANALYZE</a:t>
            </a:r>
          </a:p>
          <a:p>
            <a:pPr>
              <a:defRPr sz="1300">
                <a:solidFill>
                  <a:srgbClr val="5C5950"/>
                </a:solidFill>
                <a:latin typeface="Calibri"/>
              </a:defRPr>
            </a:pPr>
            <a:r>
              <a:t>LLM extracts menu items, beverage prices, and seating capacity; calculates ICP score.</a:t>
            </a:r>
          </a:p>
        </p:txBody>
      </p:sp>
      <p:sp>
        <p:nvSpPr>
          <p:cNvPr id="8" name="Rounded Rectangle 7"/>
          <p:cNvSpPr/>
          <p:nvPr/>
        </p:nvSpPr>
        <p:spPr>
          <a:xfrm>
            <a:off x="5084064" y="1828800"/>
            <a:ext cx="1993392"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66944" y="2011680"/>
            <a:ext cx="1627632" cy="4023360"/>
          </a:xfrm>
          <a:prstGeom prst="rect">
            <a:avLst/>
          </a:prstGeom>
          <a:noFill/>
        </p:spPr>
        <p:txBody>
          <a:bodyPr wrap="square">
            <a:spAutoFit/>
          </a:bodyPr>
          <a:lstStyle/>
          <a:p>
            <a:pPr>
              <a:defRPr sz="1100" b="1">
                <a:solidFill>
                  <a:srgbClr val="444C32"/>
                </a:solidFill>
                <a:latin typeface="Calibri"/>
              </a:defRPr>
            </a:pPr>
            <a:r>
              <a:t>STAGE 03</a:t>
            </a:r>
          </a:p>
          <a:p>
            <a:pPr>
              <a:spcAft>
                <a:spcPts val="1000"/>
              </a:spcAft>
              <a:defRPr sz="2000" b="1">
                <a:solidFill>
                  <a:srgbClr val="181916"/>
                </a:solidFill>
                <a:latin typeface="Georgia"/>
              </a:defRPr>
            </a:pPr>
            <a:r>
              <a:t>PROPOSE</a:t>
            </a:r>
          </a:p>
          <a:p>
            <a:pPr>
              <a:defRPr sz="1300">
                <a:solidFill>
                  <a:srgbClr val="5C5950"/>
                </a:solidFill>
                <a:latin typeface="Calibri"/>
              </a:defRPr>
            </a:pPr>
            <a:r>
              <a:t>Generates personalized outreach emphasizing €19 trial kit and 96% gross profit.</a:t>
            </a:r>
          </a:p>
        </p:txBody>
      </p:sp>
      <p:sp>
        <p:nvSpPr>
          <p:cNvPr id="10" name="Rounded Rectangle 9"/>
          <p:cNvSpPr/>
          <p:nvPr/>
        </p:nvSpPr>
        <p:spPr>
          <a:xfrm>
            <a:off x="7260336" y="1828800"/>
            <a:ext cx="1993392" cy="4389120"/>
          </a:xfrm>
          <a:prstGeom prst="roundRect">
            <a:avLst/>
          </a:prstGeom>
          <a:solidFill>
            <a:srgbClr val="F3EFE6"/>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43216" y="2011680"/>
            <a:ext cx="1627632" cy="4023360"/>
          </a:xfrm>
          <a:prstGeom prst="rect">
            <a:avLst/>
          </a:prstGeom>
          <a:noFill/>
        </p:spPr>
        <p:txBody>
          <a:bodyPr wrap="square">
            <a:spAutoFit/>
          </a:bodyPr>
          <a:lstStyle/>
          <a:p>
            <a:pPr>
              <a:defRPr sz="1100" b="1">
                <a:solidFill>
                  <a:srgbClr val="C48737"/>
                </a:solidFill>
                <a:latin typeface="Calibri"/>
              </a:defRPr>
            </a:pPr>
            <a:r>
              <a:t>STAGE 04</a:t>
            </a:r>
          </a:p>
          <a:p>
            <a:pPr>
              <a:spcAft>
                <a:spcPts val="1000"/>
              </a:spcAft>
              <a:defRPr sz="2000" b="1">
                <a:solidFill>
                  <a:srgbClr val="181916"/>
                </a:solidFill>
                <a:latin typeface="Georgia"/>
              </a:defRPr>
            </a:pPr>
            <a:r>
              <a:t>APPROVE</a:t>
            </a:r>
          </a:p>
          <a:p>
            <a:pPr>
              <a:defRPr sz="1300">
                <a:solidFill>
                  <a:srgbClr val="5C5950"/>
                </a:solidFill>
                <a:latin typeface="Calibri"/>
              </a:defRPr>
            </a:pPr>
            <a:r>
              <a:t>Sidy reviews on WhatsApp in 1 tap. Zero risk of bot hallucinating botanical claims.</a:t>
            </a:r>
          </a:p>
        </p:txBody>
      </p:sp>
      <p:sp>
        <p:nvSpPr>
          <p:cNvPr id="12" name="Rounded Rectangle 11"/>
          <p:cNvSpPr/>
          <p:nvPr/>
        </p:nvSpPr>
        <p:spPr>
          <a:xfrm>
            <a:off x="9436608" y="1828800"/>
            <a:ext cx="1993392"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19488" y="2011680"/>
            <a:ext cx="1627632" cy="4023360"/>
          </a:xfrm>
          <a:prstGeom prst="rect">
            <a:avLst/>
          </a:prstGeom>
          <a:noFill/>
        </p:spPr>
        <p:txBody>
          <a:bodyPr wrap="square">
            <a:spAutoFit/>
          </a:bodyPr>
          <a:lstStyle/>
          <a:p>
            <a:pPr>
              <a:defRPr sz="1100" b="1">
                <a:solidFill>
                  <a:srgbClr val="444C32"/>
                </a:solidFill>
                <a:latin typeface="Calibri"/>
              </a:defRPr>
            </a:pPr>
            <a:r>
              <a:t>STAGE 05</a:t>
            </a:r>
          </a:p>
          <a:p>
            <a:pPr>
              <a:spcAft>
                <a:spcPts val="1000"/>
              </a:spcAft>
              <a:defRPr sz="2000" b="1">
                <a:solidFill>
                  <a:srgbClr val="181916"/>
                </a:solidFill>
                <a:latin typeface="Georgia"/>
              </a:defRPr>
            </a:pPr>
            <a:r>
              <a:t>EXECUTE</a:t>
            </a:r>
          </a:p>
          <a:p>
            <a:pPr>
              <a:defRPr sz="1300">
                <a:solidFill>
                  <a:srgbClr val="5C5950"/>
                </a:solidFill>
                <a:latin typeface="Calibri"/>
              </a:defRPr>
            </a:pPr>
            <a:r>
              <a:t>Temporal dispatches message, creates Dolibarr card, and schedules Day-4 follow-up.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731520" y="365760"/>
            <a:ext cx="10728655" cy="1280160"/>
          </a:xfrm>
          <a:prstGeom prst="rect">
            <a:avLst/>
          </a:prstGeom>
          <a:noFill/>
        </p:spPr>
        <p:txBody>
          <a:bodyPr wrap="square" lIns="0" tIns="0" rIns="0" bIns="0">
            <a:spAutoFit/>
          </a:bodyPr>
          <a:lstStyle/>
          <a:p>
            <a:pPr>
              <a:spcAft>
                <a:spcPts val="400"/>
              </a:spcAft>
              <a:defRPr sz="1150" b="1">
                <a:solidFill>
                  <a:srgbClr val="444C32"/>
                </a:solidFill>
                <a:latin typeface="Calibri"/>
              </a:defRPr>
            </a:pPr>
            <a:r>
              <a:t>07 // TIER 1 LEAD INTELLIGENCE</a:t>
            </a:r>
          </a:p>
          <a:p>
            <a:pPr>
              <a:spcAft>
                <a:spcPts val="400"/>
              </a:spcAft>
              <a:defRPr sz="2800" b="1">
                <a:solidFill>
                  <a:srgbClr val="181916"/>
                </a:solidFill>
                <a:latin typeface="Georgia"/>
              </a:defRPr>
            </a:pPr>
            <a:r>
              <a:t>Waterfall Enrichment: Cheapest Tool First</a:t>
            </a:r>
          </a:p>
          <a:p>
            <a:pPr>
              <a:defRPr sz="1350">
                <a:solidFill>
                  <a:srgbClr val="5C5950"/>
                </a:solidFill>
                <a:latin typeface="Calibri"/>
              </a:defRPr>
            </a:pPr>
            <a:r>
              <a:t>Each tool only gets what the last one missed: How Alandas achieves ~92% contact find rates with verified WhatsApp numbers at an 87% data cost reduction.</a:t>
            </a:r>
          </a:p>
        </p:txBody>
      </p:sp>
      <p:sp>
        <p:nvSpPr>
          <p:cNvPr id="3" name="TextBox 2"/>
          <p:cNvSpPr txBox="1"/>
          <p:nvPr/>
        </p:nvSpPr>
        <p:spPr>
          <a:xfrm>
            <a:off x="731520" y="6400800"/>
            <a:ext cx="10728655" cy="320040"/>
          </a:xfrm>
          <a:prstGeom prst="rect">
            <a:avLst/>
          </a:prstGeom>
          <a:noFill/>
        </p:spPr>
        <p:txBody>
          <a:bodyPr wrap="none" lIns="0" tIns="0" rIns="0" bIns="0">
            <a:spAutoFit/>
          </a:bodyPr>
          <a:lstStyle/>
          <a:p>
            <a:pPr>
              <a:defRPr sz="950" b="1">
                <a:solidFill>
                  <a:srgbClr val="5C5950"/>
                </a:solidFill>
                <a:latin typeface="Calibri"/>
              </a:defRPr>
            </a:pPr>
            <a:r>
              <a:t>ALANDAS TEA BERLIN  •  TIERED REVENUE ARCHITECTURE  |  SLIDE 08 OF 19</a:t>
            </a:r>
          </a:p>
        </p:txBody>
      </p:sp>
      <p:sp>
        <p:nvSpPr>
          <p:cNvPr id="4" name="Rounded Rectangle 3"/>
          <p:cNvSpPr/>
          <p:nvPr/>
        </p:nvSpPr>
        <p:spPr>
          <a:xfrm>
            <a:off x="731520" y="1828800"/>
            <a:ext cx="2011680" cy="237744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65960"/>
            <a:ext cx="1737360" cy="2103120"/>
          </a:xfrm>
          <a:prstGeom prst="rect">
            <a:avLst/>
          </a:prstGeom>
          <a:noFill/>
        </p:spPr>
        <p:txBody>
          <a:bodyPr wrap="square" lIns="0" tIns="0" rIns="0" bIns="0">
            <a:spAutoFit/>
          </a:bodyPr>
          <a:lstStyle/>
          <a:p>
            <a:pPr>
              <a:spcAft>
                <a:spcPts val="300"/>
              </a:spcAft>
              <a:defRPr sz="950" b="1">
                <a:solidFill>
                  <a:srgbClr val="2F5339"/>
                </a:solidFill>
                <a:latin typeface="Calibri"/>
              </a:defRPr>
            </a:pPr>
            <a:r>
              <a:t>STAGE 0 // €0.00</a:t>
            </a:r>
          </a:p>
          <a:p>
            <a:pPr>
              <a:spcAft>
                <a:spcPts val="500"/>
              </a:spcAft>
              <a:defRPr sz="1400" b="1">
                <a:solidFill>
                  <a:srgbClr val="181916"/>
                </a:solidFill>
                <a:latin typeface="Georgia"/>
              </a:defRPr>
            </a:pPr>
            <a:r>
              <a:t>§ 5 TMG Impressum</a:t>
            </a:r>
          </a:p>
          <a:p>
            <a:pPr>
              <a:spcAft>
                <a:spcPts val="600"/>
              </a:spcAft>
              <a:defRPr sz="1050">
                <a:solidFill>
                  <a:srgbClr val="5C5950"/>
                </a:solidFill>
                <a:latin typeface="Calibri"/>
              </a:defRPr>
            </a:pPr>
            <a:r>
              <a:t>Scrapes German legal notice (/impressum) for managing director &amp; email.</a:t>
            </a:r>
          </a:p>
          <a:p>
            <a:pPr>
              <a:defRPr sz="1000" b="1">
                <a:solidFill>
                  <a:srgbClr val="2F5339"/>
                </a:solidFill>
                <a:latin typeface="Calibri"/>
              </a:defRPr>
            </a:pPr>
            <a:r>
              <a:t>Finds 48% (480/1k)</a:t>
            </a:r>
            <a:br/>
            <a:r>
              <a:t>520 Passed Down ➔</a:t>
            </a:r>
          </a:p>
        </p:txBody>
      </p:sp>
      <p:sp>
        <p:nvSpPr>
          <p:cNvPr id="6" name="Rounded Rectangle 5"/>
          <p:cNvSpPr/>
          <p:nvPr/>
        </p:nvSpPr>
        <p:spPr>
          <a:xfrm>
            <a:off x="2907792" y="1828800"/>
            <a:ext cx="2011680" cy="237744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44952" y="1965960"/>
            <a:ext cx="1737360" cy="2103120"/>
          </a:xfrm>
          <a:prstGeom prst="rect">
            <a:avLst/>
          </a:prstGeom>
          <a:noFill/>
        </p:spPr>
        <p:txBody>
          <a:bodyPr wrap="square" lIns="0" tIns="0" rIns="0" bIns="0">
            <a:spAutoFit/>
          </a:bodyPr>
          <a:lstStyle/>
          <a:p>
            <a:pPr>
              <a:spcAft>
                <a:spcPts val="300"/>
              </a:spcAft>
              <a:defRPr sz="950" b="1">
                <a:solidFill>
                  <a:srgbClr val="444C32"/>
                </a:solidFill>
                <a:latin typeface="Calibri"/>
              </a:defRPr>
            </a:pPr>
            <a:r>
              <a:t>STAGE 1 // €0.005</a:t>
            </a:r>
          </a:p>
          <a:p>
            <a:pPr>
              <a:spcAft>
                <a:spcPts val="500"/>
              </a:spcAft>
              <a:defRPr sz="1400" b="1">
                <a:solidFill>
                  <a:srgbClr val="181916"/>
                </a:solidFill>
                <a:latin typeface="Georgia"/>
              </a:defRPr>
            </a:pPr>
            <a:r>
              <a:t>GitLeads / Apollo</a:t>
            </a:r>
          </a:p>
          <a:p>
            <a:pPr>
              <a:spcAft>
                <a:spcPts val="600"/>
              </a:spcAft>
              <a:defRPr sz="1050">
                <a:solidFill>
                  <a:srgbClr val="5C5950"/>
                </a:solidFill>
                <a:latin typeface="Calibri"/>
              </a:defRPr>
            </a:pPr>
            <a:r>
              <a:t>Bulk database query applied only to the 520 missed cafe records.</a:t>
            </a:r>
          </a:p>
          <a:p>
            <a:pPr>
              <a:defRPr sz="1000" b="1">
                <a:solidFill>
                  <a:srgbClr val="444C32"/>
                </a:solidFill>
                <a:latin typeface="Calibri"/>
              </a:defRPr>
            </a:pPr>
            <a:r>
              <a:t>Finds 24% (+240)</a:t>
            </a:r>
            <a:br/>
            <a:r>
              <a:t>280 Passed Down ➔</a:t>
            </a:r>
          </a:p>
        </p:txBody>
      </p:sp>
      <p:sp>
        <p:nvSpPr>
          <p:cNvPr id="8" name="Rounded Rectangle 7"/>
          <p:cNvSpPr/>
          <p:nvPr/>
        </p:nvSpPr>
        <p:spPr>
          <a:xfrm>
            <a:off x="5084064" y="1828800"/>
            <a:ext cx="2011680" cy="237744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21224" y="1965960"/>
            <a:ext cx="1737360" cy="2103120"/>
          </a:xfrm>
          <a:prstGeom prst="rect">
            <a:avLst/>
          </a:prstGeom>
          <a:noFill/>
        </p:spPr>
        <p:txBody>
          <a:bodyPr wrap="square" lIns="0" tIns="0" rIns="0" bIns="0">
            <a:spAutoFit/>
          </a:bodyPr>
          <a:lstStyle/>
          <a:p>
            <a:pPr>
              <a:spcAft>
                <a:spcPts val="300"/>
              </a:spcAft>
              <a:defRPr sz="950" b="1">
                <a:solidFill>
                  <a:srgbClr val="C48737"/>
                </a:solidFill>
                <a:latin typeface="Calibri"/>
              </a:defRPr>
            </a:pPr>
            <a:r>
              <a:t>STAGE 2 // €0.02</a:t>
            </a:r>
          </a:p>
          <a:p>
            <a:pPr>
              <a:spcAft>
                <a:spcPts val="500"/>
              </a:spcAft>
              <a:defRPr sz="1400" b="1">
                <a:solidFill>
                  <a:srgbClr val="181916"/>
                </a:solidFill>
                <a:latin typeface="Georgia"/>
              </a:defRPr>
            </a:pPr>
            <a:r>
              <a:t>Prospeo / Origami</a:t>
            </a:r>
          </a:p>
          <a:p>
            <a:pPr>
              <a:spcAft>
                <a:spcPts val="600"/>
              </a:spcAft>
              <a:defRPr sz="1050">
                <a:solidFill>
                  <a:srgbClr val="5C5950"/>
                </a:solidFill>
                <a:latin typeface="Calibri"/>
              </a:defRPr>
            </a:pPr>
            <a:r>
              <a:t>Deep email scraper &amp; social MX permutation for stubborn misses.</a:t>
            </a:r>
          </a:p>
          <a:p>
            <a:pPr>
              <a:defRPr sz="1000" b="1">
                <a:solidFill>
                  <a:srgbClr val="C48737"/>
                </a:solidFill>
                <a:latin typeface="Calibri"/>
              </a:defRPr>
            </a:pPr>
            <a:r>
              <a:t>Finds 18% (+180)</a:t>
            </a:r>
            <a:br/>
            <a:r>
              <a:t>~90% Total Email Find</a:t>
            </a:r>
          </a:p>
        </p:txBody>
      </p:sp>
      <p:sp>
        <p:nvSpPr>
          <p:cNvPr id="10" name="Rounded Rectangle 9"/>
          <p:cNvSpPr/>
          <p:nvPr/>
        </p:nvSpPr>
        <p:spPr>
          <a:xfrm>
            <a:off x="7260336" y="1828800"/>
            <a:ext cx="2011680" cy="237744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97496" y="1965960"/>
            <a:ext cx="1737360" cy="2103120"/>
          </a:xfrm>
          <a:prstGeom prst="rect">
            <a:avLst/>
          </a:prstGeom>
          <a:noFill/>
        </p:spPr>
        <p:txBody>
          <a:bodyPr wrap="square" lIns="0" tIns="0" rIns="0" bIns="0">
            <a:spAutoFit/>
          </a:bodyPr>
          <a:lstStyle/>
          <a:p>
            <a:pPr>
              <a:spcAft>
                <a:spcPts val="300"/>
              </a:spcAft>
              <a:defRPr sz="950" b="1">
                <a:solidFill>
                  <a:srgbClr val="C48737"/>
                </a:solidFill>
                <a:latin typeface="Calibri"/>
              </a:defRPr>
            </a:pPr>
            <a:r>
              <a:t>STAGE 3 // €0.05</a:t>
            </a:r>
          </a:p>
          <a:p>
            <a:pPr>
              <a:spcAft>
                <a:spcPts val="500"/>
              </a:spcAft>
              <a:defRPr sz="1400" b="1">
                <a:solidFill>
                  <a:srgbClr val="181916"/>
                </a:solidFill>
                <a:latin typeface="Georgia"/>
              </a:defRPr>
            </a:pPr>
            <a:r>
              <a:t>LeadMagic Mobile</a:t>
            </a:r>
          </a:p>
          <a:p>
            <a:pPr>
              <a:spcAft>
                <a:spcPts val="600"/>
              </a:spcAft>
              <a:defRPr sz="1050">
                <a:solidFill>
                  <a:srgbClr val="5C5950"/>
                </a:solidFill>
                <a:latin typeface="Calibri"/>
              </a:defRPr>
            </a:pPr>
            <a:r>
              <a:t>Direct mobile &amp; WhatsApp lookup for found cafe owners and baristas.</a:t>
            </a:r>
          </a:p>
          <a:p>
            <a:pPr>
              <a:defRPr sz="1000" b="1">
                <a:solidFill>
                  <a:srgbClr val="C48737"/>
                </a:solidFill>
                <a:latin typeface="Calibri"/>
              </a:defRPr>
            </a:pPr>
            <a:r>
              <a:t>Finds 650 Mobiles</a:t>
            </a:r>
            <a:br/>
            <a:r>
              <a:t>Enables WhatsApp B2B</a:t>
            </a:r>
          </a:p>
        </p:txBody>
      </p:sp>
      <p:sp>
        <p:nvSpPr>
          <p:cNvPr id="12" name="Rounded Rectangle 11"/>
          <p:cNvSpPr/>
          <p:nvPr/>
        </p:nvSpPr>
        <p:spPr>
          <a:xfrm>
            <a:off x="9436608" y="1828800"/>
            <a:ext cx="2011680" cy="237744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73768" y="1965960"/>
            <a:ext cx="1737360" cy="2103120"/>
          </a:xfrm>
          <a:prstGeom prst="rect">
            <a:avLst/>
          </a:prstGeom>
          <a:noFill/>
        </p:spPr>
        <p:txBody>
          <a:bodyPr wrap="square" lIns="0" tIns="0" rIns="0" bIns="0">
            <a:spAutoFit/>
          </a:bodyPr>
          <a:lstStyle/>
          <a:p>
            <a:pPr>
              <a:spcAft>
                <a:spcPts val="300"/>
              </a:spcAft>
              <a:defRPr sz="950" b="1">
                <a:solidFill>
                  <a:srgbClr val="2F5339"/>
                </a:solidFill>
                <a:latin typeface="Calibri"/>
              </a:defRPr>
            </a:pPr>
            <a:r>
              <a:t>VALIDATE // €0.002</a:t>
            </a:r>
          </a:p>
          <a:p>
            <a:pPr>
              <a:spcAft>
                <a:spcPts val="500"/>
              </a:spcAft>
              <a:defRPr sz="1400" b="1">
                <a:solidFill>
                  <a:srgbClr val="181916"/>
                </a:solidFill>
                <a:latin typeface="Georgia"/>
              </a:defRPr>
            </a:pPr>
            <a:r>
              <a:t>MillionVerifier</a:t>
            </a:r>
          </a:p>
          <a:p>
            <a:pPr>
              <a:spcAft>
                <a:spcPts val="600"/>
              </a:spcAft>
              <a:defRPr sz="1050">
                <a:solidFill>
                  <a:srgbClr val="5C5950"/>
                </a:solidFill>
                <a:latin typeface="Calibri"/>
              </a:defRPr>
            </a:pPr>
            <a:r>
              <a:t>Strict deliverability gate. Risky / Catch-All filtered out before outreach.</a:t>
            </a:r>
          </a:p>
          <a:p>
            <a:pPr>
              <a:defRPr sz="1000" b="1">
                <a:solidFill>
                  <a:srgbClr val="2F5339"/>
                </a:solidFill>
                <a:latin typeface="Calibri"/>
              </a:defRPr>
            </a:pPr>
            <a:r>
              <a:t>&lt; 1.5% Bounce Rate</a:t>
            </a:r>
            <a:br/>
            <a:r>
              <a:t>Inbound Domain Safe</a:t>
            </a:r>
          </a:p>
        </p:txBody>
      </p:sp>
      <p:sp>
        <p:nvSpPr>
          <p:cNvPr id="14" name="Rounded Rectangle 13"/>
          <p:cNvSpPr/>
          <p:nvPr/>
        </p:nvSpPr>
        <p:spPr>
          <a:xfrm>
            <a:off x="731520" y="4434840"/>
            <a:ext cx="5193792" cy="178308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4636008"/>
            <a:ext cx="4754880" cy="1380744"/>
          </a:xfrm>
          <a:prstGeom prst="rect">
            <a:avLst/>
          </a:prstGeom>
          <a:noFill/>
        </p:spPr>
        <p:txBody>
          <a:bodyPr wrap="square" lIns="0" tIns="0" rIns="0" bIns="0">
            <a:spAutoFit/>
          </a:bodyPr>
          <a:lstStyle/>
          <a:p>
            <a:pPr>
              <a:spcAft>
                <a:spcPts val="400"/>
              </a:spcAft>
              <a:defRPr sz="1100" b="1">
                <a:solidFill>
                  <a:srgbClr val="444C32"/>
                </a:solidFill>
                <a:latin typeface="Calibri"/>
              </a:defRPr>
            </a:pPr>
            <a:r>
              <a:t>UNIT ECONOMICS</a:t>
            </a:r>
          </a:p>
          <a:p>
            <a:pPr>
              <a:spcAft>
                <a:spcPts val="800"/>
              </a:spcAft>
              <a:defRPr sz="1700" b="1">
                <a:solidFill>
                  <a:srgbClr val="181916"/>
                </a:solidFill>
                <a:latin typeface="Georgia"/>
              </a:defRPr>
            </a:pPr>
            <a:r>
              <a:t>87% Data Acquisition Cost Reduction</a:t>
            </a:r>
          </a:p>
          <a:p>
            <a:pPr>
              <a:spcAft>
                <a:spcPts val="500"/>
              </a:spcAft>
              <a:defRPr sz="1100">
                <a:solidFill>
                  <a:srgbClr val="5C5950"/>
                </a:solidFill>
                <a:latin typeface="Calibri"/>
              </a:defRPr>
            </a:pPr>
            <a:r>
              <a:t>•  Naive Flat Approach: $0.08 × 1,000 = $80.00 (High bounce risk &amp; wasted spend).</a:t>
            </a:r>
          </a:p>
          <a:p>
            <a:pPr>
              <a:spcAft>
                <a:spcPts val="500"/>
              </a:spcAft>
              <a:defRPr sz="1100">
                <a:solidFill>
                  <a:srgbClr val="5C5950"/>
                </a:solidFill>
                <a:latin typeface="Calibri"/>
              </a:defRPr>
            </a:pPr>
            <a:r>
              <a:t>•  Waterfall Pipeline: €0 + €2.60 + €5.60 + €1.80 = €10.00 per 1,000 enriched leads.</a:t>
            </a:r>
          </a:p>
          <a:p>
            <a:pPr>
              <a:spcAft>
                <a:spcPts val="500"/>
              </a:spcAft>
              <a:defRPr sz="1100">
                <a:solidFill>
                  <a:srgbClr val="5C5950"/>
                </a:solidFill>
                <a:latin typeface="Calibri"/>
              </a:defRPr>
            </a:pPr>
            <a:r>
              <a:t>•  Net Result: 87% lower customer data cost while achieving ~92% verified contact rate.</a:t>
            </a:r>
          </a:p>
        </p:txBody>
      </p:sp>
      <p:sp>
        <p:nvSpPr>
          <p:cNvPr id="16" name="Rounded Rectangle 15"/>
          <p:cNvSpPr/>
          <p:nvPr/>
        </p:nvSpPr>
        <p:spPr>
          <a:xfrm>
            <a:off x="6263640" y="4434840"/>
            <a:ext cx="5193792" cy="178308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3096" y="4636008"/>
            <a:ext cx="4754880" cy="1380744"/>
          </a:xfrm>
          <a:prstGeom prst="rect">
            <a:avLst/>
          </a:prstGeom>
          <a:noFill/>
        </p:spPr>
        <p:txBody>
          <a:bodyPr wrap="square" lIns="0" tIns="0" rIns="0" bIns="0">
            <a:spAutoFit/>
          </a:bodyPr>
          <a:lstStyle/>
          <a:p>
            <a:pPr>
              <a:spcAft>
                <a:spcPts val="400"/>
              </a:spcAft>
              <a:defRPr sz="1100" b="1">
                <a:solidFill>
                  <a:srgbClr val="C48737"/>
                </a:solidFill>
                <a:latin typeface="Calibri"/>
              </a:defRPr>
            </a:pPr>
            <a:r>
              <a:t>ARCHITECTURAL ADVANTAGE</a:t>
            </a:r>
          </a:p>
          <a:p>
            <a:pPr>
              <a:spcAft>
                <a:spcPts val="800"/>
              </a:spcAft>
              <a:defRPr sz="1700" b="1">
                <a:solidFill>
                  <a:srgbClr val="181916"/>
                </a:solidFill>
                <a:latin typeface="Georgia"/>
              </a:defRPr>
            </a:pPr>
            <a:r>
              <a:t>German § 5 TMG &amp; Temporal Activity Isolation</a:t>
            </a:r>
          </a:p>
          <a:p>
            <a:pPr>
              <a:spcAft>
                <a:spcPts val="500"/>
              </a:spcAft>
              <a:defRPr sz="1100">
                <a:solidFill>
                  <a:srgbClr val="5C5950"/>
                </a:solidFill>
                <a:latin typeface="Calibri"/>
              </a:defRPr>
            </a:pPr>
            <a:r>
              <a:t>•  § 5 TMG Legal Impressum: German law requires commercial sites to publish owner name &amp; email. Stage 0 resolves 48% of leads for €0.</a:t>
            </a:r>
          </a:p>
          <a:p>
            <a:pPr>
              <a:spcAft>
                <a:spcPts val="500"/>
              </a:spcAft>
              <a:defRPr sz="1100">
                <a:solidFill>
                  <a:srgbClr val="5C5950"/>
                </a:solidFill>
                <a:latin typeface="Calibri"/>
              </a:defRPr>
            </a:pPr>
            <a:r>
              <a:t>•  Temporal Durability: Each stage runs as an isolated activity with exponential backoff. If Apollo times out, workflow cascades to Prospeo.</a:t>
            </a:r>
          </a:p>
          <a:p>
            <a:pPr>
              <a:spcAft>
                <a:spcPts val="500"/>
              </a:spcAft>
              <a:defRPr sz="1100">
                <a:solidFill>
                  <a:srgbClr val="5C5950"/>
                </a:solidFill>
                <a:latin typeface="Calibri"/>
              </a:defRPr>
            </a:pPr>
            <a:r>
              <a:t>•  Reputation Defense: MillionVerifier keeps sender bounce rate &lt; 1.5%, protecting sending domains from Google Workspace blacklisting.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731520" y="365760"/>
            <a:ext cx="10728655" cy="1280160"/>
          </a:xfrm>
          <a:prstGeom prst="rect">
            <a:avLst/>
          </a:prstGeom>
          <a:noFill/>
        </p:spPr>
        <p:txBody>
          <a:bodyPr wrap="square" lIns="0" tIns="0" rIns="0" bIns="0">
            <a:spAutoFit/>
          </a:bodyPr>
          <a:lstStyle/>
          <a:p>
            <a:pPr>
              <a:spcAft>
                <a:spcPts val="400"/>
              </a:spcAft>
              <a:defRPr sz="1150" b="1">
                <a:solidFill>
                  <a:srgbClr val="444C32"/>
                </a:solidFill>
                <a:latin typeface="Calibri"/>
              </a:defRPr>
            </a:pPr>
            <a:r>
              <a:t>08 // TIER 2 ARCHITECTURE</a:t>
            </a:r>
          </a:p>
          <a:p>
            <a:pPr>
              <a:spcAft>
                <a:spcPts val="400"/>
              </a:spcAft>
              <a:defRPr sz="2800" b="1">
                <a:solidFill>
                  <a:srgbClr val="181916"/>
                </a:solidFill>
                <a:latin typeface="Georgia"/>
              </a:defRPr>
            </a:pPr>
            <a:r>
              <a:t>Professional Revenue Intelligence Blueprint</a:t>
            </a:r>
          </a:p>
          <a:p>
            <a:pPr>
              <a:defRPr sz="1350">
                <a:solidFill>
                  <a:srgbClr val="5C5950"/>
                </a:solidFill>
                <a:latin typeface="Calibri"/>
              </a:defRPr>
            </a:pPr>
            <a:r>
              <a:t>Introducing durable domain workflows, structured Policy Engines, Decision Contracts, and audit trails.</a:t>
            </a:r>
          </a:p>
        </p:txBody>
      </p:sp>
      <p:sp>
        <p:nvSpPr>
          <p:cNvPr id="3" name="TextBox 2"/>
          <p:cNvSpPr txBox="1"/>
          <p:nvPr/>
        </p:nvSpPr>
        <p:spPr>
          <a:xfrm>
            <a:off x="731520" y="6400800"/>
            <a:ext cx="10728655" cy="320040"/>
          </a:xfrm>
          <a:prstGeom prst="rect">
            <a:avLst/>
          </a:prstGeom>
          <a:noFill/>
        </p:spPr>
        <p:txBody>
          <a:bodyPr wrap="none" lIns="0" tIns="0" rIns="0" bIns="0">
            <a:spAutoFit/>
          </a:bodyPr>
          <a:lstStyle/>
          <a:p>
            <a:pPr>
              <a:defRPr sz="950" b="1">
                <a:solidFill>
                  <a:srgbClr val="5C5950"/>
                </a:solidFill>
                <a:latin typeface="Calibri"/>
              </a:defRPr>
            </a:pPr>
            <a:r>
              <a:t>ALANDAS TEA BERLIN  •  TIERED REVENUE ARCHITECTURE  |  SLIDE 09 OF 19</a:t>
            </a:r>
          </a:p>
        </p:txBody>
      </p:sp>
      <p:sp>
        <p:nvSpPr>
          <p:cNvPr id="4" name="Rounded Rectangle 3"/>
          <p:cNvSpPr/>
          <p:nvPr/>
        </p:nvSpPr>
        <p:spPr>
          <a:xfrm>
            <a:off x="731520" y="1828800"/>
            <a:ext cx="5193792"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029968"/>
            <a:ext cx="4754880" cy="3986784"/>
          </a:xfrm>
          <a:prstGeom prst="rect">
            <a:avLst/>
          </a:prstGeom>
          <a:noFill/>
        </p:spPr>
        <p:txBody>
          <a:bodyPr wrap="square" lIns="0" tIns="0" rIns="0" bIns="0">
            <a:spAutoFit/>
          </a:bodyPr>
          <a:lstStyle/>
          <a:p>
            <a:pPr>
              <a:spcAft>
                <a:spcPts val="400"/>
              </a:spcAft>
              <a:defRPr sz="1100" b="1">
                <a:solidFill>
                  <a:srgbClr val="444C32"/>
                </a:solidFill>
                <a:latin typeface="Calibri"/>
              </a:defRPr>
            </a:pPr>
            <a:r>
              <a:t>SYSTEM BLUEPRINT</a:t>
            </a:r>
          </a:p>
          <a:p>
            <a:pPr>
              <a:spcAft>
                <a:spcPts val="800"/>
              </a:spcAft>
              <a:defRPr sz="2000" b="1">
                <a:solidFill>
                  <a:srgbClr val="181916"/>
                </a:solidFill>
                <a:latin typeface="Georgia"/>
              </a:defRPr>
            </a:pPr>
            <a:r>
              <a:t>The Governed Architecture</a:t>
            </a:r>
          </a:p>
          <a:p>
            <a:pPr>
              <a:spcAft>
                <a:spcPts val="500"/>
              </a:spcAft>
              <a:defRPr sz="1250">
                <a:solidFill>
                  <a:srgbClr val="5C5950"/>
                </a:solidFill>
                <a:latin typeface="Calibri"/>
              </a:defRPr>
            </a:pPr>
            <a:r>
              <a:t>•  Temporal Domain Workflows: Explicit services for Acquisition, Marketing &amp; RevOps.</a:t>
            </a:r>
          </a:p>
          <a:p>
            <a:pPr>
              <a:spcAft>
                <a:spcPts val="500"/>
              </a:spcAft>
              <a:defRPr sz="1250">
                <a:solidFill>
                  <a:srgbClr val="5C5950"/>
                </a:solidFill>
                <a:latin typeface="Calibri"/>
              </a:defRPr>
            </a:pPr>
            <a:r>
              <a:t>•  Domain Logic Layer: Decouples business rules from external transport APIs.</a:t>
            </a:r>
          </a:p>
          <a:p>
            <a:pPr>
              <a:spcAft>
                <a:spcPts val="500"/>
              </a:spcAft>
              <a:defRPr sz="1250">
                <a:solidFill>
                  <a:srgbClr val="5C5950"/>
                </a:solidFill>
                <a:latin typeface="Calibri"/>
              </a:defRPr>
            </a:pPr>
            <a:r>
              <a:t>•  Policy Engine: Mathematical verification of budgets, pricing, and messaging limits.</a:t>
            </a:r>
          </a:p>
          <a:p>
            <a:pPr>
              <a:spcAft>
                <a:spcPts val="500"/>
              </a:spcAft>
              <a:defRPr sz="1250">
                <a:solidFill>
                  <a:srgbClr val="5C5950"/>
                </a:solidFill>
                <a:latin typeface="Calibri"/>
              </a:defRPr>
            </a:pPr>
            <a:r>
              <a:t>•  Decision Contracts: Typed JSON contracts required for all AI recommendations.</a:t>
            </a:r>
          </a:p>
          <a:p>
            <a:pPr>
              <a:spcAft>
                <a:spcPts val="500"/>
              </a:spcAft>
              <a:defRPr sz="1250">
                <a:solidFill>
                  <a:srgbClr val="5C5950"/>
                </a:solidFill>
                <a:latin typeface="Calibri"/>
              </a:defRPr>
            </a:pPr>
            <a:r>
              <a:t>•  Post-Action Verification: System re-queries external APIs to verify state change.</a:t>
            </a:r>
          </a:p>
          <a:p>
            <a:pPr>
              <a:spcAft>
                <a:spcPts val="500"/>
              </a:spcAft>
              <a:defRPr sz="1250">
                <a:solidFill>
                  <a:srgbClr val="5C5950"/>
                </a:solidFill>
                <a:latin typeface="Calibri"/>
              </a:defRPr>
            </a:pPr>
            <a:r>
              <a:t>•  PostgreSQL + Audit Traces: Full OpenTelemetry tracing across all operations.</a:t>
            </a:r>
          </a:p>
        </p:txBody>
      </p:sp>
      <p:sp>
        <p:nvSpPr>
          <p:cNvPr id="6" name="Rounded Rectangle 5"/>
          <p:cNvSpPr/>
          <p:nvPr/>
        </p:nvSpPr>
        <p:spPr>
          <a:xfrm>
            <a:off x="6263640" y="1828800"/>
            <a:ext cx="5193792"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2029968"/>
            <a:ext cx="4754880" cy="3986784"/>
          </a:xfrm>
          <a:prstGeom prst="rect">
            <a:avLst/>
          </a:prstGeom>
          <a:noFill/>
        </p:spPr>
        <p:txBody>
          <a:bodyPr wrap="square" lIns="0" tIns="0" rIns="0" bIns="0">
            <a:spAutoFit/>
          </a:bodyPr>
          <a:lstStyle/>
          <a:p>
            <a:pPr>
              <a:spcAft>
                <a:spcPts val="400"/>
              </a:spcAft>
              <a:defRPr sz="1100" b="1">
                <a:solidFill>
                  <a:srgbClr val="C48737"/>
                </a:solidFill>
                <a:latin typeface="Calibri"/>
              </a:defRPr>
            </a:pPr>
            <a:r>
              <a:t>THE ARCHITECTURAL LEAP</a:t>
            </a:r>
          </a:p>
          <a:p>
            <a:pPr>
              <a:spcAft>
                <a:spcPts val="800"/>
              </a:spcAft>
              <a:defRPr sz="2000" b="1">
                <a:solidFill>
                  <a:srgbClr val="181916"/>
                </a:solidFill>
                <a:latin typeface="Georgia"/>
              </a:defRPr>
            </a:pPr>
            <a:r>
              <a:t>From Automation to Governed Intelligence</a:t>
            </a:r>
          </a:p>
          <a:p>
            <a:pPr>
              <a:spcAft>
                <a:spcPts val="500"/>
              </a:spcAft>
              <a:defRPr sz="1250">
                <a:solidFill>
                  <a:srgbClr val="5C5950"/>
                </a:solidFill>
                <a:latin typeface="Calibri"/>
              </a:defRPr>
            </a:pPr>
            <a:r>
              <a:t>•  In Tier 1, Temporal executes commands. In Tier 2, the system must justify decisions before execution.</a:t>
            </a:r>
          </a:p>
          <a:p>
            <a:pPr>
              <a:spcAft>
                <a:spcPts val="500"/>
              </a:spcAft>
              <a:defRPr sz="1250">
                <a:solidFill>
                  <a:srgbClr val="5C5950"/>
                </a:solidFill>
                <a:latin typeface="Calibri"/>
              </a:defRPr>
            </a:pPr>
            <a:r>
              <a:t>•  Policy Engine: Independent rules governing budget, pricing, discounts, and cadence.</a:t>
            </a:r>
          </a:p>
          <a:p>
            <a:pPr>
              <a:spcAft>
                <a:spcPts val="500"/>
              </a:spcAft>
              <a:defRPr sz="1250">
                <a:solidFill>
                  <a:srgbClr val="5C5950"/>
                </a:solidFill>
                <a:latin typeface="Calibri"/>
              </a:defRPr>
            </a:pPr>
            <a:r>
              <a:t>•  Decision Contracts: Every AI recommendation is validated against schemas before execution.</a:t>
            </a:r>
          </a:p>
          <a:p>
            <a:pPr>
              <a:spcAft>
                <a:spcPts val="500"/>
              </a:spcAft>
              <a:defRPr sz="1250">
                <a:solidFill>
                  <a:srgbClr val="5C5950"/>
                </a:solidFill>
                <a:latin typeface="Calibri"/>
              </a:defRPr>
            </a:pPr>
            <a:r>
              <a:t>•  Selective LangGraph: Bounded reasoning graphs used strictly for complex evaluations (e.g. ad creative analysis), never for the whole app.</a:t>
            </a:r>
          </a:p>
          <a:p>
            <a:pPr>
              <a:spcAft>
                <a:spcPts val="500"/>
              </a:spcAft>
              <a:defRPr sz="1250">
                <a:solidFill>
                  <a:srgbClr val="5C5950"/>
                </a:solidFill>
                <a:latin typeface="Calibri"/>
              </a:defRPr>
            </a:pPr>
            <a:r>
              <a:t>•  Auditability: In any dispute, the customer has an exact chronological record of every AI decision.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731520" y="365760"/>
            <a:ext cx="10728655" cy="1280160"/>
          </a:xfrm>
          <a:prstGeom prst="rect">
            <a:avLst/>
          </a:prstGeom>
          <a:noFill/>
        </p:spPr>
        <p:txBody>
          <a:bodyPr wrap="square" lIns="0" tIns="0" rIns="0" bIns="0">
            <a:spAutoFit/>
          </a:bodyPr>
          <a:lstStyle/>
          <a:p>
            <a:pPr>
              <a:spcAft>
                <a:spcPts val="400"/>
              </a:spcAft>
              <a:defRPr sz="1150" b="1">
                <a:solidFill>
                  <a:srgbClr val="444C32"/>
                </a:solidFill>
                <a:latin typeface="Calibri"/>
              </a:defRPr>
            </a:pPr>
            <a:r>
              <a:t>09 // TIER 2 GOVERNANCE IN ACTION</a:t>
            </a:r>
          </a:p>
          <a:p>
            <a:pPr>
              <a:spcAft>
                <a:spcPts val="400"/>
              </a:spcAft>
              <a:defRPr sz="2800" b="1">
                <a:solidFill>
                  <a:srgbClr val="181916"/>
                </a:solidFill>
                <a:latin typeface="Georgia"/>
              </a:defRPr>
            </a:pPr>
            <a:r>
              <a:t>The Decision Contract Walkthrough</a:t>
            </a:r>
          </a:p>
          <a:p>
            <a:pPr>
              <a:defRPr sz="1350">
                <a:solidFill>
                  <a:srgbClr val="5C5950"/>
                </a:solidFill>
                <a:latin typeface="Calibri"/>
              </a:defRPr>
            </a:pPr>
            <a:r>
              <a:t>Example: AI recommends a 30% Meta Ad budget increase. How the system governs this safely.</a:t>
            </a:r>
          </a:p>
        </p:txBody>
      </p:sp>
      <p:sp>
        <p:nvSpPr>
          <p:cNvPr id="3" name="TextBox 2"/>
          <p:cNvSpPr txBox="1"/>
          <p:nvPr/>
        </p:nvSpPr>
        <p:spPr>
          <a:xfrm>
            <a:off x="731520" y="6400800"/>
            <a:ext cx="10728655" cy="320040"/>
          </a:xfrm>
          <a:prstGeom prst="rect">
            <a:avLst/>
          </a:prstGeom>
          <a:noFill/>
        </p:spPr>
        <p:txBody>
          <a:bodyPr wrap="none" lIns="0" tIns="0" rIns="0" bIns="0">
            <a:spAutoFit/>
          </a:bodyPr>
          <a:lstStyle/>
          <a:p>
            <a:pPr>
              <a:defRPr sz="950" b="1">
                <a:solidFill>
                  <a:srgbClr val="5C5950"/>
                </a:solidFill>
                <a:latin typeface="Calibri"/>
              </a:defRPr>
            </a:pPr>
            <a:r>
              <a:t>ALANDAS TEA BERLIN  •  TIERED REVENUE ARCHITECTURE  |  SLIDE 10 OF 19</a:t>
            </a:r>
          </a:p>
        </p:txBody>
      </p:sp>
      <p:sp>
        <p:nvSpPr>
          <p:cNvPr id="4" name="Rounded Rectangle 3"/>
          <p:cNvSpPr/>
          <p:nvPr/>
        </p:nvSpPr>
        <p:spPr>
          <a:xfrm>
            <a:off x="731520" y="1828800"/>
            <a:ext cx="5193792"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029968"/>
            <a:ext cx="4754880" cy="3986784"/>
          </a:xfrm>
          <a:prstGeom prst="rect">
            <a:avLst/>
          </a:prstGeom>
          <a:noFill/>
        </p:spPr>
        <p:txBody>
          <a:bodyPr wrap="square" lIns="0" tIns="0" rIns="0" bIns="0">
            <a:spAutoFit/>
          </a:bodyPr>
          <a:lstStyle/>
          <a:p>
            <a:pPr>
              <a:spcAft>
                <a:spcPts val="400"/>
              </a:spcAft>
              <a:defRPr sz="1100" b="1">
                <a:solidFill>
                  <a:srgbClr val="C48737"/>
                </a:solidFill>
                <a:latin typeface="Calibri"/>
              </a:defRPr>
            </a:pPr>
            <a:r>
              <a:t>8-STAGE GOVERNANCE GATE</a:t>
            </a:r>
          </a:p>
          <a:p>
            <a:pPr>
              <a:spcAft>
                <a:spcPts val="800"/>
              </a:spcAft>
              <a:defRPr sz="1800" b="1">
                <a:solidFill>
                  <a:srgbClr val="181916"/>
                </a:solidFill>
                <a:latin typeface="Georgia"/>
              </a:defRPr>
            </a:pPr>
            <a:r>
              <a:t>Executing +30% Ad Budget Increase</a:t>
            </a:r>
          </a:p>
          <a:p>
            <a:pPr>
              <a:spcAft>
                <a:spcPts val="500"/>
              </a:spcAft>
              <a:defRPr sz="1150">
                <a:solidFill>
                  <a:srgbClr val="5C5950"/>
                </a:solidFill>
                <a:latin typeface="Calibri"/>
              </a:defRPr>
            </a:pPr>
            <a:r>
              <a:t>•  1. AI Recommendation: 'Increase Berlin Brunch Ad budget from €30 to €39/day (+30%).'</a:t>
            </a:r>
          </a:p>
          <a:p>
            <a:pPr>
              <a:spcAft>
                <a:spcPts val="500"/>
              </a:spcAft>
              <a:defRPr sz="1150">
                <a:solidFill>
                  <a:srgbClr val="5C5950"/>
                </a:solidFill>
                <a:latin typeface="Calibri"/>
              </a:defRPr>
            </a:pPr>
            <a:r>
              <a:t>•  2. Validity Check: Is campaign ID active? Does the ad set exist?</a:t>
            </a:r>
          </a:p>
          <a:p>
            <a:pPr>
              <a:spcAft>
                <a:spcPts val="500"/>
              </a:spcAft>
              <a:defRPr sz="1150">
                <a:solidFill>
                  <a:srgbClr val="5C5950"/>
                </a:solidFill>
                <a:latin typeface="Calibri"/>
              </a:defRPr>
            </a:pPr>
            <a:r>
              <a:t>•  3. Eligibility Check: Has campaign run &gt; 7 days? Is ROAS &gt; 3.0x? (Yes: 4.2x).</a:t>
            </a:r>
          </a:p>
          <a:p>
            <a:pPr>
              <a:spcAft>
                <a:spcPts val="500"/>
              </a:spcAft>
              <a:defRPr sz="1150">
                <a:solidFill>
                  <a:srgbClr val="5C5950"/>
                </a:solidFill>
                <a:latin typeface="Calibri"/>
              </a:defRPr>
            </a:pPr>
            <a:r>
              <a:t>•  4. Policy Evaluation: Does €39 exceed the daily ceiling (€50)? (Compliant).</a:t>
            </a:r>
          </a:p>
          <a:p>
            <a:pPr>
              <a:spcAft>
                <a:spcPts val="500"/>
              </a:spcAft>
              <a:defRPr sz="1150">
                <a:solidFill>
                  <a:srgbClr val="5C5950"/>
                </a:solidFill>
                <a:latin typeface="Calibri"/>
              </a:defRPr>
            </a:pPr>
            <a:r>
              <a:t>•  5. Approval Threshold: Does budget delta &gt; €5 require human sign-off? (Policy: YES).</a:t>
            </a:r>
          </a:p>
          <a:p>
            <a:pPr>
              <a:spcAft>
                <a:spcPts val="500"/>
              </a:spcAft>
              <a:defRPr sz="1150">
                <a:solidFill>
                  <a:srgbClr val="5C5950"/>
                </a:solidFill>
                <a:latin typeface="Calibri"/>
              </a:defRPr>
            </a:pPr>
            <a:r>
              <a:t>•  6. Human Approval: Sidy receives 1-tap notification: [Approve +€9/day].</a:t>
            </a:r>
          </a:p>
          <a:p>
            <a:pPr>
              <a:spcAft>
                <a:spcPts val="500"/>
              </a:spcAft>
              <a:defRPr sz="1150">
                <a:solidFill>
                  <a:srgbClr val="5C5950"/>
                </a:solidFill>
                <a:latin typeface="Calibri"/>
              </a:defRPr>
            </a:pPr>
            <a:r>
              <a:t>•  7. Execute &amp; Verify: Meta API called; system re-queries Meta to confirm new budget = €39.00.</a:t>
            </a:r>
          </a:p>
          <a:p>
            <a:pPr>
              <a:spcAft>
                <a:spcPts val="500"/>
              </a:spcAft>
              <a:defRPr sz="1150">
                <a:solidFill>
                  <a:srgbClr val="5C5950"/>
                </a:solidFill>
                <a:latin typeface="Calibri"/>
              </a:defRPr>
            </a:pPr>
            <a:r>
              <a:t>•  8. Audit Logging: Immutable record written with reasoning, timestamp, and Sidy's ID.</a:t>
            </a:r>
          </a:p>
        </p:txBody>
      </p:sp>
      <p:sp>
        <p:nvSpPr>
          <p:cNvPr id="6" name="Rounded Rectangle 5"/>
          <p:cNvSpPr/>
          <p:nvPr/>
        </p:nvSpPr>
        <p:spPr>
          <a:xfrm>
            <a:off x="6263640" y="1828800"/>
            <a:ext cx="5193792"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2029968"/>
            <a:ext cx="4754880" cy="3986784"/>
          </a:xfrm>
          <a:prstGeom prst="rect">
            <a:avLst/>
          </a:prstGeom>
          <a:noFill/>
        </p:spPr>
        <p:txBody>
          <a:bodyPr wrap="square" lIns="0" tIns="0" rIns="0" bIns="0">
            <a:spAutoFit/>
          </a:bodyPr>
          <a:lstStyle/>
          <a:p>
            <a:pPr>
              <a:spcAft>
                <a:spcPts val="400"/>
              </a:spcAft>
              <a:defRPr sz="1100" b="1">
                <a:solidFill>
                  <a:srgbClr val="444C32"/>
                </a:solidFill>
                <a:latin typeface="Calibri"/>
              </a:defRPr>
            </a:pPr>
            <a:r>
              <a:t>COMMERCIAL VALUE</a:t>
            </a:r>
          </a:p>
          <a:p>
            <a:pPr>
              <a:spcAft>
                <a:spcPts val="800"/>
              </a:spcAft>
              <a:defRPr sz="1800" b="1">
                <a:solidFill>
                  <a:srgbClr val="181916"/>
                </a:solidFill>
                <a:latin typeface="Georgia"/>
              </a:defRPr>
            </a:pPr>
            <a:r>
              <a:t>What the Customer Is Actually Paying For</a:t>
            </a:r>
          </a:p>
          <a:p>
            <a:pPr>
              <a:spcAft>
                <a:spcPts val="500"/>
              </a:spcAft>
              <a:defRPr sz="1200">
                <a:solidFill>
                  <a:srgbClr val="5C5950"/>
                </a:solidFill>
                <a:latin typeface="Calibri"/>
              </a:defRPr>
            </a:pPr>
            <a:r>
              <a:t>•  Zero Runaway Spend: An AI bug or hallucination can never drain the customer's bank account or ad budget.</a:t>
            </a:r>
          </a:p>
          <a:p>
            <a:pPr>
              <a:spcAft>
                <a:spcPts val="500"/>
              </a:spcAft>
              <a:defRPr sz="1200">
                <a:solidFill>
                  <a:srgbClr val="5C5950"/>
                </a:solidFill>
                <a:latin typeface="Calibri"/>
              </a:defRPr>
            </a:pPr>
            <a:r>
              <a:t>•  Zero Pricing Leaks: B2B wholesale volume discounts follow strict mathematical tables, not model whims.</a:t>
            </a:r>
          </a:p>
          <a:p>
            <a:pPr>
              <a:spcAft>
                <a:spcPts val="500"/>
              </a:spcAft>
              <a:defRPr sz="1200">
                <a:solidFill>
                  <a:srgbClr val="5C5950"/>
                </a:solidFill>
                <a:latin typeface="Calibri"/>
              </a:defRPr>
            </a:pPr>
            <a:r>
              <a:t>•  Regulatory Compliance: Strict policy checks guarantee botanical and organic labeling compliance under German food regulations.</a:t>
            </a:r>
          </a:p>
          <a:p>
            <a:pPr>
              <a:spcAft>
                <a:spcPts val="500"/>
              </a:spcAft>
              <a:defRPr sz="1200">
                <a:solidFill>
                  <a:srgbClr val="5C5950"/>
                </a:solidFill>
                <a:latin typeface="Calibri"/>
              </a:defRPr>
            </a:pPr>
            <a:r>
              <a:t>•  Complete Auditability: Exact chronological record of every AI decision for investors and accountants.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731520" y="365760"/>
            <a:ext cx="10728655" cy="1280160"/>
          </a:xfrm>
          <a:prstGeom prst="rect">
            <a:avLst/>
          </a:prstGeom>
          <a:noFill/>
        </p:spPr>
        <p:txBody>
          <a:bodyPr wrap="square" lIns="0" tIns="0" rIns="0" bIns="0">
            <a:spAutoFit/>
          </a:bodyPr>
          <a:lstStyle/>
          <a:p>
            <a:pPr>
              <a:spcAft>
                <a:spcPts val="400"/>
              </a:spcAft>
              <a:defRPr sz="1150" b="1">
                <a:solidFill>
                  <a:srgbClr val="444C32"/>
                </a:solidFill>
                <a:latin typeface="Calibri"/>
              </a:defRPr>
            </a:pPr>
            <a:r>
              <a:t>10 // TIER 3 ARCHITECTURE</a:t>
            </a:r>
          </a:p>
          <a:p>
            <a:pPr>
              <a:spcAft>
                <a:spcPts val="400"/>
              </a:spcAft>
              <a:defRPr sz="2800" b="1">
                <a:solidFill>
                  <a:srgbClr val="181916"/>
                </a:solidFill>
                <a:latin typeface="Georgia"/>
              </a:defRPr>
            </a:pPr>
            <a:r>
              <a:t>Autonomous Revenue Platform Blueprint</a:t>
            </a:r>
          </a:p>
          <a:p>
            <a:pPr>
              <a:defRPr sz="1350">
                <a:solidFill>
                  <a:srgbClr val="5C5950"/>
                </a:solidFill>
                <a:latin typeface="Calibri"/>
              </a:defRPr>
            </a:pPr>
            <a:r>
              <a:t>When commercial scale reaches 100+ accounts, the system transitions into an autonomous closed-loop revenue engine.</a:t>
            </a:r>
          </a:p>
        </p:txBody>
      </p:sp>
      <p:sp>
        <p:nvSpPr>
          <p:cNvPr id="3" name="TextBox 2"/>
          <p:cNvSpPr txBox="1"/>
          <p:nvPr/>
        </p:nvSpPr>
        <p:spPr>
          <a:xfrm>
            <a:off x="731520" y="6400800"/>
            <a:ext cx="10728655" cy="320040"/>
          </a:xfrm>
          <a:prstGeom prst="rect">
            <a:avLst/>
          </a:prstGeom>
          <a:noFill/>
        </p:spPr>
        <p:txBody>
          <a:bodyPr wrap="none" lIns="0" tIns="0" rIns="0" bIns="0">
            <a:spAutoFit/>
          </a:bodyPr>
          <a:lstStyle/>
          <a:p>
            <a:pPr>
              <a:defRPr sz="950" b="1">
                <a:solidFill>
                  <a:srgbClr val="5C5950"/>
                </a:solidFill>
                <a:latin typeface="Calibri"/>
              </a:defRPr>
            </a:pPr>
            <a:r>
              <a:t>ALANDAS TEA BERLIN  •  TIERED REVENUE ARCHITECTURE  |  SLIDE 11 OF 19</a:t>
            </a:r>
          </a:p>
        </p:txBody>
      </p:sp>
      <p:sp>
        <p:nvSpPr>
          <p:cNvPr id="4" name="Rounded Rectangle 3"/>
          <p:cNvSpPr/>
          <p:nvPr/>
        </p:nvSpPr>
        <p:spPr>
          <a:xfrm>
            <a:off x="731520" y="1828800"/>
            <a:ext cx="5193792"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029968"/>
            <a:ext cx="4754880" cy="3986784"/>
          </a:xfrm>
          <a:prstGeom prst="rect">
            <a:avLst/>
          </a:prstGeom>
          <a:noFill/>
        </p:spPr>
        <p:txBody>
          <a:bodyPr wrap="square" lIns="0" tIns="0" rIns="0" bIns="0">
            <a:spAutoFit/>
          </a:bodyPr>
          <a:lstStyle/>
          <a:p>
            <a:pPr>
              <a:spcAft>
                <a:spcPts val="400"/>
              </a:spcAft>
              <a:defRPr sz="1100" b="1">
                <a:solidFill>
                  <a:srgbClr val="444C32"/>
                </a:solidFill>
                <a:latin typeface="Calibri"/>
              </a:defRPr>
            </a:pPr>
            <a:r>
              <a:t>SYSTEM BLUEPRINT</a:t>
            </a:r>
          </a:p>
          <a:p>
            <a:pPr>
              <a:spcAft>
                <a:spcPts val="800"/>
              </a:spcAft>
              <a:defRPr sz="2000" b="1">
                <a:solidFill>
                  <a:srgbClr val="181916"/>
                </a:solidFill>
                <a:latin typeface="Georgia"/>
              </a:defRPr>
            </a:pPr>
            <a:r>
              <a:t>The Autonomous Platform</a:t>
            </a:r>
          </a:p>
          <a:p>
            <a:pPr>
              <a:spcAft>
                <a:spcPts val="500"/>
              </a:spcAft>
              <a:defRPr sz="1250">
                <a:solidFill>
                  <a:srgbClr val="5C5950"/>
                </a:solidFill>
                <a:latin typeface="Calibri"/>
              </a:defRPr>
            </a:pPr>
            <a:r>
              <a:t>•  Temporal Runtime &amp; Event Bus: Durable event backbone coordinating all domain agents.</a:t>
            </a:r>
          </a:p>
          <a:p>
            <a:pPr>
              <a:spcAft>
                <a:spcPts val="500"/>
              </a:spcAft>
              <a:defRPr sz="1250">
                <a:solidFill>
                  <a:srgbClr val="5C5950"/>
                </a:solidFill>
                <a:latin typeface="Calibri"/>
              </a:defRPr>
            </a:pPr>
            <a:r>
              <a:t>•  Domain Specialist Agents: Dedicated agents for Acquisition, Creative/Ads, and RevOps.</a:t>
            </a:r>
          </a:p>
          <a:p>
            <a:pPr>
              <a:spcAft>
                <a:spcPts val="500"/>
              </a:spcAft>
              <a:defRPr sz="1250">
                <a:solidFill>
                  <a:srgbClr val="5C5950"/>
                </a:solidFill>
                <a:latin typeface="Calibri"/>
              </a:defRPr>
            </a:pPr>
            <a:r>
              <a:t>•  Shared Revenue State: Central real-time graph of customer accounts, consumption &amp; LTV.</a:t>
            </a:r>
          </a:p>
          <a:p>
            <a:pPr>
              <a:spcAft>
                <a:spcPts val="500"/>
              </a:spcAft>
              <a:defRPr sz="1250">
                <a:solidFill>
                  <a:srgbClr val="5C5950"/>
                </a:solidFill>
                <a:latin typeface="Calibri"/>
              </a:defRPr>
            </a:pPr>
            <a:r>
              <a:t>•  Policy Engine &amp; Enterprise RAG: Ingestion of blend sensory sheets, cafe notes &amp; market trends.</a:t>
            </a:r>
          </a:p>
          <a:p>
            <a:pPr>
              <a:spcAft>
                <a:spcPts val="500"/>
              </a:spcAft>
              <a:defRPr sz="1250">
                <a:solidFill>
                  <a:srgbClr val="5C5950"/>
                </a:solidFill>
                <a:latin typeface="Calibri"/>
              </a:defRPr>
            </a:pPr>
            <a:r>
              <a:t>•  MCP Capability Layer: Standardized protocol boundaries for tool invocation across services.</a:t>
            </a:r>
          </a:p>
          <a:p>
            <a:pPr>
              <a:spcAft>
                <a:spcPts val="500"/>
              </a:spcAft>
              <a:defRPr sz="1250">
                <a:solidFill>
                  <a:srgbClr val="5C5950"/>
                </a:solidFill>
                <a:latin typeface="Calibri"/>
              </a:defRPr>
            </a:pPr>
            <a:r>
              <a:t>•  Closed-Loop Learning: Automated feedback connecting customer refills back into ad bidding.</a:t>
            </a:r>
          </a:p>
        </p:txBody>
      </p:sp>
      <p:sp>
        <p:nvSpPr>
          <p:cNvPr id="6" name="Rounded Rectangle 5"/>
          <p:cNvSpPr/>
          <p:nvPr/>
        </p:nvSpPr>
        <p:spPr>
          <a:xfrm>
            <a:off x="6263640" y="1828800"/>
            <a:ext cx="5193792"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2029968"/>
            <a:ext cx="4754880" cy="3986784"/>
          </a:xfrm>
          <a:prstGeom prst="rect">
            <a:avLst/>
          </a:prstGeom>
          <a:noFill/>
        </p:spPr>
        <p:txBody>
          <a:bodyPr wrap="square" lIns="0" tIns="0" rIns="0" bIns="0">
            <a:spAutoFit/>
          </a:bodyPr>
          <a:lstStyle/>
          <a:p>
            <a:pPr>
              <a:spcAft>
                <a:spcPts val="400"/>
              </a:spcAft>
              <a:defRPr sz="1100" b="1">
                <a:solidFill>
                  <a:srgbClr val="2F5339"/>
                </a:solidFill>
                <a:latin typeface="Calibri"/>
              </a:defRPr>
            </a:pPr>
            <a:r>
              <a:t>EARNED COMPLEXITY</a:t>
            </a:r>
          </a:p>
          <a:p>
            <a:pPr>
              <a:spcAft>
                <a:spcPts val="800"/>
              </a:spcAft>
              <a:defRPr sz="2000" b="1">
                <a:solidFill>
                  <a:srgbClr val="181916"/>
                </a:solidFill>
                <a:latin typeface="Georgia"/>
              </a:defRPr>
            </a:pPr>
            <a:r>
              <a:t>When Is Tier 3 Justified?</a:t>
            </a:r>
          </a:p>
          <a:p>
            <a:pPr>
              <a:spcAft>
                <a:spcPts val="500"/>
              </a:spcAft>
              <a:defRPr sz="1250">
                <a:solidFill>
                  <a:srgbClr val="5C5950"/>
                </a:solidFill>
                <a:latin typeface="Calibri"/>
              </a:defRPr>
            </a:pPr>
            <a:r>
              <a:t>•  Cross-Domain Signals: Cafe reorder frequency directly triggers creative testing on Meta Ads without human intervention.</a:t>
            </a:r>
          </a:p>
          <a:p>
            <a:pPr>
              <a:spcAft>
                <a:spcPts val="500"/>
              </a:spcAft>
              <a:defRPr sz="1250">
                <a:solidFill>
                  <a:srgbClr val="5C5950"/>
                </a:solidFill>
                <a:latin typeface="Calibri"/>
              </a:defRPr>
            </a:pPr>
            <a:r>
              <a:t>•  MCP Dynamic Capabilities: Agents dynamically discover tools and query inventory, CRM, and logistics via standardized protocol boundaries.</a:t>
            </a:r>
          </a:p>
          <a:p>
            <a:pPr>
              <a:spcAft>
                <a:spcPts val="500"/>
              </a:spcAft>
              <a:defRPr sz="1250">
                <a:solidFill>
                  <a:srgbClr val="5C5950"/>
                </a:solidFill>
                <a:latin typeface="Calibri"/>
              </a:defRPr>
            </a:pPr>
            <a:r>
              <a:t>•  Continuous Experimentation: System formulates hypotheses, executes test campaigns, and measures LTV impact.</a:t>
            </a:r>
          </a:p>
          <a:p>
            <a:pPr>
              <a:spcAft>
                <a:spcPts val="500"/>
              </a:spcAft>
              <a:defRPr sz="1250">
                <a:solidFill>
                  <a:srgbClr val="5C5950"/>
                </a:solidFill>
                <a:latin typeface="Calibri"/>
              </a:defRPr>
            </a:pPr>
            <a:r>
              <a:t>•  True Scale: Operates 200+ partner accounts across multiple countries with zero additional administrative personnel.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731520" y="365760"/>
            <a:ext cx="10728655" cy="1280160"/>
          </a:xfrm>
          <a:prstGeom prst="rect">
            <a:avLst/>
          </a:prstGeom>
          <a:noFill/>
        </p:spPr>
        <p:txBody>
          <a:bodyPr wrap="square" lIns="0" tIns="0" rIns="0" bIns="0">
            <a:spAutoFit/>
          </a:bodyPr>
          <a:lstStyle/>
          <a:p>
            <a:pPr>
              <a:spcAft>
                <a:spcPts val="400"/>
              </a:spcAft>
              <a:defRPr sz="1150" b="1">
                <a:solidFill>
                  <a:srgbClr val="444C32"/>
                </a:solidFill>
                <a:latin typeface="Calibri"/>
              </a:defRPr>
            </a:pPr>
            <a:r>
              <a:t>11 // TIER 3 OPERATIONAL FLYWHEEL</a:t>
            </a:r>
          </a:p>
          <a:p>
            <a:pPr>
              <a:spcAft>
                <a:spcPts val="400"/>
              </a:spcAft>
              <a:defRPr sz="2800" b="1">
                <a:solidFill>
                  <a:srgbClr val="181916"/>
                </a:solidFill>
                <a:latin typeface="Georgia"/>
              </a:defRPr>
            </a:pPr>
            <a:r>
              <a:t>The Closed-Loop Commercial Flywheel</a:t>
            </a:r>
          </a:p>
          <a:p>
            <a:pPr>
              <a:defRPr sz="1350">
                <a:solidFill>
                  <a:srgbClr val="5C5950"/>
                </a:solidFill>
                <a:latin typeface="Calibri"/>
              </a:defRPr>
            </a:pPr>
            <a:r>
              <a:t>Connecting top-of-funnel acquisition directly to post-purchase retention and lifetime value in a continuous feedback loop.</a:t>
            </a:r>
          </a:p>
        </p:txBody>
      </p:sp>
      <p:sp>
        <p:nvSpPr>
          <p:cNvPr id="3" name="TextBox 2"/>
          <p:cNvSpPr txBox="1"/>
          <p:nvPr/>
        </p:nvSpPr>
        <p:spPr>
          <a:xfrm>
            <a:off x="731520" y="6400800"/>
            <a:ext cx="10728655" cy="320040"/>
          </a:xfrm>
          <a:prstGeom prst="rect">
            <a:avLst/>
          </a:prstGeom>
          <a:noFill/>
        </p:spPr>
        <p:txBody>
          <a:bodyPr wrap="none" lIns="0" tIns="0" rIns="0" bIns="0">
            <a:spAutoFit/>
          </a:bodyPr>
          <a:lstStyle/>
          <a:p>
            <a:pPr>
              <a:defRPr sz="950" b="1">
                <a:solidFill>
                  <a:srgbClr val="5C5950"/>
                </a:solidFill>
                <a:latin typeface="Calibri"/>
              </a:defRPr>
            </a:pPr>
            <a:r>
              <a:t>ALANDAS TEA BERLIN  •  TIERED REVENUE ARCHITECTURE  |  SLIDE 12 OF 19</a:t>
            </a:r>
          </a:p>
        </p:txBody>
      </p:sp>
      <p:sp>
        <p:nvSpPr>
          <p:cNvPr id="4" name="Rounded Rectangle 3"/>
          <p:cNvSpPr/>
          <p:nvPr/>
        </p:nvSpPr>
        <p:spPr>
          <a:xfrm>
            <a:off x="731520" y="1828800"/>
            <a:ext cx="2487168" cy="292608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029968"/>
            <a:ext cx="2048256" cy="2523744"/>
          </a:xfrm>
          <a:prstGeom prst="rect">
            <a:avLst/>
          </a:prstGeom>
          <a:noFill/>
        </p:spPr>
        <p:txBody>
          <a:bodyPr wrap="square" lIns="0" tIns="0" rIns="0" bIns="0">
            <a:spAutoFit/>
          </a:bodyPr>
          <a:lstStyle/>
          <a:p>
            <a:pPr>
              <a:spcAft>
                <a:spcPts val="400"/>
              </a:spcAft>
              <a:defRPr sz="1100" b="1">
                <a:solidFill>
                  <a:srgbClr val="444C32"/>
                </a:solidFill>
                <a:latin typeface="Calibri"/>
              </a:defRPr>
            </a:pPr>
            <a:r>
              <a:t>STAGE 01</a:t>
            </a:r>
          </a:p>
          <a:p>
            <a:pPr>
              <a:spcAft>
                <a:spcPts val="800"/>
              </a:spcAft>
              <a:defRPr sz="1600" b="1">
                <a:solidFill>
                  <a:srgbClr val="181916"/>
                </a:solidFill>
                <a:latin typeface="Georgia"/>
              </a:defRPr>
            </a:pPr>
            <a:r>
              <a:t>Market Signals</a:t>
            </a:r>
          </a:p>
          <a:p>
            <a:pPr>
              <a:spcAft>
                <a:spcPts val="500"/>
              </a:spcAft>
              <a:defRPr sz="1100">
                <a:solidFill>
                  <a:srgbClr val="5C5950"/>
                </a:solidFill>
                <a:latin typeface="Calibri"/>
              </a:defRPr>
            </a:pPr>
            <a:r>
              <a:t>•  Scrapes German dining clusters</a:t>
            </a:r>
          </a:p>
          <a:p>
            <a:pPr>
              <a:spcAft>
                <a:spcPts val="500"/>
              </a:spcAft>
              <a:defRPr sz="1100">
                <a:solidFill>
                  <a:srgbClr val="5C5950"/>
                </a:solidFill>
                <a:latin typeface="Calibri"/>
              </a:defRPr>
            </a:pPr>
            <a:r>
              <a:t>•  Tracks Instagram engagement</a:t>
            </a:r>
          </a:p>
          <a:p>
            <a:pPr>
              <a:spcAft>
                <a:spcPts val="500"/>
              </a:spcAft>
              <a:defRPr sz="1100">
                <a:solidFill>
                  <a:srgbClr val="5C5950"/>
                </a:solidFill>
                <a:latin typeface="Calibri"/>
              </a:defRPr>
            </a:pPr>
            <a:r>
              <a:t>•  Identifies active beverage buyers</a:t>
            </a:r>
          </a:p>
        </p:txBody>
      </p:sp>
      <p:sp>
        <p:nvSpPr>
          <p:cNvPr id="6" name="Rounded Rectangle 5"/>
          <p:cNvSpPr/>
          <p:nvPr/>
        </p:nvSpPr>
        <p:spPr>
          <a:xfrm>
            <a:off x="3474720" y="1828800"/>
            <a:ext cx="2487168" cy="292608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94176" y="2029968"/>
            <a:ext cx="2048256" cy="2523744"/>
          </a:xfrm>
          <a:prstGeom prst="rect">
            <a:avLst/>
          </a:prstGeom>
          <a:noFill/>
        </p:spPr>
        <p:txBody>
          <a:bodyPr wrap="square" lIns="0" tIns="0" rIns="0" bIns="0">
            <a:spAutoFit/>
          </a:bodyPr>
          <a:lstStyle/>
          <a:p>
            <a:pPr>
              <a:spcAft>
                <a:spcPts val="400"/>
              </a:spcAft>
              <a:defRPr sz="1100" b="1">
                <a:solidFill>
                  <a:srgbClr val="444C32"/>
                </a:solidFill>
                <a:latin typeface="Calibri"/>
              </a:defRPr>
            </a:pPr>
            <a:r>
              <a:t>STAGE 02</a:t>
            </a:r>
          </a:p>
          <a:p>
            <a:pPr>
              <a:spcAft>
                <a:spcPts val="800"/>
              </a:spcAft>
              <a:defRPr sz="1600" b="1">
                <a:solidFill>
                  <a:srgbClr val="181916"/>
                </a:solidFill>
                <a:latin typeface="Georgia"/>
              </a:defRPr>
            </a:pPr>
            <a:r>
              <a:t>€19 Trial Box</a:t>
            </a:r>
          </a:p>
          <a:p>
            <a:pPr>
              <a:spcAft>
                <a:spcPts val="500"/>
              </a:spcAft>
              <a:defRPr sz="1100">
                <a:solidFill>
                  <a:srgbClr val="5C5950"/>
                </a:solidFill>
                <a:latin typeface="Calibri"/>
              </a:defRPr>
            </a:pPr>
            <a:r>
              <a:t>•  Automated qualification routes heavy borosilicate teapot</a:t>
            </a:r>
          </a:p>
          <a:p>
            <a:pPr>
              <a:spcAft>
                <a:spcPts val="500"/>
              </a:spcAft>
              <a:defRPr sz="1100">
                <a:solidFill>
                  <a:srgbClr val="5C5950"/>
                </a:solidFill>
                <a:latin typeface="Calibri"/>
              </a:defRPr>
            </a:pPr>
            <a:r>
              <a:t>•  Verified cafe baristas receive kit</a:t>
            </a:r>
          </a:p>
          <a:p>
            <a:pPr>
              <a:spcAft>
                <a:spcPts val="500"/>
              </a:spcAft>
              <a:defRPr sz="1100">
                <a:solidFill>
                  <a:srgbClr val="5C5950"/>
                </a:solidFill>
                <a:latin typeface="Calibri"/>
              </a:defRPr>
            </a:pPr>
            <a:r>
              <a:t>•  100% credited against Starter Crate</a:t>
            </a:r>
          </a:p>
        </p:txBody>
      </p:sp>
      <p:sp>
        <p:nvSpPr>
          <p:cNvPr id="8" name="Rounded Rectangle 7"/>
          <p:cNvSpPr/>
          <p:nvPr/>
        </p:nvSpPr>
        <p:spPr>
          <a:xfrm>
            <a:off x="6217920" y="1828800"/>
            <a:ext cx="2487168" cy="292608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37376" y="2029968"/>
            <a:ext cx="2048256" cy="2523744"/>
          </a:xfrm>
          <a:prstGeom prst="rect">
            <a:avLst/>
          </a:prstGeom>
          <a:noFill/>
        </p:spPr>
        <p:txBody>
          <a:bodyPr wrap="square" lIns="0" tIns="0" rIns="0" bIns="0">
            <a:spAutoFit/>
          </a:bodyPr>
          <a:lstStyle/>
          <a:p>
            <a:pPr>
              <a:spcAft>
                <a:spcPts val="400"/>
              </a:spcAft>
              <a:defRPr sz="1100" b="1">
                <a:solidFill>
                  <a:srgbClr val="444C32"/>
                </a:solidFill>
                <a:latin typeface="Calibri"/>
              </a:defRPr>
            </a:pPr>
            <a:r>
              <a:t>STAGE 03</a:t>
            </a:r>
          </a:p>
          <a:p>
            <a:pPr>
              <a:spcAft>
                <a:spcPts val="800"/>
              </a:spcAft>
              <a:defRPr sz="1600" b="1">
                <a:solidFill>
                  <a:srgbClr val="181916"/>
                </a:solidFill>
                <a:latin typeface="Georgia"/>
              </a:defRPr>
            </a:pPr>
            <a:r>
              <a:t>Starter Crate</a:t>
            </a:r>
          </a:p>
          <a:p>
            <a:pPr>
              <a:spcAft>
                <a:spcPts val="500"/>
              </a:spcAft>
              <a:defRPr sz="1100">
                <a:solidFill>
                  <a:srgbClr val="5C5950"/>
                </a:solidFill>
                <a:latin typeface="Calibri"/>
              </a:defRPr>
            </a:pPr>
            <a:r>
              <a:t>•  €249 Starter Crate deployed</a:t>
            </a:r>
          </a:p>
          <a:p>
            <a:pPr>
              <a:spcAft>
                <a:spcPts val="500"/>
              </a:spcAft>
              <a:defRPr sz="1100">
                <a:solidFill>
                  <a:srgbClr val="5C5950"/>
                </a:solidFill>
                <a:latin typeface="Calibri"/>
              </a:defRPr>
            </a:pPr>
            <a:r>
              <a:t>•  Turnkey counter Teebar installed</a:t>
            </a:r>
          </a:p>
          <a:p>
            <a:pPr>
              <a:spcAft>
                <a:spcPts val="500"/>
              </a:spcAft>
              <a:defRPr sz="1100">
                <a:solidFill>
                  <a:srgbClr val="5C5950"/>
                </a:solidFill>
                <a:latin typeface="Calibri"/>
              </a:defRPr>
            </a:pPr>
            <a:r>
              <a:t>•  Barista brewing cheat sheets automated</a:t>
            </a:r>
          </a:p>
        </p:txBody>
      </p:sp>
      <p:sp>
        <p:nvSpPr>
          <p:cNvPr id="10" name="Rounded Rectangle 9"/>
          <p:cNvSpPr/>
          <p:nvPr/>
        </p:nvSpPr>
        <p:spPr>
          <a:xfrm>
            <a:off x="8961120" y="1828800"/>
            <a:ext cx="2487168" cy="292608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80576" y="2029968"/>
            <a:ext cx="2048256" cy="2523744"/>
          </a:xfrm>
          <a:prstGeom prst="rect">
            <a:avLst/>
          </a:prstGeom>
          <a:noFill/>
        </p:spPr>
        <p:txBody>
          <a:bodyPr wrap="square" lIns="0" tIns="0" rIns="0" bIns="0">
            <a:spAutoFit/>
          </a:bodyPr>
          <a:lstStyle/>
          <a:p>
            <a:pPr>
              <a:spcAft>
                <a:spcPts val="400"/>
              </a:spcAft>
              <a:defRPr sz="1100" b="1">
                <a:solidFill>
                  <a:srgbClr val="444C32"/>
                </a:solidFill>
                <a:latin typeface="Calibri"/>
              </a:defRPr>
            </a:pPr>
            <a:r>
              <a:t>STAGE 04</a:t>
            </a:r>
          </a:p>
          <a:p>
            <a:pPr>
              <a:spcAft>
                <a:spcPts val="800"/>
              </a:spcAft>
              <a:defRPr sz="1600" b="1">
                <a:solidFill>
                  <a:srgbClr val="181916"/>
                </a:solidFill>
                <a:latin typeface="Georgia"/>
              </a:defRPr>
            </a:pPr>
            <a:r>
              <a:t>Predictive Refills</a:t>
            </a:r>
          </a:p>
          <a:p>
            <a:pPr>
              <a:spcAft>
                <a:spcPts val="500"/>
              </a:spcAft>
              <a:defRPr sz="1100">
                <a:solidFill>
                  <a:srgbClr val="5C5950"/>
                </a:solidFill>
                <a:latin typeface="Calibri"/>
              </a:defRPr>
            </a:pPr>
            <a:r>
              <a:t>•  Day-25 consumption alerts</a:t>
            </a:r>
          </a:p>
          <a:p>
            <a:pPr>
              <a:spcAft>
                <a:spcPts val="500"/>
              </a:spcAft>
              <a:defRPr sz="1100">
                <a:solidFill>
                  <a:srgbClr val="5C5950"/>
                </a:solidFill>
                <a:latin typeface="Calibri"/>
              </a:defRPr>
            </a:pPr>
            <a:r>
              <a:t>•  1-click WhatsApp reorders</a:t>
            </a:r>
          </a:p>
          <a:p>
            <a:pPr>
              <a:spcAft>
                <a:spcPts val="500"/>
              </a:spcAft>
              <a:defRPr sz="1100">
                <a:solidFill>
                  <a:srgbClr val="5C5950"/>
                </a:solidFill>
                <a:latin typeface="Calibri"/>
              </a:defRPr>
            </a:pPr>
            <a:r>
              <a:t>•  Automated Dolibarr PDF invoicing</a:t>
            </a:r>
          </a:p>
        </p:txBody>
      </p:sp>
      <p:sp>
        <p:nvSpPr>
          <p:cNvPr id="12" name="Rounded Rectangle 11"/>
          <p:cNvSpPr/>
          <p:nvPr/>
        </p:nvSpPr>
        <p:spPr>
          <a:xfrm>
            <a:off x="731520" y="4937760"/>
            <a:ext cx="10728655" cy="1280160"/>
          </a:xfrm>
          <a:prstGeom prst="roundRect">
            <a:avLst/>
          </a:prstGeom>
          <a:solidFill>
            <a:srgbClr val="F3EFE6"/>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029200"/>
            <a:ext cx="10362895" cy="1097280"/>
          </a:xfrm>
          <a:prstGeom prst="rect">
            <a:avLst/>
          </a:prstGeom>
          <a:noFill/>
        </p:spPr>
        <p:txBody>
          <a:bodyPr wrap="square">
            <a:spAutoFit/>
          </a:bodyPr>
          <a:lstStyle/>
          <a:p>
            <a:pPr>
              <a:defRPr sz="1100" b="1">
                <a:solidFill>
                  <a:srgbClr val="444C32"/>
                </a:solidFill>
                <a:latin typeface="Calibri"/>
              </a:defRPr>
            </a:pPr>
            <a:r>
              <a:t>THE AUTONOMOUS FEEDBACK LOOP // WHAT MAKES IT FLYWHEEL</a:t>
            </a:r>
          </a:p>
          <a:p>
            <a:pPr>
              <a:defRPr sz="1200">
                <a:solidFill>
                  <a:srgbClr val="181916"/>
                </a:solidFill>
                <a:latin typeface="Calibri"/>
              </a:defRPr>
            </a:pPr>
            <a:r>
              <a:t>Actual cafe replenishment rates feed back into the Ads Agent. If brunch cafes in Munich reorder Earl Grey 2x faster than average, the system automatically writes new ad copy, allocates budget to Munich brunch clusters, and tests new creative hypotheses without human intervention.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731520" y="365760"/>
            <a:ext cx="10728655" cy="1280160"/>
          </a:xfrm>
          <a:prstGeom prst="rect">
            <a:avLst/>
          </a:prstGeom>
          <a:noFill/>
        </p:spPr>
        <p:txBody>
          <a:bodyPr wrap="square" lIns="0" tIns="0" rIns="0" bIns="0">
            <a:spAutoFit/>
          </a:bodyPr>
          <a:lstStyle/>
          <a:p>
            <a:pPr>
              <a:spcAft>
                <a:spcPts val="400"/>
              </a:spcAft>
              <a:defRPr sz="1150" b="1">
                <a:solidFill>
                  <a:srgbClr val="444C32"/>
                </a:solidFill>
                <a:latin typeface="Calibri"/>
              </a:defRPr>
            </a:pPr>
            <a:r>
              <a:t>12 // SYSTEM DESIGN BENCHMARK</a:t>
            </a:r>
          </a:p>
          <a:p>
            <a:pPr>
              <a:spcAft>
                <a:spcPts val="400"/>
              </a:spcAft>
              <a:defRPr sz="2800" b="1">
                <a:solidFill>
                  <a:srgbClr val="181916"/>
                </a:solidFill>
                <a:latin typeface="Georgia"/>
              </a:defRPr>
            </a:pPr>
            <a:r>
              <a:t>Master Architectural Comparison Matrix</a:t>
            </a:r>
          </a:p>
          <a:p>
            <a:pPr>
              <a:defRPr sz="1350">
                <a:solidFill>
                  <a:srgbClr val="5C5950"/>
                </a:solidFill>
                <a:latin typeface="Calibri"/>
              </a:defRPr>
            </a:pPr>
            <a:r>
              <a:t>Clear component separation across tiers: Customer capability scales without unnecessary infrastructure bloat.</a:t>
            </a:r>
          </a:p>
        </p:txBody>
      </p:sp>
      <p:sp>
        <p:nvSpPr>
          <p:cNvPr id="3" name="TextBox 2"/>
          <p:cNvSpPr txBox="1"/>
          <p:nvPr/>
        </p:nvSpPr>
        <p:spPr>
          <a:xfrm>
            <a:off x="731520" y="6400800"/>
            <a:ext cx="10728655" cy="320040"/>
          </a:xfrm>
          <a:prstGeom prst="rect">
            <a:avLst/>
          </a:prstGeom>
          <a:noFill/>
        </p:spPr>
        <p:txBody>
          <a:bodyPr wrap="none" lIns="0" tIns="0" rIns="0" bIns="0">
            <a:spAutoFit/>
          </a:bodyPr>
          <a:lstStyle/>
          <a:p>
            <a:pPr>
              <a:defRPr sz="950" b="1">
                <a:solidFill>
                  <a:srgbClr val="5C5950"/>
                </a:solidFill>
                <a:latin typeface="Calibri"/>
              </a:defRPr>
            </a:pPr>
            <a:r>
              <a:t>ALANDAS TEA BERLIN  •  TIERED REVENUE ARCHITECTURE  |  SLIDE 13 OF 19</a:t>
            </a:r>
          </a:p>
        </p:txBody>
      </p:sp>
      <p:sp>
        <p:nvSpPr>
          <p:cNvPr id="4" name="Rounded Rectangle 3"/>
          <p:cNvSpPr/>
          <p:nvPr/>
        </p:nvSpPr>
        <p:spPr>
          <a:xfrm>
            <a:off x="731520" y="1828800"/>
            <a:ext cx="3383280"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029968"/>
            <a:ext cx="2944368" cy="3986784"/>
          </a:xfrm>
          <a:prstGeom prst="rect">
            <a:avLst/>
          </a:prstGeom>
          <a:noFill/>
        </p:spPr>
        <p:txBody>
          <a:bodyPr wrap="square" lIns="0" tIns="0" rIns="0" bIns="0">
            <a:spAutoFit/>
          </a:bodyPr>
          <a:lstStyle/>
          <a:p>
            <a:pPr>
              <a:spcAft>
                <a:spcPts val="400"/>
              </a:spcAft>
              <a:defRPr sz="1100" b="1">
                <a:solidFill>
                  <a:srgbClr val="444C32"/>
                </a:solidFill>
                <a:latin typeface="Calibri"/>
              </a:defRPr>
            </a:pPr>
            <a:r>
              <a:t>TIER 1 // ESSENTIAL</a:t>
            </a:r>
          </a:p>
          <a:p>
            <a:pPr>
              <a:spcAft>
                <a:spcPts val="800"/>
              </a:spcAft>
              <a:defRPr sz="1700" b="1">
                <a:solidFill>
                  <a:srgbClr val="181916"/>
                </a:solidFill>
                <a:latin typeface="Georgia"/>
              </a:defRPr>
            </a:pPr>
            <a:r>
              <a:t>Durable Automation</a:t>
            </a:r>
          </a:p>
          <a:p>
            <a:pPr>
              <a:spcAft>
                <a:spcPts val="500"/>
              </a:spcAft>
              <a:defRPr sz="1150">
                <a:solidFill>
                  <a:srgbClr val="5C5950"/>
                </a:solidFill>
                <a:latin typeface="Calibri"/>
              </a:defRPr>
            </a:pPr>
            <a:r>
              <a:t>•  Runtime: Temporal + Python/TS</a:t>
            </a:r>
          </a:p>
          <a:p>
            <a:pPr>
              <a:spcAft>
                <a:spcPts val="500"/>
              </a:spcAft>
              <a:defRPr sz="1150">
                <a:solidFill>
                  <a:srgbClr val="5C5950"/>
                </a:solidFill>
                <a:latin typeface="Calibri"/>
              </a:defRPr>
            </a:pPr>
            <a:r>
              <a:t>•  Orchestration: Temporal Workflows</a:t>
            </a:r>
          </a:p>
          <a:p>
            <a:pPr>
              <a:spcAft>
                <a:spcPts val="500"/>
              </a:spcAft>
              <a:defRPr sz="1150">
                <a:solidFill>
                  <a:srgbClr val="5C5950"/>
                </a:solidFill>
                <a:latin typeface="Calibri"/>
              </a:defRPr>
            </a:pPr>
            <a:r>
              <a:t>•  Intelligence: Direct LLM API</a:t>
            </a:r>
          </a:p>
          <a:p>
            <a:pPr>
              <a:spcAft>
                <a:spcPts val="500"/>
              </a:spcAft>
              <a:defRPr sz="1150">
                <a:solidFill>
                  <a:srgbClr val="5C5950"/>
                </a:solidFill>
                <a:latin typeface="Calibri"/>
              </a:defRPr>
            </a:pPr>
            <a:r>
              <a:t>•  Safety: Human Approval Gate</a:t>
            </a:r>
          </a:p>
          <a:p>
            <a:pPr>
              <a:spcAft>
                <a:spcPts val="500"/>
              </a:spcAft>
              <a:defRPr sz="1150">
                <a:solidFill>
                  <a:srgbClr val="5C5950"/>
                </a:solidFill>
                <a:latin typeface="Calibri"/>
              </a:defRPr>
            </a:pPr>
            <a:r>
              <a:t>•  Integrations: Direct REST APIs</a:t>
            </a:r>
          </a:p>
          <a:p>
            <a:pPr>
              <a:spcAft>
                <a:spcPts val="500"/>
              </a:spcAft>
              <a:defRPr sz="1150">
                <a:solidFill>
                  <a:srgbClr val="5C5950"/>
                </a:solidFill>
                <a:latin typeface="Calibri"/>
              </a:defRPr>
            </a:pPr>
            <a:r>
              <a:t>•  Database: PostgreSQL Core</a:t>
            </a:r>
          </a:p>
          <a:p>
            <a:pPr>
              <a:spcAft>
                <a:spcPts val="500"/>
              </a:spcAft>
              <a:defRPr sz="1150">
                <a:solidFill>
                  <a:srgbClr val="5C5950"/>
                </a:solidFill>
                <a:latin typeface="Calibri"/>
              </a:defRPr>
            </a:pPr>
            <a:r>
              <a:t>•  Caching / Bus: None (Zero Bloat)</a:t>
            </a:r>
          </a:p>
          <a:p>
            <a:pPr>
              <a:spcAft>
                <a:spcPts val="500"/>
              </a:spcAft>
              <a:defRPr sz="1150">
                <a:solidFill>
                  <a:srgbClr val="5C5950"/>
                </a:solidFill>
                <a:latin typeface="Calibri"/>
              </a:defRPr>
            </a:pPr>
            <a:r>
              <a:t>•  Audit: PostgreSQL Ledgers</a:t>
            </a:r>
          </a:p>
          <a:p>
            <a:pPr>
              <a:spcAft>
                <a:spcPts val="500"/>
              </a:spcAft>
              <a:defRPr sz="1150">
                <a:solidFill>
                  <a:srgbClr val="5C5950"/>
                </a:solidFill>
                <a:latin typeface="Calibri"/>
              </a:defRPr>
            </a:pPr>
            <a:r>
              <a:t>•  Commercial Value: Saves 15h/week</a:t>
            </a:r>
          </a:p>
        </p:txBody>
      </p:sp>
      <p:sp>
        <p:nvSpPr>
          <p:cNvPr id="6" name="Rounded Rectangle 5"/>
          <p:cNvSpPr/>
          <p:nvPr/>
        </p:nvSpPr>
        <p:spPr>
          <a:xfrm>
            <a:off x="4389120" y="1828800"/>
            <a:ext cx="3383280"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2029968"/>
            <a:ext cx="2944368" cy="3986784"/>
          </a:xfrm>
          <a:prstGeom prst="rect">
            <a:avLst/>
          </a:prstGeom>
          <a:noFill/>
        </p:spPr>
        <p:txBody>
          <a:bodyPr wrap="square" lIns="0" tIns="0" rIns="0" bIns="0">
            <a:spAutoFit/>
          </a:bodyPr>
          <a:lstStyle/>
          <a:p>
            <a:pPr>
              <a:spcAft>
                <a:spcPts val="400"/>
              </a:spcAft>
              <a:defRPr sz="1100" b="1">
                <a:solidFill>
                  <a:srgbClr val="C48737"/>
                </a:solidFill>
                <a:latin typeface="Calibri"/>
              </a:defRPr>
            </a:pPr>
            <a:r>
              <a:t>TIER 2 // PROFESSIONAL</a:t>
            </a:r>
          </a:p>
          <a:p>
            <a:pPr>
              <a:spcAft>
                <a:spcPts val="800"/>
              </a:spcAft>
              <a:defRPr sz="1700" b="1">
                <a:solidFill>
                  <a:srgbClr val="181916"/>
                </a:solidFill>
                <a:latin typeface="Georgia"/>
              </a:defRPr>
            </a:pPr>
            <a:r>
              <a:t>Governed Intelligence</a:t>
            </a:r>
          </a:p>
          <a:p>
            <a:pPr>
              <a:spcAft>
                <a:spcPts val="500"/>
              </a:spcAft>
              <a:defRPr sz="1150">
                <a:solidFill>
                  <a:srgbClr val="5C5950"/>
                </a:solidFill>
                <a:latin typeface="Calibri"/>
              </a:defRPr>
            </a:pPr>
            <a:r>
              <a:t>•  Runtime: Temporal Runtime</a:t>
            </a:r>
          </a:p>
          <a:p>
            <a:pPr>
              <a:spcAft>
                <a:spcPts val="500"/>
              </a:spcAft>
              <a:defRPr sz="1150">
                <a:solidFill>
                  <a:srgbClr val="5C5950"/>
                </a:solidFill>
                <a:latin typeface="Calibri"/>
              </a:defRPr>
            </a:pPr>
            <a:r>
              <a:t>•  Orchestration: Temporal + Selective LangGraph</a:t>
            </a:r>
          </a:p>
          <a:p>
            <a:pPr>
              <a:spcAft>
                <a:spcPts val="500"/>
              </a:spcAft>
              <a:defRPr sz="1150">
                <a:solidFill>
                  <a:srgbClr val="5C5950"/>
                </a:solidFill>
                <a:latin typeface="Calibri"/>
              </a:defRPr>
            </a:pPr>
            <a:r>
              <a:t>•  Intelligence: Policy Engines + Schemas</a:t>
            </a:r>
          </a:p>
          <a:p>
            <a:pPr>
              <a:spcAft>
                <a:spcPts val="500"/>
              </a:spcAft>
              <a:defRPr sz="1150">
                <a:solidFill>
                  <a:srgbClr val="5C5950"/>
                </a:solidFill>
                <a:latin typeface="Calibri"/>
              </a:defRPr>
            </a:pPr>
            <a:r>
              <a:t>•  Safety: Decision Contracts + Human Gate</a:t>
            </a:r>
          </a:p>
          <a:p>
            <a:pPr>
              <a:spcAft>
                <a:spcPts val="500"/>
              </a:spcAft>
              <a:defRPr sz="1150">
                <a:solidFill>
                  <a:srgbClr val="5C5950"/>
                </a:solidFill>
                <a:latin typeface="Calibri"/>
              </a:defRPr>
            </a:pPr>
            <a:r>
              <a:t>•  Integrations: Direct APIs + Verifiers</a:t>
            </a:r>
          </a:p>
          <a:p>
            <a:pPr>
              <a:spcAft>
                <a:spcPts val="500"/>
              </a:spcAft>
              <a:defRPr sz="1150">
                <a:solidFill>
                  <a:srgbClr val="5C5950"/>
                </a:solidFill>
                <a:latin typeface="Calibri"/>
              </a:defRPr>
            </a:pPr>
            <a:r>
              <a:t>•  Database: PostgreSQL + Audit Store</a:t>
            </a:r>
          </a:p>
          <a:p>
            <a:pPr>
              <a:spcAft>
                <a:spcPts val="500"/>
              </a:spcAft>
              <a:defRPr sz="1150">
                <a:solidFill>
                  <a:srgbClr val="5C5950"/>
                </a:solidFill>
                <a:latin typeface="Calibri"/>
              </a:defRPr>
            </a:pPr>
            <a:r>
              <a:t>•  Caching / Bus: None needed at this scale</a:t>
            </a:r>
          </a:p>
          <a:p>
            <a:pPr>
              <a:spcAft>
                <a:spcPts val="500"/>
              </a:spcAft>
              <a:defRPr sz="1150">
                <a:solidFill>
                  <a:srgbClr val="5C5950"/>
                </a:solidFill>
                <a:latin typeface="Calibri"/>
              </a:defRPr>
            </a:pPr>
            <a:r>
              <a:t>•  Audit: OpenTelemetry Traces</a:t>
            </a:r>
          </a:p>
          <a:p>
            <a:pPr>
              <a:spcAft>
                <a:spcPts val="500"/>
              </a:spcAft>
              <a:defRPr sz="1150">
                <a:solidFill>
                  <a:srgbClr val="5C5950"/>
                </a:solidFill>
                <a:latin typeface="Calibri"/>
              </a:defRPr>
            </a:pPr>
            <a:r>
              <a:t>•  Commercial Value: Churn prevention</a:t>
            </a:r>
          </a:p>
        </p:txBody>
      </p:sp>
      <p:sp>
        <p:nvSpPr>
          <p:cNvPr id="8" name="Rounded Rectangle 7"/>
          <p:cNvSpPr/>
          <p:nvPr/>
        </p:nvSpPr>
        <p:spPr>
          <a:xfrm>
            <a:off x="8046720" y="1828800"/>
            <a:ext cx="3383280"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66176" y="2029968"/>
            <a:ext cx="2944368" cy="3986784"/>
          </a:xfrm>
          <a:prstGeom prst="rect">
            <a:avLst/>
          </a:prstGeom>
          <a:noFill/>
        </p:spPr>
        <p:txBody>
          <a:bodyPr wrap="square" lIns="0" tIns="0" rIns="0" bIns="0">
            <a:spAutoFit/>
          </a:bodyPr>
          <a:lstStyle/>
          <a:p>
            <a:pPr>
              <a:spcAft>
                <a:spcPts val="400"/>
              </a:spcAft>
              <a:defRPr sz="1100" b="1">
                <a:solidFill>
                  <a:srgbClr val="2F5339"/>
                </a:solidFill>
                <a:latin typeface="Calibri"/>
              </a:defRPr>
            </a:pPr>
            <a:r>
              <a:t>TIER 3 // AUTONOMOUS</a:t>
            </a:r>
          </a:p>
          <a:p>
            <a:pPr>
              <a:spcAft>
                <a:spcPts val="800"/>
              </a:spcAft>
              <a:defRPr sz="1700" b="1">
                <a:solidFill>
                  <a:srgbClr val="181916"/>
                </a:solidFill>
                <a:latin typeface="Georgia"/>
              </a:defRPr>
            </a:pPr>
            <a:r>
              <a:t>Autonomous Platform</a:t>
            </a:r>
          </a:p>
          <a:p>
            <a:pPr>
              <a:spcAft>
                <a:spcPts val="500"/>
              </a:spcAft>
              <a:defRPr sz="1150">
                <a:solidFill>
                  <a:srgbClr val="5C5950"/>
                </a:solidFill>
                <a:latin typeface="Calibri"/>
              </a:defRPr>
            </a:pPr>
            <a:r>
              <a:t>•  Runtime: Temporal Platform</a:t>
            </a:r>
          </a:p>
          <a:p>
            <a:pPr>
              <a:spcAft>
                <a:spcPts val="500"/>
              </a:spcAft>
              <a:defRPr sz="1150">
                <a:solidFill>
                  <a:srgbClr val="5C5950"/>
                </a:solidFill>
                <a:latin typeface="Calibri"/>
              </a:defRPr>
            </a:pPr>
            <a:r>
              <a:t>•  Orchestration: Domain Agents + Temporal</a:t>
            </a:r>
          </a:p>
          <a:p>
            <a:pPr>
              <a:spcAft>
                <a:spcPts val="500"/>
              </a:spcAft>
              <a:defRPr sz="1150">
                <a:solidFill>
                  <a:srgbClr val="5C5950"/>
                </a:solidFill>
                <a:latin typeface="Calibri"/>
              </a:defRPr>
            </a:pPr>
            <a:r>
              <a:t>•  Intelligence: Enterprise RAG + Learning</a:t>
            </a:r>
          </a:p>
          <a:p>
            <a:pPr>
              <a:spcAft>
                <a:spcPts val="500"/>
              </a:spcAft>
              <a:defRPr sz="1150">
                <a:solidFill>
                  <a:srgbClr val="5C5950"/>
                </a:solidFill>
                <a:latin typeface="Calibri"/>
              </a:defRPr>
            </a:pPr>
            <a:r>
              <a:t>•  Safety: Automated Circuit Breakers</a:t>
            </a:r>
          </a:p>
          <a:p>
            <a:pPr>
              <a:spcAft>
                <a:spcPts val="500"/>
              </a:spcAft>
              <a:defRPr sz="1150">
                <a:solidFill>
                  <a:srgbClr val="5C5950"/>
                </a:solidFill>
                <a:latin typeface="Calibri"/>
              </a:defRPr>
            </a:pPr>
            <a:r>
              <a:t>•  Integrations: Model Context Protocol (MCP)</a:t>
            </a:r>
          </a:p>
          <a:p>
            <a:pPr>
              <a:spcAft>
                <a:spcPts val="500"/>
              </a:spcAft>
              <a:defRPr sz="1150">
                <a:solidFill>
                  <a:srgbClr val="5C5950"/>
                </a:solidFill>
                <a:latin typeface="Calibri"/>
              </a:defRPr>
            </a:pPr>
            <a:r>
              <a:t>•  Database: PostgreSQL + Shared State Graph</a:t>
            </a:r>
          </a:p>
          <a:p>
            <a:pPr>
              <a:spcAft>
                <a:spcPts val="500"/>
              </a:spcAft>
              <a:defRPr sz="1150">
                <a:solidFill>
                  <a:srgbClr val="5C5950"/>
                </a:solidFill>
                <a:latin typeface="Calibri"/>
              </a:defRPr>
            </a:pPr>
            <a:r>
              <a:t>•  Caching / Bus: Event PubSub Layer</a:t>
            </a:r>
          </a:p>
          <a:p>
            <a:pPr>
              <a:spcAft>
                <a:spcPts val="500"/>
              </a:spcAft>
              <a:defRPr sz="1150">
                <a:solidFill>
                  <a:srgbClr val="5C5950"/>
                </a:solidFill>
                <a:latin typeface="Calibri"/>
              </a:defRPr>
            </a:pPr>
            <a:r>
              <a:t>•  Audit: Comprehensive System Telemetry</a:t>
            </a:r>
          </a:p>
          <a:p>
            <a:pPr>
              <a:spcAft>
                <a:spcPts val="500"/>
              </a:spcAft>
              <a:defRPr sz="1150">
                <a:solidFill>
                  <a:srgbClr val="5C5950"/>
                </a:solidFill>
                <a:latin typeface="Calibri"/>
              </a:defRPr>
            </a:pPr>
            <a:r>
              <a:t>•  Commercial Value: Enterprise autonomy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731520" y="365760"/>
            <a:ext cx="10728655" cy="1280160"/>
          </a:xfrm>
          <a:prstGeom prst="rect">
            <a:avLst/>
          </a:prstGeom>
          <a:noFill/>
        </p:spPr>
        <p:txBody>
          <a:bodyPr wrap="square" lIns="0" tIns="0" rIns="0" bIns="0">
            <a:spAutoFit/>
          </a:bodyPr>
          <a:lstStyle/>
          <a:p>
            <a:pPr>
              <a:spcAft>
                <a:spcPts val="400"/>
              </a:spcAft>
              <a:defRPr sz="1150" b="1">
                <a:solidFill>
                  <a:srgbClr val="444C32"/>
                </a:solidFill>
                <a:latin typeface="Calibri"/>
              </a:defRPr>
            </a:pPr>
            <a:r>
              <a:t>13 // OPERATIONAL GOVERNANCE</a:t>
            </a:r>
          </a:p>
          <a:p>
            <a:pPr>
              <a:spcAft>
                <a:spcPts val="400"/>
              </a:spcAft>
              <a:defRPr sz="2800" b="1">
                <a:solidFill>
                  <a:srgbClr val="181916"/>
                </a:solidFill>
                <a:latin typeface="Georgia"/>
              </a:defRPr>
            </a:pPr>
            <a:r>
              <a:t>The Autonomy Spectrum &amp; Blast Radius Containment</a:t>
            </a:r>
          </a:p>
          <a:p>
            <a:pPr>
              <a:defRPr sz="1350">
                <a:solidFill>
                  <a:srgbClr val="5C5950"/>
                </a:solidFill>
                <a:latin typeface="Calibri"/>
              </a:defRPr>
            </a:pPr>
            <a:r>
              <a:t>The difference between tiers is not merely more code. It is the structured management of risk and blast radius across the business.</a:t>
            </a:r>
          </a:p>
        </p:txBody>
      </p:sp>
      <p:sp>
        <p:nvSpPr>
          <p:cNvPr id="3" name="TextBox 2"/>
          <p:cNvSpPr txBox="1"/>
          <p:nvPr/>
        </p:nvSpPr>
        <p:spPr>
          <a:xfrm>
            <a:off x="731520" y="6400800"/>
            <a:ext cx="10728655" cy="320040"/>
          </a:xfrm>
          <a:prstGeom prst="rect">
            <a:avLst/>
          </a:prstGeom>
          <a:noFill/>
        </p:spPr>
        <p:txBody>
          <a:bodyPr wrap="none" lIns="0" tIns="0" rIns="0" bIns="0">
            <a:spAutoFit/>
          </a:bodyPr>
          <a:lstStyle/>
          <a:p>
            <a:pPr>
              <a:defRPr sz="950" b="1">
                <a:solidFill>
                  <a:srgbClr val="5C5950"/>
                </a:solidFill>
                <a:latin typeface="Calibri"/>
              </a:defRPr>
            </a:pPr>
            <a:r>
              <a:t>ALANDAS TEA BERLIN  •  TIERED REVENUE ARCHITECTURE  |  SLIDE 14 OF 19</a:t>
            </a:r>
          </a:p>
        </p:txBody>
      </p:sp>
      <p:sp>
        <p:nvSpPr>
          <p:cNvPr id="4" name="Rounded Rectangle 3"/>
          <p:cNvSpPr/>
          <p:nvPr/>
        </p:nvSpPr>
        <p:spPr>
          <a:xfrm>
            <a:off x="731520" y="1828800"/>
            <a:ext cx="3383280"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029968"/>
            <a:ext cx="2944368" cy="3986784"/>
          </a:xfrm>
          <a:prstGeom prst="rect">
            <a:avLst/>
          </a:prstGeom>
          <a:noFill/>
        </p:spPr>
        <p:txBody>
          <a:bodyPr wrap="square" lIns="0" tIns="0" rIns="0" bIns="0">
            <a:spAutoFit/>
          </a:bodyPr>
          <a:lstStyle/>
          <a:p>
            <a:pPr>
              <a:spcAft>
                <a:spcPts val="400"/>
              </a:spcAft>
              <a:defRPr sz="1100" b="1">
                <a:solidFill>
                  <a:srgbClr val="444C32"/>
                </a:solidFill>
                <a:latin typeface="Calibri"/>
              </a:defRPr>
            </a:pPr>
            <a:r>
              <a:t>TIER 1 // ZERO BLAST RADIUS</a:t>
            </a:r>
          </a:p>
          <a:p>
            <a:pPr>
              <a:spcAft>
                <a:spcPts val="800"/>
              </a:spcAft>
              <a:defRPr sz="1700" b="1">
                <a:solidFill>
                  <a:srgbClr val="181916"/>
                </a:solidFill>
                <a:latin typeface="Georgia"/>
              </a:defRPr>
            </a:pPr>
            <a:r>
              <a:t>Human-Directed</a:t>
            </a:r>
          </a:p>
          <a:p>
            <a:pPr>
              <a:spcAft>
                <a:spcPts val="500"/>
              </a:spcAft>
              <a:defRPr sz="1200">
                <a:solidFill>
                  <a:srgbClr val="5C5950"/>
                </a:solidFill>
                <a:latin typeface="Calibri"/>
              </a:defRPr>
            </a:pPr>
            <a:r>
              <a:t>•  Machine only reads public data &amp; gathers facts.</a:t>
            </a:r>
          </a:p>
          <a:p>
            <a:pPr>
              <a:spcAft>
                <a:spcPts val="500"/>
              </a:spcAft>
              <a:defRPr sz="1200">
                <a:solidFill>
                  <a:srgbClr val="5C5950"/>
                </a:solidFill>
                <a:latin typeface="Calibri"/>
              </a:defRPr>
            </a:pPr>
            <a:r>
              <a:t>•  Every prospect message, sample box dispatch, and proposal requires human click.</a:t>
            </a:r>
          </a:p>
          <a:p>
            <a:pPr>
              <a:spcAft>
                <a:spcPts val="500"/>
              </a:spcAft>
              <a:defRPr sz="1200">
                <a:solidFill>
                  <a:srgbClr val="5C5950"/>
                </a:solidFill>
                <a:latin typeface="Calibri"/>
              </a:defRPr>
            </a:pPr>
            <a:r>
              <a:t>•  Zero risk of bot hallucinating botanical claims or unauthorized pricing.</a:t>
            </a:r>
          </a:p>
          <a:p>
            <a:pPr>
              <a:spcAft>
                <a:spcPts val="500"/>
              </a:spcAft>
              <a:defRPr sz="1200">
                <a:solidFill>
                  <a:srgbClr val="5C5950"/>
                </a:solidFill>
                <a:latin typeface="Calibri"/>
              </a:defRPr>
            </a:pPr>
            <a:r>
              <a:t>•  Safe for early-stage founders and fragile brand trust.</a:t>
            </a:r>
          </a:p>
        </p:txBody>
      </p:sp>
      <p:sp>
        <p:nvSpPr>
          <p:cNvPr id="6" name="Rounded Rectangle 5"/>
          <p:cNvSpPr/>
          <p:nvPr/>
        </p:nvSpPr>
        <p:spPr>
          <a:xfrm>
            <a:off x="4389120" y="1828800"/>
            <a:ext cx="3383280"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08576" y="2029968"/>
            <a:ext cx="2944368" cy="3986784"/>
          </a:xfrm>
          <a:prstGeom prst="rect">
            <a:avLst/>
          </a:prstGeom>
          <a:noFill/>
        </p:spPr>
        <p:txBody>
          <a:bodyPr wrap="square" lIns="0" tIns="0" rIns="0" bIns="0">
            <a:spAutoFit/>
          </a:bodyPr>
          <a:lstStyle/>
          <a:p>
            <a:pPr>
              <a:spcAft>
                <a:spcPts val="400"/>
              </a:spcAft>
              <a:defRPr sz="1100" b="1">
                <a:solidFill>
                  <a:srgbClr val="C48737"/>
                </a:solidFill>
                <a:latin typeface="Calibri"/>
              </a:defRPr>
            </a:pPr>
            <a:r>
              <a:t>TIER 2 // STRICT BOUNDS</a:t>
            </a:r>
          </a:p>
          <a:p>
            <a:pPr>
              <a:spcAft>
                <a:spcPts val="800"/>
              </a:spcAft>
              <a:defRPr sz="1700" b="1">
                <a:solidFill>
                  <a:srgbClr val="181916"/>
                </a:solidFill>
                <a:latin typeface="Georgia"/>
              </a:defRPr>
            </a:pPr>
            <a:r>
              <a:t>Human-Governed</a:t>
            </a:r>
          </a:p>
          <a:p>
            <a:pPr>
              <a:spcAft>
                <a:spcPts val="500"/>
              </a:spcAft>
              <a:defRPr sz="1200">
                <a:solidFill>
                  <a:srgbClr val="5C5950"/>
                </a:solidFill>
                <a:latin typeface="Calibri"/>
              </a:defRPr>
            </a:pPr>
            <a:r>
              <a:t>•  Standard repetitive tasks execute autonomously (e.g. Day-20 refill check-in).</a:t>
            </a:r>
          </a:p>
          <a:p>
            <a:pPr>
              <a:spcAft>
                <a:spcPts val="500"/>
              </a:spcAft>
              <a:defRPr sz="1200">
                <a:solidFill>
                  <a:srgbClr val="5C5950"/>
                </a:solidFill>
                <a:latin typeface="Calibri"/>
              </a:defRPr>
            </a:pPr>
            <a:r>
              <a:t>•  High-risk actions (pricing, discounts, budget delta &gt; €5) trigger Decision Contracts.</a:t>
            </a:r>
          </a:p>
          <a:p>
            <a:pPr>
              <a:spcAft>
                <a:spcPts val="500"/>
              </a:spcAft>
              <a:defRPr sz="1200">
                <a:solidFill>
                  <a:srgbClr val="5C5950"/>
                </a:solidFill>
                <a:latin typeface="Calibri"/>
              </a:defRPr>
            </a:pPr>
            <a:r>
              <a:t>•  Human approval required for any action outside policy bounds.</a:t>
            </a:r>
          </a:p>
          <a:p>
            <a:pPr>
              <a:spcAft>
                <a:spcPts val="500"/>
              </a:spcAft>
              <a:defRPr sz="1200">
                <a:solidFill>
                  <a:srgbClr val="5C5950"/>
                </a:solidFill>
                <a:latin typeface="Calibri"/>
              </a:defRPr>
            </a:pPr>
            <a:r>
              <a:t>•  High leverage with guaranteed safety nets.</a:t>
            </a:r>
          </a:p>
        </p:txBody>
      </p:sp>
      <p:sp>
        <p:nvSpPr>
          <p:cNvPr id="8" name="Rounded Rectangle 7"/>
          <p:cNvSpPr/>
          <p:nvPr/>
        </p:nvSpPr>
        <p:spPr>
          <a:xfrm>
            <a:off x="8046720" y="1828800"/>
            <a:ext cx="3383280"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66176" y="2029968"/>
            <a:ext cx="2944368" cy="3986784"/>
          </a:xfrm>
          <a:prstGeom prst="rect">
            <a:avLst/>
          </a:prstGeom>
          <a:noFill/>
        </p:spPr>
        <p:txBody>
          <a:bodyPr wrap="square" lIns="0" tIns="0" rIns="0" bIns="0">
            <a:spAutoFit/>
          </a:bodyPr>
          <a:lstStyle/>
          <a:p>
            <a:pPr>
              <a:spcAft>
                <a:spcPts val="400"/>
              </a:spcAft>
              <a:defRPr sz="1100" b="1">
                <a:solidFill>
                  <a:srgbClr val="2F5339"/>
                </a:solidFill>
                <a:latin typeface="Calibri"/>
              </a:defRPr>
            </a:pPr>
            <a:r>
              <a:t>TIER 3 // MATHEMATICALLY BOUND</a:t>
            </a:r>
          </a:p>
          <a:p>
            <a:pPr>
              <a:spcAft>
                <a:spcPts val="800"/>
              </a:spcAft>
              <a:defRPr sz="1700" b="1">
                <a:solidFill>
                  <a:srgbClr val="181916"/>
                </a:solidFill>
                <a:latin typeface="Georgia"/>
              </a:defRPr>
            </a:pPr>
            <a:r>
              <a:t>Policy-Governed</a:t>
            </a:r>
          </a:p>
          <a:p>
            <a:pPr>
              <a:spcAft>
                <a:spcPts val="500"/>
              </a:spcAft>
              <a:defRPr sz="1200">
                <a:solidFill>
                  <a:srgbClr val="5C5950"/>
                </a:solidFill>
                <a:latin typeface="Calibri"/>
              </a:defRPr>
            </a:pPr>
            <a:r>
              <a:t>•  Machine autonomously shifts ad spend, rotates blends, and optimizes schedules.</a:t>
            </a:r>
          </a:p>
          <a:p>
            <a:pPr>
              <a:spcAft>
                <a:spcPts val="500"/>
              </a:spcAft>
              <a:defRPr sz="1200">
                <a:solidFill>
                  <a:srgbClr val="5C5950"/>
                </a:solidFill>
                <a:latin typeface="Calibri"/>
              </a:defRPr>
            </a:pPr>
            <a:r>
              <a:t>•  Protected by automated circuit breakers: any sudden metric spike halts system.</a:t>
            </a:r>
          </a:p>
          <a:p>
            <a:pPr>
              <a:spcAft>
                <a:spcPts val="500"/>
              </a:spcAft>
              <a:defRPr sz="1200">
                <a:solidFill>
                  <a:srgbClr val="5C5950"/>
                </a:solidFill>
                <a:latin typeface="Calibri"/>
              </a:defRPr>
            </a:pPr>
            <a:r>
              <a:t>•  Human executive acts as supervisor reviewing weekly performance digests.</a:t>
            </a:r>
          </a:p>
          <a:p>
            <a:pPr>
              <a:spcAft>
                <a:spcPts val="500"/>
              </a:spcAft>
              <a:defRPr sz="1200">
                <a:solidFill>
                  <a:srgbClr val="5C5950"/>
                </a:solidFill>
                <a:latin typeface="Calibri"/>
              </a:defRPr>
            </a:pPr>
            <a:r>
              <a:t>•  Massive operational scale with automated anomaly defense.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731520" y="365760"/>
            <a:ext cx="10728655" cy="1280160"/>
          </a:xfrm>
          <a:prstGeom prst="rect">
            <a:avLst/>
          </a:prstGeom>
          <a:noFill/>
        </p:spPr>
        <p:txBody>
          <a:bodyPr wrap="square" lIns="0" tIns="0" rIns="0" bIns="0">
            <a:spAutoFit/>
          </a:bodyPr>
          <a:lstStyle/>
          <a:p>
            <a:pPr>
              <a:spcAft>
                <a:spcPts val="400"/>
              </a:spcAft>
              <a:defRPr sz="1150" b="1">
                <a:solidFill>
                  <a:srgbClr val="444C32"/>
                </a:solidFill>
                <a:latin typeface="Calibri"/>
              </a:defRPr>
            </a:pPr>
            <a:r>
              <a:t>14 // OMNICHANNEL ACQUISITION</a:t>
            </a:r>
          </a:p>
          <a:p>
            <a:pPr>
              <a:spcAft>
                <a:spcPts val="400"/>
              </a:spcAft>
              <a:defRPr sz="2800" b="1">
                <a:solidFill>
                  <a:srgbClr val="181916"/>
                </a:solidFill>
                <a:latin typeface="Georgia"/>
              </a:defRPr>
            </a:pPr>
            <a:r>
              <a:t>Instagram as a First-Class Architecture Channel</a:t>
            </a:r>
          </a:p>
          <a:p>
            <a:pPr>
              <a:defRPr sz="1350">
                <a:solidFill>
                  <a:srgbClr val="5C5950"/>
                </a:solidFill>
                <a:latin typeface="Calibri"/>
              </a:defRPr>
            </a:pPr>
            <a:r>
              <a:t>Instagram is an essential acquisition channel and signal source across all three tiers — not an afterthought.</a:t>
            </a:r>
          </a:p>
        </p:txBody>
      </p:sp>
      <p:sp>
        <p:nvSpPr>
          <p:cNvPr id="3" name="TextBox 2"/>
          <p:cNvSpPr txBox="1"/>
          <p:nvPr/>
        </p:nvSpPr>
        <p:spPr>
          <a:xfrm>
            <a:off x="731520" y="6400800"/>
            <a:ext cx="10728655" cy="320040"/>
          </a:xfrm>
          <a:prstGeom prst="rect">
            <a:avLst/>
          </a:prstGeom>
          <a:noFill/>
        </p:spPr>
        <p:txBody>
          <a:bodyPr wrap="none" lIns="0" tIns="0" rIns="0" bIns="0">
            <a:spAutoFit/>
          </a:bodyPr>
          <a:lstStyle/>
          <a:p>
            <a:pPr>
              <a:defRPr sz="950" b="1">
                <a:solidFill>
                  <a:srgbClr val="5C5950"/>
                </a:solidFill>
                <a:latin typeface="Calibri"/>
              </a:defRPr>
            </a:pPr>
            <a:r>
              <a:t>ALANDAS TEA BERLIN  •  TIERED REVENUE ARCHITECTURE  |  SLIDE 15 OF 19</a:t>
            </a:r>
          </a:p>
        </p:txBody>
      </p:sp>
      <p:sp>
        <p:nvSpPr>
          <p:cNvPr id="4" name="Rounded Rectangle 3"/>
          <p:cNvSpPr/>
          <p:nvPr/>
        </p:nvSpPr>
        <p:spPr>
          <a:xfrm>
            <a:off x="731520" y="1828800"/>
            <a:ext cx="2487168"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029968"/>
            <a:ext cx="2048256" cy="3986784"/>
          </a:xfrm>
          <a:prstGeom prst="rect">
            <a:avLst/>
          </a:prstGeom>
          <a:noFill/>
        </p:spPr>
        <p:txBody>
          <a:bodyPr wrap="square" lIns="0" tIns="0" rIns="0" bIns="0">
            <a:spAutoFit/>
          </a:bodyPr>
          <a:lstStyle/>
          <a:p>
            <a:pPr>
              <a:spcAft>
                <a:spcPts val="400"/>
              </a:spcAft>
              <a:defRPr sz="1100" b="1">
                <a:solidFill>
                  <a:srgbClr val="444C32"/>
                </a:solidFill>
                <a:latin typeface="Calibri"/>
              </a:defRPr>
            </a:pPr>
            <a:r>
              <a:t>ROLE 01</a:t>
            </a:r>
          </a:p>
          <a:p>
            <a:pPr>
              <a:spcAft>
                <a:spcPts val="800"/>
              </a:spcAft>
              <a:defRPr sz="1700" b="1">
                <a:solidFill>
                  <a:srgbClr val="181916"/>
                </a:solidFill>
                <a:latin typeface="Georgia"/>
              </a:defRPr>
            </a:pPr>
            <a:r>
              <a:t>Outbound Prospecting</a:t>
            </a:r>
          </a:p>
          <a:p>
            <a:pPr>
              <a:spcAft>
                <a:spcPts val="500"/>
              </a:spcAft>
              <a:defRPr sz="1200">
                <a:solidFill>
                  <a:srgbClr val="5C5950"/>
                </a:solidFill>
                <a:latin typeface="Calibri"/>
              </a:defRPr>
            </a:pPr>
            <a:r>
              <a:t>•  Identifies specialty brunch cafes</a:t>
            </a:r>
          </a:p>
          <a:p>
            <a:pPr>
              <a:spcAft>
                <a:spcPts val="500"/>
              </a:spcAft>
              <a:defRPr sz="1200">
                <a:solidFill>
                  <a:srgbClr val="5C5950"/>
                </a:solidFill>
                <a:latin typeface="Calibri"/>
              </a:defRPr>
            </a:pPr>
            <a:r>
              <a:t>•  Analyzes feed interior aesthetic</a:t>
            </a:r>
          </a:p>
          <a:p>
            <a:pPr>
              <a:spcAft>
                <a:spcPts val="500"/>
              </a:spcAft>
              <a:defRPr sz="1200">
                <a:solidFill>
                  <a:srgbClr val="5C5950"/>
                </a:solidFill>
                <a:latin typeface="Calibri"/>
              </a:defRPr>
            </a:pPr>
            <a:r>
              <a:t>•  Pre-qualifies tea menu fit</a:t>
            </a:r>
          </a:p>
        </p:txBody>
      </p:sp>
      <p:sp>
        <p:nvSpPr>
          <p:cNvPr id="6" name="Rounded Rectangle 5"/>
          <p:cNvSpPr/>
          <p:nvPr/>
        </p:nvSpPr>
        <p:spPr>
          <a:xfrm>
            <a:off x="3474720" y="1828800"/>
            <a:ext cx="2487168"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94176" y="2029968"/>
            <a:ext cx="2048256" cy="3986784"/>
          </a:xfrm>
          <a:prstGeom prst="rect">
            <a:avLst/>
          </a:prstGeom>
          <a:noFill/>
        </p:spPr>
        <p:txBody>
          <a:bodyPr wrap="square" lIns="0" tIns="0" rIns="0" bIns="0">
            <a:spAutoFit/>
          </a:bodyPr>
          <a:lstStyle/>
          <a:p>
            <a:pPr>
              <a:spcAft>
                <a:spcPts val="400"/>
              </a:spcAft>
              <a:defRPr sz="1100" b="1">
                <a:solidFill>
                  <a:srgbClr val="C48737"/>
                </a:solidFill>
                <a:latin typeface="Calibri"/>
              </a:defRPr>
            </a:pPr>
            <a:r>
              <a:t>ROLE 02</a:t>
            </a:r>
          </a:p>
          <a:p>
            <a:pPr>
              <a:spcAft>
                <a:spcPts val="800"/>
              </a:spcAft>
              <a:defRPr sz="1700" b="1">
                <a:solidFill>
                  <a:srgbClr val="181916"/>
                </a:solidFill>
                <a:latin typeface="Georgia"/>
              </a:defRPr>
            </a:pPr>
            <a:r>
              <a:t>OpenReply Inbound</a:t>
            </a:r>
          </a:p>
          <a:p>
            <a:pPr>
              <a:spcAft>
                <a:spcPts val="500"/>
              </a:spcAft>
              <a:defRPr sz="1200">
                <a:solidFill>
                  <a:srgbClr val="5C5950"/>
                </a:solidFill>
                <a:latin typeface="Calibri"/>
              </a:defRPr>
            </a:pPr>
            <a:r>
              <a:t>•  Barista comments 'TEABAR' on reel</a:t>
            </a:r>
          </a:p>
          <a:p>
            <a:pPr>
              <a:spcAft>
                <a:spcPts val="500"/>
              </a:spcAft>
              <a:defRPr sz="1200">
                <a:solidFill>
                  <a:srgbClr val="5C5950"/>
                </a:solidFill>
                <a:latin typeface="Calibri"/>
              </a:defRPr>
            </a:pPr>
            <a:r>
              <a:t>•  Triggers instant qualification DM</a:t>
            </a:r>
          </a:p>
          <a:p>
            <a:pPr>
              <a:spcAft>
                <a:spcPts val="500"/>
              </a:spcAft>
              <a:defRPr sz="1200">
                <a:solidFill>
                  <a:srgbClr val="5C5950"/>
                </a:solidFill>
                <a:latin typeface="Calibri"/>
              </a:defRPr>
            </a:pPr>
            <a:r>
              <a:t>•  Sends €19 trial kit link in 60s</a:t>
            </a:r>
          </a:p>
        </p:txBody>
      </p:sp>
      <p:sp>
        <p:nvSpPr>
          <p:cNvPr id="8" name="Rounded Rectangle 7"/>
          <p:cNvSpPr/>
          <p:nvPr/>
        </p:nvSpPr>
        <p:spPr>
          <a:xfrm>
            <a:off x="6217920" y="1828800"/>
            <a:ext cx="2487168"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37376" y="2029968"/>
            <a:ext cx="2048256" cy="3986784"/>
          </a:xfrm>
          <a:prstGeom prst="rect">
            <a:avLst/>
          </a:prstGeom>
          <a:noFill/>
        </p:spPr>
        <p:txBody>
          <a:bodyPr wrap="square" lIns="0" tIns="0" rIns="0" bIns="0">
            <a:spAutoFit/>
          </a:bodyPr>
          <a:lstStyle/>
          <a:p>
            <a:pPr>
              <a:spcAft>
                <a:spcPts val="400"/>
              </a:spcAft>
              <a:defRPr sz="1100" b="1">
                <a:solidFill>
                  <a:srgbClr val="444C32"/>
                </a:solidFill>
                <a:latin typeface="Calibri"/>
              </a:defRPr>
            </a:pPr>
            <a:r>
              <a:t>ROLE 03</a:t>
            </a:r>
          </a:p>
          <a:p>
            <a:pPr>
              <a:spcAft>
                <a:spcPts val="800"/>
              </a:spcAft>
              <a:defRPr sz="1700" b="1">
                <a:solidFill>
                  <a:srgbClr val="181916"/>
                </a:solidFill>
                <a:latin typeface="Georgia"/>
              </a:defRPr>
            </a:pPr>
            <a:r>
              <a:t>Marketing Signals</a:t>
            </a:r>
          </a:p>
          <a:p>
            <a:pPr>
              <a:spcAft>
                <a:spcPts val="500"/>
              </a:spcAft>
              <a:defRPr sz="1200">
                <a:solidFill>
                  <a:srgbClr val="5C5950"/>
                </a:solidFill>
                <a:latin typeface="Calibri"/>
              </a:defRPr>
            </a:pPr>
            <a:r>
              <a:t>•  Tracks likes &amp; comments on tea reels</a:t>
            </a:r>
          </a:p>
          <a:p>
            <a:pPr>
              <a:spcAft>
                <a:spcPts val="500"/>
              </a:spcAft>
              <a:defRPr sz="1200">
                <a:solidFill>
                  <a:srgbClr val="5C5950"/>
                </a:solidFill>
                <a:latin typeface="Calibri"/>
              </a:defRPr>
            </a:pPr>
            <a:r>
              <a:t>•  Identifies active beverage directors</a:t>
            </a:r>
          </a:p>
          <a:p>
            <a:pPr>
              <a:spcAft>
                <a:spcPts val="500"/>
              </a:spcAft>
              <a:defRPr sz="1200">
                <a:solidFill>
                  <a:srgbClr val="5C5950"/>
                </a:solidFill>
                <a:latin typeface="Calibri"/>
              </a:defRPr>
            </a:pPr>
            <a:r>
              <a:t>•  Enriches intent in Dolibarr CRM</a:t>
            </a:r>
          </a:p>
        </p:txBody>
      </p:sp>
      <p:sp>
        <p:nvSpPr>
          <p:cNvPr id="10" name="Rounded Rectangle 9"/>
          <p:cNvSpPr/>
          <p:nvPr/>
        </p:nvSpPr>
        <p:spPr>
          <a:xfrm>
            <a:off x="8961120" y="1828800"/>
            <a:ext cx="2487168"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80576" y="2029968"/>
            <a:ext cx="2048256" cy="3986784"/>
          </a:xfrm>
          <a:prstGeom prst="rect">
            <a:avLst/>
          </a:prstGeom>
          <a:noFill/>
        </p:spPr>
        <p:txBody>
          <a:bodyPr wrap="square" lIns="0" tIns="0" rIns="0" bIns="0">
            <a:spAutoFit/>
          </a:bodyPr>
          <a:lstStyle/>
          <a:p>
            <a:pPr>
              <a:spcAft>
                <a:spcPts val="400"/>
              </a:spcAft>
              <a:defRPr sz="1100" b="1">
                <a:solidFill>
                  <a:srgbClr val="C48737"/>
                </a:solidFill>
                <a:latin typeface="Calibri"/>
              </a:defRPr>
            </a:pPr>
            <a:r>
              <a:t>ROLE 04</a:t>
            </a:r>
          </a:p>
          <a:p>
            <a:pPr>
              <a:spcAft>
                <a:spcPts val="800"/>
              </a:spcAft>
              <a:defRPr sz="1700" b="1">
                <a:solidFill>
                  <a:srgbClr val="181916"/>
                </a:solidFill>
                <a:latin typeface="Georgia"/>
              </a:defRPr>
            </a:pPr>
            <a:r>
              <a:t>Paid Acquisition</a:t>
            </a:r>
          </a:p>
          <a:p>
            <a:pPr>
              <a:spcAft>
                <a:spcPts val="500"/>
              </a:spcAft>
              <a:defRPr sz="1200">
                <a:solidFill>
                  <a:srgbClr val="5C5950"/>
                </a:solidFill>
                <a:latin typeface="Calibri"/>
              </a:defRPr>
            </a:pPr>
            <a:r>
              <a:t>•  Meta Ads target cafe owners directly</a:t>
            </a:r>
          </a:p>
          <a:p>
            <a:pPr>
              <a:spcAft>
                <a:spcPts val="500"/>
              </a:spcAft>
              <a:defRPr sz="1200">
                <a:solidFill>
                  <a:srgbClr val="5C5950"/>
                </a:solidFill>
                <a:latin typeface="Calibri"/>
              </a:defRPr>
            </a:pPr>
            <a:r>
              <a:t>•  Drives to 1-tap WhatsApp chat</a:t>
            </a:r>
          </a:p>
          <a:p>
            <a:pPr>
              <a:spcAft>
                <a:spcPts val="500"/>
              </a:spcAft>
              <a:defRPr sz="1200">
                <a:solidFill>
                  <a:srgbClr val="5C5950"/>
                </a:solidFill>
                <a:latin typeface="Calibri"/>
              </a:defRPr>
            </a:pPr>
            <a:r>
              <a:t>•  Captures pre-paid sample orders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731520" y="365760"/>
            <a:ext cx="10728655" cy="1280160"/>
          </a:xfrm>
          <a:prstGeom prst="rect">
            <a:avLst/>
          </a:prstGeom>
          <a:noFill/>
        </p:spPr>
        <p:txBody>
          <a:bodyPr wrap="square" lIns="0" tIns="0" rIns="0" bIns="0">
            <a:spAutoFit/>
          </a:bodyPr>
          <a:lstStyle/>
          <a:p>
            <a:pPr>
              <a:spcAft>
                <a:spcPts val="400"/>
              </a:spcAft>
              <a:defRPr sz="1150" b="1">
                <a:solidFill>
                  <a:srgbClr val="444C32"/>
                </a:solidFill>
                <a:latin typeface="Calibri"/>
              </a:defRPr>
            </a:pPr>
            <a:r>
              <a:t>15 // CHANNEL EVOLUTION</a:t>
            </a:r>
          </a:p>
          <a:p>
            <a:pPr>
              <a:spcAft>
                <a:spcPts val="400"/>
              </a:spcAft>
              <a:defRPr sz="2800" b="1">
                <a:solidFill>
                  <a:srgbClr val="181916"/>
                </a:solidFill>
                <a:latin typeface="Georgia"/>
              </a:defRPr>
            </a:pPr>
            <a:r>
              <a:t>How Instagram Matures Across Tiers</a:t>
            </a:r>
          </a:p>
          <a:p>
            <a:pPr>
              <a:defRPr sz="1350">
                <a:solidFill>
                  <a:srgbClr val="5C5950"/>
                </a:solidFill>
                <a:latin typeface="Calibri"/>
              </a:defRPr>
            </a:pPr>
            <a:r>
              <a:t>Tier 1 has a complete, working comment-to-DM loop. Higher tiers add intelligence, governance, and cross-channel optimization.</a:t>
            </a:r>
          </a:p>
        </p:txBody>
      </p:sp>
      <p:sp>
        <p:nvSpPr>
          <p:cNvPr id="3" name="TextBox 2"/>
          <p:cNvSpPr txBox="1"/>
          <p:nvPr/>
        </p:nvSpPr>
        <p:spPr>
          <a:xfrm>
            <a:off x="731520" y="6400800"/>
            <a:ext cx="10728655" cy="320040"/>
          </a:xfrm>
          <a:prstGeom prst="rect">
            <a:avLst/>
          </a:prstGeom>
          <a:noFill/>
        </p:spPr>
        <p:txBody>
          <a:bodyPr wrap="none" lIns="0" tIns="0" rIns="0" bIns="0">
            <a:spAutoFit/>
          </a:bodyPr>
          <a:lstStyle/>
          <a:p>
            <a:pPr>
              <a:defRPr sz="950" b="1">
                <a:solidFill>
                  <a:srgbClr val="5C5950"/>
                </a:solidFill>
                <a:latin typeface="Calibri"/>
              </a:defRPr>
            </a:pPr>
            <a:r>
              <a:t>ALANDAS TEA BERLIN  •  TIERED REVENUE ARCHITECTURE  |  SLIDE 16 OF 19</a:t>
            </a:r>
          </a:p>
        </p:txBody>
      </p:sp>
      <p:graphicFrame>
        <p:nvGraphicFramePr>
          <p:cNvPr id="4" name="Table 3"/>
          <p:cNvGraphicFramePr>
            <a:graphicFrameLocks noGrp="1"/>
          </p:cNvGraphicFramePr>
          <p:nvPr/>
        </p:nvGraphicFramePr>
        <p:xfrm>
          <a:off x="731520" y="1828800"/>
          <a:ext cx="10727739" cy="4389120"/>
        </p:xfrm>
        <a:graphic>
          <a:graphicData uri="http://schemas.openxmlformats.org/drawingml/2006/table">
            <a:tbl>
              <a:tblPr firstRow="1" bandRow="1">
                <a:tableStyleId>{5C22544A-7EE6-4342-B048-85BDC9FD1C3A}</a:tableStyleId>
              </a:tblPr>
              <a:tblGrid>
                <a:gridCol w="2926080"/>
                <a:gridCol w="2600553"/>
                <a:gridCol w="2600553"/>
                <a:gridCol w="2600553"/>
              </a:tblGrid>
              <a:tr h="731520">
                <a:tc>
                  <a:txBody>
                    <a:bodyPr/>
                    <a:lstStyle/>
                    <a:p>
                      <a:pPr>
                        <a:defRPr sz="1200" b="1">
                          <a:solidFill>
                            <a:srgbClr val="FFFFFF"/>
                          </a:solidFill>
                          <a:latin typeface="Calibri"/>
                        </a:defRPr>
                      </a:pPr>
                      <a:r>
                        <a:t>Dimension</a:t>
                      </a:r>
                    </a:p>
                  </a:txBody>
                  <a:tcPr>
                    <a:solidFill>
                      <a:srgbClr val="444C32"/>
                    </a:solidFill>
                  </a:tcPr>
                </a:tc>
                <a:tc>
                  <a:txBody>
                    <a:bodyPr/>
                    <a:lstStyle/>
                    <a:p>
                      <a:pPr>
                        <a:defRPr sz="1200" b="1">
                          <a:solidFill>
                            <a:srgbClr val="FFFFFF"/>
                          </a:solidFill>
                          <a:latin typeface="Calibri"/>
                        </a:defRPr>
                      </a:pPr>
                      <a:r>
                        <a:t>Tier 1 // Essential</a:t>
                      </a:r>
                    </a:p>
                  </a:txBody>
                  <a:tcPr>
                    <a:solidFill>
                      <a:srgbClr val="444C32"/>
                    </a:solidFill>
                  </a:tcPr>
                </a:tc>
                <a:tc>
                  <a:txBody>
                    <a:bodyPr/>
                    <a:lstStyle/>
                    <a:p>
                      <a:pPr>
                        <a:defRPr sz="1200" b="1">
                          <a:solidFill>
                            <a:srgbClr val="FFFFFF"/>
                          </a:solidFill>
                          <a:latin typeface="Calibri"/>
                        </a:defRPr>
                      </a:pPr>
                      <a:r>
                        <a:t>Tier 2 // Professional</a:t>
                      </a:r>
                    </a:p>
                  </a:txBody>
                  <a:tcPr>
                    <a:solidFill>
                      <a:srgbClr val="444C32"/>
                    </a:solidFill>
                  </a:tcPr>
                </a:tc>
                <a:tc>
                  <a:txBody>
                    <a:bodyPr/>
                    <a:lstStyle/>
                    <a:p>
                      <a:pPr>
                        <a:defRPr sz="1200" b="1">
                          <a:solidFill>
                            <a:srgbClr val="FFFFFF"/>
                          </a:solidFill>
                          <a:latin typeface="Calibri"/>
                        </a:defRPr>
                      </a:pPr>
                      <a:r>
                        <a:t>Tier 3 // Autonomous</a:t>
                      </a:r>
                    </a:p>
                  </a:txBody>
                  <a:tcPr>
                    <a:solidFill>
                      <a:srgbClr val="444C32"/>
                    </a:solidFill>
                  </a:tcPr>
                </a:tc>
              </a:tr>
              <a:tr h="731520">
                <a:tc>
                  <a:txBody>
                    <a:bodyPr/>
                    <a:lstStyle/>
                    <a:p>
                      <a:pPr>
                        <a:defRPr sz="1150" b="1">
                          <a:solidFill>
                            <a:srgbClr val="181916"/>
                          </a:solidFill>
                          <a:latin typeface="Calibri"/>
                        </a:defRPr>
                      </a:pPr>
                      <a:r>
                        <a:t>Comment ➔ DM</a:t>
                      </a:r>
                    </a:p>
                  </a:txBody>
                  <a:tcPr>
                    <a:solidFill>
                      <a:srgbClr val="FFFFFF"/>
                    </a:solidFill>
                  </a:tcPr>
                </a:tc>
                <a:tc>
                  <a:txBody>
                    <a:bodyPr/>
                    <a:lstStyle/>
                    <a:p>
                      <a:pPr>
                        <a:defRPr sz="1150" b="0">
                          <a:solidFill>
                            <a:srgbClr val="181916"/>
                          </a:solidFill>
                          <a:latin typeface="Calibri"/>
                        </a:defRPr>
                      </a:pPr>
                      <a:r>
                        <a:t>OpenReply Keyword Triggers</a:t>
                      </a:r>
                    </a:p>
                  </a:txBody>
                  <a:tcPr>
                    <a:solidFill>
                      <a:srgbClr val="FFFFFF"/>
                    </a:solidFill>
                  </a:tcPr>
                </a:tc>
                <a:tc>
                  <a:txBody>
                    <a:bodyPr/>
                    <a:lstStyle/>
                    <a:p>
                      <a:pPr>
                        <a:defRPr sz="1150" b="0">
                          <a:solidFill>
                            <a:srgbClr val="181916"/>
                          </a:solidFill>
                          <a:latin typeface="Calibri"/>
                        </a:defRPr>
                      </a:pPr>
                      <a:r>
                        <a:t>OpenReply + Context Routing</a:t>
                      </a:r>
                    </a:p>
                  </a:txBody>
                  <a:tcPr>
                    <a:solidFill>
                      <a:srgbClr val="FFFFFF"/>
                    </a:solidFill>
                  </a:tcPr>
                </a:tc>
                <a:tc>
                  <a:txBody>
                    <a:bodyPr/>
                    <a:lstStyle/>
                    <a:p>
                      <a:pPr>
                        <a:defRPr sz="1150" b="0">
                          <a:solidFill>
                            <a:srgbClr val="181916"/>
                          </a:solidFill>
                          <a:latin typeface="Calibri"/>
                        </a:defRPr>
                      </a:pPr>
                      <a:r>
                        <a:t>Dynamic Intent Extraction</a:t>
                      </a:r>
                    </a:p>
                  </a:txBody>
                  <a:tcPr>
                    <a:solidFill>
                      <a:srgbClr val="FFFFFF"/>
                    </a:solidFill>
                  </a:tcPr>
                </a:tc>
              </a:tr>
              <a:tr h="731520">
                <a:tc>
                  <a:txBody>
                    <a:bodyPr/>
                    <a:lstStyle/>
                    <a:p>
                      <a:pPr>
                        <a:defRPr sz="1150" b="1">
                          <a:solidFill>
                            <a:srgbClr val="181916"/>
                          </a:solidFill>
                          <a:latin typeface="Calibri"/>
                        </a:defRPr>
                      </a:pPr>
                      <a:r>
                        <a:t>Lead Qualification</a:t>
                      </a:r>
                    </a:p>
                  </a:txBody>
                  <a:tcPr>
                    <a:solidFill>
                      <a:srgbClr val="F3EFE6"/>
                    </a:solidFill>
                  </a:tcPr>
                </a:tc>
                <a:tc>
                  <a:txBody>
                    <a:bodyPr/>
                    <a:lstStyle/>
                    <a:p>
                      <a:pPr>
                        <a:defRPr sz="1150" b="0">
                          <a:solidFill>
                            <a:srgbClr val="181916"/>
                          </a:solidFill>
                          <a:latin typeface="Calibri"/>
                        </a:defRPr>
                      </a:pPr>
                      <a:r>
                        <a:t>Standard 60-Sec Form</a:t>
                      </a:r>
                    </a:p>
                  </a:txBody>
                  <a:tcPr>
                    <a:solidFill>
                      <a:srgbClr val="F3EFE6"/>
                    </a:solidFill>
                  </a:tcPr>
                </a:tc>
                <a:tc>
                  <a:txBody>
                    <a:bodyPr/>
                    <a:lstStyle/>
                    <a:p>
                      <a:pPr>
                        <a:defRPr sz="1150" b="0">
                          <a:solidFill>
                            <a:srgbClr val="181916"/>
                          </a:solidFill>
                          <a:latin typeface="Calibri"/>
                        </a:defRPr>
                      </a:pPr>
                      <a:r>
                        <a:t>Dynamic Gated Qualification</a:t>
                      </a:r>
                    </a:p>
                  </a:txBody>
                  <a:tcPr>
                    <a:solidFill>
                      <a:srgbClr val="F3EFE6"/>
                    </a:solidFill>
                  </a:tcPr>
                </a:tc>
                <a:tc>
                  <a:txBody>
                    <a:bodyPr/>
                    <a:lstStyle/>
                    <a:p>
                      <a:pPr>
                        <a:defRPr sz="1150" b="0">
                          <a:solidFill>
                            <a:srgbClr val="181916"/>
                          </a:solidFill>
                          <a:latin typeface="Calibri"/>
                        </a:defRPr>
                      </a:pPr>
                      <a:r>
                        <a:t>Real-Time Venue Scoring</a:t>
                      </a:r>
                    </a:p>
                  </a:txBody>
                  <a:tcPr>
                    <a:solidFill>
                      <a:srgbClr val="F3EFE6"/>
                    </a:solidFill>
                  </a:tcPr>
                </a:tc>
              </a:tr>
              <a:tr h="731520">
                <a:tc>
                  <a:txBody>
                    <a:bodyPr/>
                    <a:lstStyle/>
                    <a:p>
                      <a:pPr>
                        <a:defRPr sz="1150" b="1">
                          <a:solidFill>
                            <a:srgbClr val="181916"/>
                          </a:solidFill>
                          <a:latin typeface="Calibri"/>
                        </a:defRPr>
                      </a:pPr>
                      <a:r>
                        <a:t>Dolibarr CRM Sync</a:t>
                      </a:r>
                    </a:p>
                  </a:txBody>
                  <a:tcPr>
                    <a:solidFill>
                      <a:srgbClr val="FFFFFF"/>
                    </a:solidFill>
                  </a:tcPr>
                </a:tc>
                <a:tc>
                  <a:txBody>
                    <a:bodyPr/>
                    <a:lstStyle/>
                    <a:p>
                      <a:pPr>
                        <a:defRPr sz="1150" b="0">
                          <a:solidFill>
                            <a:srgbClr val="181916"/>
                          </a:solidFill>
                          <a:latin typeface="Calibri"/>
                        </a:defRPr>
                      </a:pPr>
                      <a:r>
                        <a:t>Immediate Lead Card</a:t>
                      </a:r>
                    </a:p>
                  </a:txBody>
                  <a:tcPr>
                    <a:solidFill>
                      <a:srgbClr val="FFFFFF"/>
                    </a:solidFill>
                  </a:tcPr>
                </a:tc>
                <a:tc>
                  <a:txBody>
                    <a:bodyPr/>
                    <a:lstStyle/>
                    <a:p>
                      <a:pPr>
                        <a:defRPr sz="1150" b="0">
                          <a:solidFill>
                            <a:srgbClr val="181916"/>
                          </a:solidFill>
                          <a:latin typeface="Calibri"/>
                        </a:defRPr>
                      </a:pPr>
                      <a:r>
                        <a:t>Lead Card + Social Score</a:t>
                      </a:r>
                    </a:p>
                  </a:txBody>
                  <a:tcPr>
                    <a:solidFill>
                      <a:srgbClr val="FFFFFF"/>
                    </a:solidFill>
                  </a:tcPr>
                </a:tc>
                <a:tc>
                  <a:txBody>
                    <a:bodyPr/>
                    <a:lstStyle/>
                    <a:p>
                      <a:pPr>
                        <a:defRPr sz="1150" b="0">
                          <a:solidFill>
                            <a:srgbClr val="181916"/>
                          </a:solidFill>
                          <a:latin typeface="Calibri"/>
                        </a:defRPr>
                      </a:pPr>
                      <a:r>
                        <a:t>Full Omnichannel Identity</a:t>
                      </a:r>
                    </a:p>
                  </a:txBody>
                  <a:tcPr>
                    <a:solidFill>
                      <a:srgbClr val="FFFFFF"/>
                    </a:solidFill>
                  </a:tcPr>
                </a:tc>
              </a:tr>
              <a:tr h="731520">
                <a:tc>
                  <a:txBody>
                    <a:bodyPr/>
                    <a:lstStyle/>
                    <a:p>
                      <a:pPr>
                        <a:defRPr sz="1150" b="1">
                          <a:solidFill>
                            <a:srgbClr val="181916"/>
                          </a:solidFill>
                          <a:latin typeface="Calibri"/>
                        </a:defRPr>
                      </a:pPr>
                      <a:r>
                        <a:t>Outreach Messaging</a:t>
                      </a:r>
                    </a:p>
                  </a:txBody>
                  <a:tcPr>
                    <a:solidFill>
                      <a:srgbClr val="F3EFE6"/>
                    </a:solidFill>
                  </a:tcPr>
                </a:tc>
                <a:tc>
                  <a:txBody>
                    <a:bodyPr/>
                    <a:lstStyle/>
                    <a:p>
                      <a:pPr>
                        <a:defRPr sz="1150" b="0">
                          <a:solidFill>
                            <a:srgbClr val="181916"/>
                          </a:solidFill>
                          <a:latin typeface="Calibri"/>
                        </a:defRPr>
                      </a:pPr>
                      <a:r>
                        <a:t>AI-Drafted ➔ Human Approves</a:t>
                      </a:r>
                    </a:p>
                  </a:txBody>
                  <a:tcPr>
                    <a:solidFill>
                      <a:srgbClr val="F3EFE6"/>
                    </a:solidFill>
                  </a:tcPr>
                </a:tc>
                <a:tc>
                  <a:txBody>
                    <a:bodyPr/>
                    <a:lstStyle/>
                    <a:p>
                      <a:pPr>
                        <a:defRPr sz="1150" b="0">
                          <a:solidFill>
                            <a:srgbClr val="181916"/>
                          </a:solidFill>
                          <a:latin typeface="Calibri"/>
                        </a:defRPr>
                      </a:pPr>
                      <a:r>
                        <a:t>Pre-Approved Policy Templates</a:t>
                      </a:r>
                    </a:p>
                  </a:txBody>
                  <a:tcPr>
                    <a:solidFill>
                      <a:srgbClr val="F3EFE6"/>
                    </a:solidFill>
                  </a:tcPr>
                </a:tc>
                <a:tc>
                  <a:txBody>
                    <a:bodyPr/>
                    <a:lstStyle/>
                    <a:p>
                      <a:pPr>
                        <a:defRPr sz="1150" b="0">
                          <a:solidFill>
                            <a:srgbClr val="181916"/>
                          </a:solidFill>
                          <a:latin typeface="Calibri"/>
                        </a:defRPr>
                      </a:pPr>
                      <a:r>
                        <a:t>Autonomous Dynamic Copy</a:t>
                      </a:r>
                    </a:p>
                  </a:txBody>
                  <a:tcPr>
                    <a:solidFill>
                      <a:srgbClr val="F3EFE6"/>
                    </a:solidFill>
                  </a:tcPr>
                </a:tc>
              </a:tr>
              <a:tr h="731520">
                <a:tc>
                  <a:txBody>
                    <a:bodyPr/>
                    <a:lstStyle/>
                    <a:p>
                      <a:pPr>
                        <a:defRPr sz="1150" b="1">
                          <a:solidFill>
                            <a:srgbClr val="181916"/>
                          </a:solidFill>
                          <a:latin typeface="Calibri"/>
                        </a:defRPr>
                      </a:pPr>
                      <a:r>
                        <a:t>Ad Spend Feedback</a:t>
                      </a:r>
                    </a:p>
                  </a:txBody>
                  <a:tcPr>
                    <a:solidFill>
                      <a:srgbClr val="FFFFFF"/>
                    </a:solidFill>
                  </a:tcPr>
                </a:tc>
                <a:tc>
                  <a:txBody>
                    <a:bodyPr/>
                    <a:lstStyle/>
                    <a:p>
                      <a:pPr>
                        <a:defRPr sz="1150" b="0">
                          <a:solidFill>
                            <a:srgbClr val="181916"/>
                          </a:solidFill>
                          <a:latin typeface="Calibri"/>
                        </a:defRPr>
                      </a:pPr>
                      <a:r>
                        <a:t>Manual Ad Optimization</a:t>
                      </a:r>
                    </a:p>
                  </a:txBody>
                  <a:tcPr>
                    <a:solidFill>
                      <a:srgbClr val="FFFFFF"/>
                    </a:solidFill>
                  </a:tcPr>
                </a:tc>
                <a:tc>
                  <a:txBody>
                    <a:bodyPr/>
                    <a:lstStyle/>
                    <a:p>
                      <a:pPr>
                        <a:defRPr sz="1150" b="0">
                          <a:solidFill>
                            <a:srgbClr val="181916"/>
                          </a:solidFill>
                          <a:latin typeface="Calibri"/>
                        </a:defRPr>
                      </a:pPr>
                      <a:r>
                        <a:t>Policy Engine Budgets (±20%)</a:t>
                      </a:r>
                    </a:p>
                  </a:txBody>
                  <a:tcPr>
                    <a:solidFill>
                      <a:srgbClr val="FFFFFF"/>
                    </a:solidFill>
                  </a:tcPr>
                </a:tc>
                <a:tc>
                  <a:txBody>
                    <a:bodyPr/>
                    <a:lstStyle/>
                    <a:p>
                      <a:pPr>
                        <a:defRPr sz="1150" b="0">
                          <a:solidFill>
                            <a:srgbClr val="181916"/>
                          </a:solidFill>
                          <a:latin typeface="Calibri"/>
                        </a:defRPr>
                      </a:pPr>
                      <a:r>
                        <a:t>Closed-Loop Attribution</a:t>
                      </a:r>
                    </a:p>
                  </a:txBody>
                  <a:tcP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731520" y="365760"/>
            <a:ext cx="10728655" cy="1280160"/>
          </a:xfrm>
          <a:prstGeom prst="rect">
            <a:avLst/>
          </a:prstGeom>
          <a:noFill/>
        </p:spPr>
        <p:txBody>
          <a:bodyPr wrap="square" lIns="0" tIns="0" rIns="0" bIns="0">
            <a:spAutoFit/>
          </a:bodyPr>
          <a:lstStyle/>
          <a:p>
            <a:pPr>
              <a:spcAft>
                <a:spcPts val="400"/>
              </a:spcAft>
              <a:defRPr sz="1150" b="1">
                <a:solidFill>
                  <a:srgbClr val="444C32"/>
                </a:solidFill>
                <a:latin typeface="Calibri"/>
              </a:defRPr>
            </a:pPr>
            <a:r>
              <a:t>16 // LIFECYCLE ENGINEERING</a:t>
            </a:r>
          </a:p>
          <a:p>
            <a:pPr>
              <a:spcAft>
                <a:spcPts val="400"/>
              </a:spcAft>
              <a:defRPr sz="2800" b="1">
                <a:solidFill>
                  <a:srgbClr val="181916"/>
                </a:solidFill>
                <a:latin typeface="Georgia"/>
              </a:defRPr>
            </a:pPr>
            <a:r>
              <a:t>Evolving the Architecture Without Rewriting</a:t>
            </a:r>
          </a:p>
          <a:p>
            <a:pPr>
              <a:defRPr sz="1350">
                <a:solidFill>
                  <a:srgbClr val="5C5950"/>
                </a:solidFill>
                <a:latin typeface="Calibri"/>
              </a:defRPr>
            </a:pPr>
            <a:r>
              <a:t>Every tier is additive: Higher tiers wrap around lower tiers rather than replacing them.</a:t>
            </a:r>
          </a:p>
        </p:txBody>
      </p:sp>
      <p:sp>
        <p:nvSpPr>
          <p:cNvPr id="3" name="TextBox 2"/>
          <p:cNvSpPr txBox="1"/>
          <p:nvPr/>
        </p:nvSpPr>
        <p:spPr>
          <a:xfrm>
            <a:off x="731520" y="6400800"/>
            <a:ext cx="10728655" cy="320040"/>
          </a:xfrm>
          <a:prstGeom prst="rect">
            <a:avLst/>
          </a:prstGeom>
          <a:noFill/>
        </p:spPr>
        <p:txBody>
          <a:bodyPr wrap="none" lIns="0" tIns="0" rIns="0" bIns="0">
            <a:spAutoFit/>
          </a:bodyPr>
          <a:lstStyle/>
          <a:p>
            <a:pPr>
              <a:defRPr sz="950" b="1">
                <a:solidFill>
                  <a:srgbClr val="5C5950"/>
                </a:solidFill>
                <a:latin typeface="Calibri"/>
              </a:defRPr>
            </a:pPr>
            <a:r>
              <a:t>ALANDAS TEA BERLIN  •  TIERED REVENUE ARCHITECTURE  |  SLIDE 17 OF 19</a:t>
            </a:r>
          </a:p>
        </p:txBody>
      </p:sp>
      <p:sp>
        <p:nvSpPr>
          <p:cNvPr id="4" name="Rounded Rectangle 3"/>
          <p:cNvSpPr/>
          <p:nvPr/>
        </p:nvSpPr>
        <p:spPr>
          <a:xfrm>
            <a:off x="731520" y="1828800"/>
            <a:ext cx="3383280"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029968"/>
            <a:ext cx="2944368" cy="3986784"/>
          </a:xfrm>
          <a:prstGeom prst="rect">
            <a:avLst/>
          </a:prstGeom>
          <a:noFill/>
        </p:spPr>
        <p:txBody>
          <a:bodyPr wrap="square" lIns="0" tIns="0" rIns="0" bIns="0">
            <a:spAutoFit/>
          </a:bodyPr>
          <a:lstStyle/>
          <a:p>
            <a:pPr>
              <a:spcAft>
                <a:spcPts val="400"/>
              </a:spcAft>
              <a:defRPr sz="1100" b="1">
                <a:solidFill>
                  <a:srgbClr val="444C32"/>
                </a:solidFill>
                <a:latin typeface="Calibri"/>
              </a:defRPr>
            </a:pPr>
            <a:r>
              <a:t>LAYER 1 // TIER 1 FOUNDATION</a:t>
            </a:r>
          </a:p>
          <a:p>
            <a:pPr>
              <a:spcAft>
                <a:spcPts val="800"/>
              </a:spcAft>
              <a:defRPr sz="1800" b="1">
                <a:solidFill>
                  <a:srgbClr val="181916"/>
                </a:solidFill>
                <a:latin typeface="Georgia"/>
              </a:defRPr>
            </a:pPr>
            <a:r>
              <a:t>Essential Automation Core</a:t>
            </a:r>
          </a:p>
          <a:p>
            <a:pPr>
              <a:spcAft>
                <a:spcPts val="500"/>
              </a:spcAft>
              <a:defRPr sz="1200">
                <a:solidFill>
                  <a:srgbClr val="5C5950"/>
                </a:solidFill>
                <a:latin typeface="Calibri"/>
              </a:defRPr>
            </a:pPr>
            <a:r>
              <a:t>•  Temporal Workflow Engine</a:t>
            </a:r>
          </a:p>
          <a:p>
            <a:pPr>
              <a:spcAft>
                <a:spcPts val="500"/>
              </a:spcAft>
              <a:defRPr sz="1200">
                <a:solidFill>
                  <a:srgbClr val="5C5950"/>
                </a:solidFill>
                <a:latin typeface="Calibri"/>
              </a:defRPr>
            </a:pPr>
            <a:r>
              <a:t>•  Application Logic (Python / TS)</a:t>
            </a:r>
          </a:p>
          <a:p>
            <a:pPr>
              <a:spcAft>
                <a:spcPts val="500"/>
              </a:spcAft>
              <a:defRPr sz="1200">
                <a:solidFill>
                  <a:srgbClr val="5C5950"/>
                </a:solidFill>
                <a:latin typeface="Calibri"/>
              </a:defRPr>
            </a:pPr>
            <a:r>
              <a:t>•  PostgreSQL Database</a:t>
            </a:r>
          </a:p>
          <a:p>
            <a:pPr>
              <a:spcAft>
                <a:spcPts val="500"/>
              </a:spcAft>
              <a:defRPr sz="1200">
                <a:solidFill>
                  <a:srgbClr val="5C5950"/>
                </a:solidFill>
                <a:latin typeface="Calibri"/>
              </a:defRPr>
            </a:pPr>
            <a:r>
              <a:t>•  Dolibarr CRM API Client</a:t>
            </a:r>
          </a:p>
          <a:p>
            <a:pPr>
              <a:spcAft>
                <a:spcPts val="500"/>
              </a:spcAft>
              <a:defRPr sz="1200">
                <a:solidFill>
                  <a:srgbClr val="5C5950"/>
                </a:solidFill>
                <a:latin typeface="Calibri"/>
              </a:defRPr>
            </a:pPr>
            <a:r>
              <a:t>•  Shopify Store REST Client</a:t>
            </a:r>
          </a:p>
          <a:p>
            <a:pPr>
              <a:spcAft>
                <a:spcPts val="500"/>
              </a:spcAft>
              <a:defRPr sz="1200">
                <a:solidFill>
                  <a:srgbClr val="5C5950"/>
                </a:solidFill>
                <a:latin typeface="Calibri"/>
              </a:defRPr>
            </a:pPr>
            <a:r>
              <a:t>•  Meta / Instagram API Client</a:t>
            </a:r>
          </a:p>
          <a:p>
            <a:pPr>
              <a:spcAft>
                <a:spcPts val="500"/>
              </a:spcAft>
              <a:defRPr sz="1200">
                <a:solidFill>
                  <a:srgbClr val="5C5950"/>
                </a:solidFill>
                <a:latin typeface="Calibri"/>
              </a:defRPr>
            </a:pPr>
            <a:r>
              <a:t>•  Direct LLM API Wrapper</a:t>
            </a:r>
          </a:p>
          <a:p>
            <a:pPr>
              <a:spcAft>
                <a:spcPts val="500"/>
              </a:spcAft>
              <a:defRPr sz="1200">
                <a:solidFill>
                  <a:srgbClr val="5C5950"/>
                </a:solidFill>
                <a:latin typeface="Calibri"/>
              </a:defRPr>
            </a:pPr>
            <a:r>
              <a:t>•  Status: Remains untouched in Tier 2.</a:t>
            </a:r>
          </a:p>
        </p:txBody>
      </p:sp>
      <p:sp>
        <p:nvSpPr>
          <p:cNvPr id="6" name="Rounded Rectangle 5"/>
          <p:cNvSpPr/>
          <p:nvPr/>
        </p:nvSpPr>
        <p:spPr>
          <a:xfrm>
            <a:off x="4403750" y="1828800"/>
            <a:ext cx="3383280"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23206" y="2029968"/>
            <a:ext cx="2944368" cy="3986784"/>
          </a:xfrm>
          <a:prstGeom prst="rect">
            <a:avLst/>
          </a:prstGeom>
          <a:noFill/>
        </p:spPr>
        <p:txBody>
          <a:bodyPr wrap="square" lIns="0" tIns="0" rIns="0" bIns="0">
            <a:spAutoFit/>
          </a:bodyPr>
          <a:lstStyle/>
          <a:p>
            <a:pPr>
              <a:spcAft>
                <a:spcPts val="400"/>
              </a:spcAft>
              <a:defRPr sz="1100" b="1">
                <a:solidFill>
                  <a:srgbClr val="C48737"/>
                </a:solidFill>
                <a:latin typeface="Calibri"/>
              </a:defRPr>
            </a:pPr>
            <a:r>
              <a:t>LAYER 2 // TIER 2 ADDITIONS</a:t>
            </a:r>
          </a:p>
          <a:p>
            <a:pPr>
              <a:spcAft>
                <a:spcPts val="800"/>
              </a:spcAft>
              <a:defRPr sz="1800" b="1">
                <a:solidFill>
                  <a:srgbClr val="181916"/>
                </a:solidFill>
                <a:latin typeface="Georgia"/>
              </a:defRPr>
            </a:pPr>
            <a:r>
              <a:t>Governed Intelligence Layer</a:t>
            </a:r>
          </a:p>
          <a:p>
            <a:pPr>
              <a:spcAft>
                <a:spcPts val="500"/>
              </a:spcAft>
              <a:defRPr sz="1200">
                <a:solidFill>
                  <a:srgbClr val="5C5950"/>
                </a:solidFill>
                <a:latin typeface="Calibri"/>
              </a:defRPr>
            </a:pPr>
            <a:r>
              <a:t>•  Policy Engine Framework</a:t>
            </a:r>
          </a:p>
          <a:p>
            <a:pPr>
              <a:spcAft>
                <a:spcPts val="500"/>
              </a:spcAft>
              <a:defRPr sz="1200">
                <a:solidFill>
                  <a:srgbClr val="5C5950"/>
                </a:solidFill>
                <a:latin typeface="Calibri"/>
              </a:defRPr>
            </a:pPr>
            <a:r>
              <a:t>•  Decision Contract Validator</a:t>
            </a:r>
          </a:p>
          <a:p>
            <a:pPr>
              <a:spcAft>
                <a:spcPts val="500"/>
              </a:spcAft>
              <a:defRPr sz="1200">
                <a:solidFill>
                  <a:srgbClr val="5C5950"/>
                </a:solidFill>
                <a:latin typeface="Calibri"/>
              </a:defRPr>
            </a:pPr>
            <a:r>
              <a:t>•  OpenTelemetry Tracing Exporter</a:t>
            </a:r>
          </a:p>
          <a:p>
            <a:pPr>
              <a:spcAft>
                <a:spcPts val="500"/>
              </a:spcAft>
              <a:defRPr sz="1200">
                <a:solidFill>
                  <a:srgbClr val="5C5950"/>
                </a:solidFill>
                <a:latin typeface="Calibri"/>
              </a:defRPr>
            </a:pPr>
            <a:r>
              <a:t>•  Selective LangGraph Engine</a:t>
            </a:r>
          </a:p>
          <a:p>
            <a:pPr>
              <a:spcAft>
                <a:spcPts val="500"/>
              </a:spcAft>
              <a:defRPr sz="1200">
                <a:solidFill>
                  <a:srgbClr val="5C5950"/>
                </a:solidFill>
                <a:latin typeface="Calibri"/>
              </a:defRPr>
            </a:pPr>
            <a:r>
              <a:t>•  Post-Action Verification Engine</a:t>
            </a:r>
          </a:p>
          <a:p>
            <a:pPr>
              <a:spcAft>
                <a:spcPts val="500"/>
              </a:spcAft>
              <a:defRPr sz="1200">
                <a:solidFill>
                  <a:srgbClr val="5C5950"/>
                </a:solidFill>
                <a:latin typeface="Calibri"/>
              </a:defRPr>
            </a:pPr>
            <a:r>
              <a:t>•  Audit Trail Storage &amp; Ledger</a:t>
            </a:r>
          </a:p>
          <a:p>
            <a:pPr>
              <a:spcAft>
                <a:spcPts val="500"/>
              </a:spcAft>
              <a:defRPr sz="1200">
                <a:solidFill>
                  <a:srgbClr val="5C5950"/>
                </a:solidFill>
                <a:latin typeface="Calibri"/>
              </a:defRPr>
            </a:pPr>
            <a:r>
              <a:t>•  Status: Wraps around Tier 1 without altering database models.</a:t>
            </a:r>
          </a:p>
        </p:txBody>
      </p:sp>
      <p:sp>
        <p:nvSpPr>
          <p:cNvPr id="8" name="Rounded Rectangle 7"/>
          <p:cNvSpPr/>
          <p:nvPr/>
        </p:nvSpPr>
        <p:spPr>
          <a:xfrm>
            <a:off x="8075980" y="1828800"/>
            <a:ext cx="3383280"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95436" y="2029968"/>
            <a:ext cx="2944368" cy="3986784"/>
          </a:xfrm>
          <a:prstGeom prst="rect">
            <a:avLst/>
          </a:prstGeom>
          <a:noFill/>
        </p:spPr>
        <p:txBody>
          <a:bodyPr wrap="square" lIns="0" tIns="0" rIns="0" bIns="0">
            <a:spAutoFit/>
          </a:bodyPr>
          <a:lstStyle/>
          <a:p>
            <a:pPr>
              <a:spcAft>
                <a:spcPts val="400"/>
              </a:spcAft>
              <a:defRPr sz="1100" b="1">
                <a:solidFill>
                  <a:srgbClr val="2F5339"/>
                </a:solidFill>
                <a:latin typeface="Calibri"/>
              </a:defRPr>
            </a:pPr>
            <a:r>
              <a:t>LAYER 3 // TIER 3 ADDITIONS</a:t>
            </a:r>
          </a:p>
          <a:p>
            <a:pPr>
              <a:spcAft>
                <a:spcPts val="800"/>
              </a:spcAft>
              <a:defRPr sz="1800" b="1">
                <a:solidFill>
                  <a:srgbClr val="181916"/>
                </a:solidFill>
                <a:latin typeface="Georgia"/>
              </a:defRPr>
            </a:pPr>
            <a:r>
              <a:t>The Autonomous Flywheel</a:t>
            </a:r>
          </a:p>
          <a:p>
            <a:pPr>
              <a:spcAft>
                <a:spcPts val="500"/>
              </a:spcAft>
              <a:defRPr sz="1200">
                <a:solidFill>
                  <a:srgbClr val="5C5950"/>
                </a:solidFill>
                <a:latin typeface="Calibri"/>
              </a:defRPr>
            </a:pPr>
            <a:r>
              <a:t>•  Domain Specialist Agents</a:t>
            </a:r>
          </a:p>
          <a:p>
            <a:pPr>
              <a:spcAft>
                <a:spcPts val="500"/>
              </a:spcAft>
              <a:defRPr sz="1200">
                <a:solidFill>
                  <a:srgbClr val="5C5950"/>
                </a:solidFill>
                <a:latin typeface="Calibri"/>
              </a:defRPr>
            </a:pPr>
            <a:r>
              <a:t>•  Model Context Protocol (MCP) Tools</a:t>
            </a:r>
          </a:p>
          <a:p>
            <a:pPr>
              <a:spcAft>
                <a:spcPts val="500"/>
              </a:spcAft>
              <a:defRPr sz="1200">
                <a:solidFill>
                  <a:srgbClr val="5C5950"/>
                </a:solidFill>
                <a:latin typeface="Calibri"/>
              </a:defRPr>
            </a:pPr>
            <a:r>
              <a:t>•  Shared Revenue State &amp; Event PubSub</a:t>
            </a:r>
          </a:p>
          <a:p>
            <a:pPr>
              <a:spcAft>
                <a:spcPts val="500"/>
              </a:spcAft>
              <a:defRPr sz="1200">
                <a:solidFill>
                  <a:srgbClr val="5C5950"/>
                </a:solidFill>
                <a:latin typeface="Calibri"/>
              </a:defRPr>
            </a:pPr>
            <a:r>
              <a:t>•  Cross-Domain Feedback Engine</a:t>
            </a:r>
          </a:p>
          <a:p>
            <a:pPr>
              <a:spcAft>
                <a:spcPts val="500"/>
              </a:spcAft>
              <a:defRPr sz="1200">
                <a:solidFill>
                  <a:srgbClr val="5C5950"/>
                </a:solidFill>
                <a:latin typeface="Calibri"/>
              </a:defRPr>
            </a:pPr>
            <a:r>
              <a:t>•  Continuous Experimentation Harness</a:t>
            </a:r>
          </a:p>
          <a:p>
            <a:pPr>
              <a:spcAft>
                <a:spcPts val="500"/>
              </a:spcAft>
              <a:defRPr sz="1200">
                <a:solidFill>
                  <a:srgbClr val="5C5950"/>
                </a:solidFill>
                <a:latin typeface="Calibri"/>
              </a:defRPr>
            </a:pPr>
            <a:r>
              <a:t>•  Status: Adds autonomous loops over Tier 2 governance.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731520" y="365760"/>
            <a:ext cx="10728655" cy="1280160"/>
          </a:xfrm>
          <a:prstGeom prst="rect">
            <a:avLst/>
          </a:prstGeom>
          <a:noFill/>
        </p:spPr>
        <p:txBody>
          <a:bodyPr wrap="square" lIns="0" tIns="0" rIns="0" bIns="0">
            <a:spAutoFit/>
          </a:bodyPr>
          <a:lstStyle/>
          <a:p>
            <a:pPr>
              <a:spcAft>
                <a:spcPts val="400"/>
              </a:spcAft>
              <a:defRPr sz="1150" b="1">
                <a:solidFill>
                  <a:srgbClr val="444C32"/>
                </a:solidFill>
                <a:latin typeface="Calibri"/>
              </a:defRPr>
            </a:pPr>
            <a:r>
              <a:t>17 // ENGINEERING DEFENSE</a:t>
            </a:r>
          </a:p>
          <a:p>
            <a:pPr>
              <a:spcAft>
                <a:spcPts val="400"/>
              </a:spcAft>
              <a:defRPr sz="2800" b="1">
                <a:solidFill>
                  <a:srgbClr val="181916"/>
                </a:solidFill>
                <a:latin typeface="Georgia"/>
              </a:defRPr>
            </a:pPr>
            <a:r>
              <a:t>System Design Tradeoff Analysis: The 'Why'</a:t>
            </a:r>
          </a:p>
          <a:p>
            <a:pPr>
              <a:defRPr sz="1350">
                <a:solidFill>
                  <a:srgbClr val="5C5950"/>
                </a:solidFill>
                <a:latin typeface="Calibri"/>
              </a:defRPr>
            </a:pPr>
            <a:r>
              <a:t>Every decision has a cost. A senior engineer is defined by the tradeoffs they can explicitly defend.</a:t>
            </a:r>
          </a:p>
        </p:txBody>
      </p:sp>
      <p:sp>
        <p:nvSpPr>
          <p:cNvPr id="3" name="TextBox 2"/>
          <p:cNvSpPr txBox="1"/>
          <p:nvPr/>
        </p:nvSpPr>
        <p:spPr>
          <a:xfrm>
            <a:off x="731520" y="6400800"/>
            <a:ext cx="10728655" cy="320040"/>
          </a:xfrm>
          <a:prstGeom prst="rect">
            <a:avLst/>
          </a:prstGeom>
          <a:noFill/>
        </p:spPr>
        <p:txBody>
          <a:bodyPr wrap="none" lIns="0" tIns="0" rIns="0" bIns="0">
            <a:spAutoFit/>
          </a:bodyPr>
          <a:lstStyle/>
          <a:p>
            <a:pPr>
              <a:defRPr sz="950" b="1">
                <a:solidFill>
                  <a:srgbClr val="5C5950"/>
                </a:solidFill>
                <a:latin typeface="Calibri"/>
              </a:defRPr>
            </a:pPr>
            <a:r>
              <a:t>ALANDAS TEA BERLIN  •  TIERED REVENUE ARCHITECTURE  |  SLIDE 18 OF 19</a:t>
            </a:r>
          </a:p>
        </p:txBody>
      </p:sp>
      <p:sp>
        <p:nvSpPr>
          <p:cNvPr id="4" name="Rounded Rectangle 3"/>
          <p:cNvSpPr/>
          <p:nvPr/>
        </p:nvSpPr>
        <p:spPr>
          <a:xfrm>
            <a:off x="731520" y="1828800"/>
            <a:ext cx="5193792" cy="2103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029968"/>
            <a:ext cx="4754880" cy="1700784"/>
          </a:xfrm>
          <a:prstGeom prst="rect">
            <a:avLst/>
          </a:prstGeom>
          <a:noFill/>
        </p:spPr>
        <p:txBody>
          <a:bodyPr wrap="square" lIns="0" tIns="0" rIns="0" bIns="0">
            <a:spAutoFit/>
          </a:bodyPr>
          <a:lstStyle/>
          <a:p>
            <a:pPr>
              <a:spcAft>
                <a:spcPts val="400"/>
              </a:spcAft>
              <a:defRPr sz="1100" b="1">
                <a:solidFill>
                  <a:srgbClr val="444C32"/>
                </a:solidFill>
                <a:latin typeface="Calibri"/>
              </a:defRPr>
            </a:pPr>
            <a:r>
              <a:t>DECISION 01</a:t>
            </a:r>
          </a:p>
          <a:p>
            <a:pPr>
              <a:spcAft>
                <a:spcPts val="800"/>
              </a:spcAft>
              <a:defRPr sz="1600" b="1">
                <a:solidFill>
                  <a:srgbClr val="181916"/>
                </a:solidFill>
                <a:latin typeface="Georgia"/>
              </a:defRPr>
            </a:pPr>
            <a:r>
              <a:t>Temporal vs. n8n</a:t>
            </a:r>
          </a:p>
          <a:p>
            <a:pPr>
              <a:spcAft>
                <a:spcPts val="500"/>
              </a:spcAft>
              <a:defRPr sz="1100">
                <a:solidFill>
                  <a:srgbClr val="5C5950"/>
                </a:solidFill>
                <a:latin typeface="Calibri"/>
              </a:defRPr>
            </a:pPr>
            <a:r>
              <a:t>•  Tradeoff: Temporal requires writing code; n8n has a visual UI.</a:t>
            </a:r>
          </a:p>
          <a:p>
            <a:pPr>
              <a:spcAft>
                <a:spcPts val="500"/>
              </a:spcAft>
              <a:defRPr sz="1100">
                <a:solidFill>
                  <a:srgbClr val="5C5950"/>
                </a:solidFill>
                <a:latin typeface="Calibri"/>
              </a:defRPr>
            </a:pPr>
            <a:r>
              <a:t>•  Defense: Revenue operations require true durability. An unhandled error in n8n drops state. Temporal's append-only event log guarantees zero lost invoices and deterministic replay.</a:t>
            </a:r>
          </a:p>
        </p:txBody>
      </p:sp>
      <p:sp>
        <p:nvSpPr>
          <p:cNvPr id="6" name="Rounded Rectangle 5"/>
          <p:cNvSpPr/>
          <p:nvPr/>
        </p:nvSpPr>
        <p:spPr>
          <a:xfrm>
            <a:off x="6263640" y="1828800"/>
            <a:ext cx="5193792" cy="2103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3096" y="2029968"/>
            <a:ext cx="4754880" cy="1700784"/>
          </a:xfrm>
          <a:prstGeom prst="rect">
            <a:avLst/>
          </a:prstGeom>
          <a:noFill/>
        </p:spPr>
        <p:txBody>
          <a:bodyPr wrap="square" lIns="0" tIns="0" rIns="0" bIns="0">
            <a:spAutoFit/>
          </a:bodyPr>
          <a:lstStyle/>
          <a:p>
            <a:pPr>
              <a:spcAft>
                <a:spcPts val="400"/>
              </a:spcAft>
              <a:defRPr sz="1100" b="1">
                <a:solidFill>
                  <a:srgbClr val="C48737"/>
                </a:solidFill>
                <a:latin typeface="Calibri"/>
              </a:defRPr>
            </a:pPr>
            <a:r>
              <a:t>DECISION 02</a:t>
            </a:r>
          </a:p>
          <a:p>
            <a:pPr>
              <a:spcAft>
                <a:spcPts val="800"/>
              </a:spcAft>
              <a:defRPr sz="1600" b="1">
                <a:solidFill>
                  <a:srgbClr val="181916"/>
                </a:solidFill>
                <a:latin typeface="Georgia"/>
              </a:defRPr>
            </a:pPr>
            <a:r>
              <a:t>Direct APIs vs. MCP in Tiers 1–2</a:t>
            </a:r>
          </a:p>
          <a:p>
            <a:pPr>
              <a:spcAft>
                <a:spcPts val="500"/>
              </a:spcAft>
              <a:defRPr sz="1100">
                <a:solidFill>
                  <a:srgbClr val="5C5950"/>
                </a:solidFill>
                <a:latin typeface="Calibri"/>
              </a:defRPr>
            </a:pPr>
            <a:r>
              <a:t>•  Tradeoff: Direct API clients are tightly coupled; MCP standardizes tool protocols.</a:t>
            </a:r>
          </a:p>
          <a:p>
            <a:pPr>
              <a:spcAft>
                <a:spcPts val="500"/>
              </a:spcAft>
              <a:defRPr sz="1100">
                <a:solidFill>
                  <a:srgbClr val="5C5950"/>
                </a:solidFill>
                <a:latin typeface="Calibri"/>
              </a:defRPr>
            </a:pPr>
            <a:r>
              <a:t>•  Defense: Direct APIs have zero protocol overhead, simpler debugging, and strict type safety. MCP adds value in Tier 3 dynamic discovery, but is unnecessary overhead in Tier 1.</a:t>
            </a:r>
          </a:p>
        </p:txBody>
      </p:sp>
      <p:sp>
        <p:nvSpPr>
          <p:cNvPr id="8" name="Rounded Rectangle 7"/>
          <p:cNvSpPr/>
          <p:nvPr/>
        </p:nvSpPr>
        <p:spPr>
          <a:xfrm>
            <a:off x="731520" y="4114800"/>
            <a:ext cx="5193792" cy="2103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50976" y="4315968"/>
            <a:ext cx="4754880" cy="1700784"/>
          </a:xfrm>
          <a:prstGeom prst="rect">
            <a:avLst/>
          </a:prstGeom>
          <a:noFill/>
        </p:spPr>
        <p:txBody>
          <a:bodyPr wrap="square" lIns="0" tIns="0" rIns="0" bIns="0">
            <a:spAutoFit/>
          </a:bodyPr>
          <a:lstStyle/>
          <a:p>
            <a:pPr>
              <a:spcAft>
                <a:spcPts val="400"/>
              </a:spcAft>
              <a:defRPr sz="1100" b="1">
                <a:solidFill>
                  <a:srgbClr val="2F5339"/>
                </a:solidFill>
                <a:latin typeface="Calibri"/>
              </a:defRPr>
            </a:pPr>
            <a:r>
              <a:t>DECISION 03</a:t>
            </a:r>
          </a:p>
          <a:p>
            <a:pPr>
              <a:spcAft>
                <a:spcPts val="800"/>
              </a:spcAft>
              <a:defRPr sz="1600" b="1">
                <a:solidFill>
                  <a:srgbClr val="181916"/>
                </a:solidFill>
                <a:latin typeface="Georgia"/>
              </a:defRPr>
            </a:pPr>
            <a:r>
              <a:t>PostgreSQL vs. Event Streaming (Kafka)</a:t>
            </a:r>
          </a:p>
          <a:p>
            <a:pPr>
              <a:spcAft>
                <a:spcPts val="500"/>
              </a:spcAft>
              <a:defRPr sz="1100">
                <a:solidFill>
                  <a:srgbClr val="5C5950"/>
                </a:solidFill>
                <a:latin typeface="Calibri"/>
              </a:defRPr>
            </a:pPr>
            <a:r>
              <a:t>•  Tradeoff: Postgres is relational; Kafka handles massive distributed streaming.</a:t>
            </a:r>
          </a:p>
          <a:p>
            <a:pPr>
              <a:spcAft>
                <a:spcPts val="500"/>
              </a:spcAft>
              <a:defRPr sz="1100">
                <a:solidFill>
                  <a:srgbClr val="5C5950"/>
                </a:solidFill>
                <a:latin typeface="Calibri"/>
              </a:defRPr>
            </a:pPr>
            <a:r>
              <a:t>•  Defense: Alandas' target is 100 accounts (~500 transactions/mo). PostgreSQL ACID transactions and JSONB state easily scale to 50,000 accounts without distributed Kafka complexity.</a:t>
            </a:r>
          </a:p>
        </p:txBody>
      </p:sp>
      <p:sp>
        <p:nvSpPr>
          <p:cNvPr id="10" name="Rounded Rectangle 9"/>
          <p:cNvSpPr/>
          <p:nvPr/>
        </p:nvSpPr>
        <p:spPr>
          <a:xfrm>
            <a:off x="6263640" y="4114800"/>
            <a:ext cx="5193792" cy="2103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4315968"/>
            <a:ext cx="4754880" cy="1700784"/>
          </a:xfrm>
          <a:prstGeom prst="rect">
            <a:avLst/>
          </a:prstGeom>
          <a:noFill/>
        </p:spPr>
        <p:txBody>
          <a:bodyPr wrap="square" lIns="0" tIns="0" rIns="0" bIns="0">
            <a:spAutoFit/>
          </a:bodyPr>
          <a:lstStyle/>
          <a:p>
            <a:pPr>
              <a:spcAft>
                <a:spcPts val="400"/>
              </a:spcAft>
              <a:defRPr sz="1100" b="1">
                <a:solidFill>
                  <a:srgbClr val="444C32"/>
                </a:solidFill>
                <a:latin typeface="Calibri"/>
              </a:defRPr>
            </a:pPr>
            <a:r>
              <a:t>DECISION 04</a:t>
            </a:r>
          </a:p>
          <a:p>
            <a:pPr>
              <a:spcAft>
                <a:spcPts val="800"/>
              </a:spcAft>
              <a:defRPr sz="1600" b="1">
                <a:solidFill>
                  <a:srgbClr val="181916"/>
                </a:solidFill>
                <a:latin typeface="Georgia"/>
              </a:defRPr>
            </a:pPr>
            <a:r>
              <a:t>Selective LangGraph vs. Whole-App Graphs</a:t>
            </a:r>
          </a:p>
          <a:p>
            <a:pPr>
              <a:spcAft>
                <a:spcPts val="500"/>
              </a:spcAft>
              <a:defRPr sz="1100">
                <a:solidFill>
                  <a:srgbClr val="5C5950"/>
                </a:solidFill>
                <a:latin typeface="Calibri"/>
              </a:defRPr>
            </a:pPr>
            <a:r>
              <a:t>•  Tradeoff: LangGraph gives cyclic graph control; Temporal gives durable execution.</a:t>
            </a:r>
          </a:p>
          <a:p>
            <a:pPr>
              <a:spcAft>
                <a:spcPts val="500"/>
              </a:spcAft>
              <a:defRPr sz="1100">
                <a:solidFill>
                  <a:srgbClr val="5C5950"/>
                </a:solidFill>
                <a:latin typeface="Calibri"/>
              </a:defRPr>
            </a:pPr>
            <a:r>
              <a:t>•  Defense: LangGraph is brilliant for bounded multi-turn reflection (e.g., evaluating an ad draft). Temporal acts as the parent orchestrator; LangGraph runs inside an Activity.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6F0"/>
        </a:solidFill>
        <a:effectLst/>
      </p:bgPr>
    </p:bg>
    <p:spTree>
      <p:nvGrpSpPr>
        <p:cNvPr id="1" name=""/>
        <p:cNvGrpSpPr/>
        <p:nvPr/>
      </p:nvGrpSpPr>
      <p:grpSpPr/>
      <p:sp>
        <p:nvSpPr>
          <p:cNvPr id="2" name="TextBox 1"/>
          <p:cNvSpPr txBox="1"/>
          <p:nvPr/>
        </p:nvSpPr>
        <p:spPr>
          <a:xfrm>
            <a:off x="731520" y="365760"/>
            <a:ext cx="10728655" cy="1280160"/>
          </a:xfrm>
          <a:prstGeom prst="rect">
            <a:avLst/>
          </a:prstGeom>
          <a:noFill/>
        </p:spPr>
        <p:txBody>
          <a:bodyPr wrap="square" lIns="0" tIns="0" rIns="0" bIns="0">
            <a:spAutoFit/>
          </a:bodyPr>
          <a:lstStyle/>
          <a:p>
            <a:pPr>
              <a:spcAft>
                <a:spcPts val="400"/>
              </a:spcAft>
              <a:defRPr sz="1150" b="1">
                <a:solidFill>
                  <a:srgbClr val="444C32"/>
                </a:solidFill>
                <a:latin typeface="Calibri"/>
              </a:defRPr>
            </a:pPr>
            <a:r>
              <a:t>18 // EXECUTION ROADMAP</a:t>
            </a:r>
          </a:p>
          <a:p>
            <a:pPr>
              <a:spcAft>
                <a:spcPts val="400"/>
              </a:spcAft>
              <a:defRPr sz="2800" b="1">
                <a:solidFill>
                  <a:srgbClr val="181916"/>
                </a:solidFill>
                <a:latin typeface="Georgia"/>
              </a:defRPr>
            </a:pPr>
            <a:r>
              <a:t>The Alandas Roadmap: Starting Tier 1 Today</a:t>
            </a:r>
          </a:p>
          <a:p>
            <a:pPr>
              <a:defRPr sz="1350">
                <a:solidFill>
                  <a:srgbClr val="5C5950"/>
                </a:solidFill>
                <a:latin typeface="Calibri"/>
              </a:defRPr>
            </a:pPr>
            <a:r>
              <a:t>Stabilize operations at Tier 1 immediately, scale to 50 accounts with Tier 2, and unlock 100 accounts full-time freedom with Tier 3.</a:t>
            </a:r>
          </a:p>
        </p:txBody>
      </p:sp>
      <p:sp>
        <p:nvSpPr>
          <p:cNvPr id="3" name="TextBox 2"/>
          <p:cNvSpPr txBox="1"/>
          <p:nvPr/>
        </p:nvSpPr>
        <p:spPr>
          <a:xfrm>
            <a:off x="731520" y="6400800"/>
            <a:ext cx="10728655" cy="320040"/>
          </a:xfrm>
          <a:prstGeom prst="rect">
            <a:avLst/>
          </a:prstGeom>
          <a:noFill/>
        </p:spPr>
        <p:txBody>
          <a:bodyPr wrap="none" lIns="0" tIns="0" rIns="0" bIns="0">
            <a:spAutoFit/>
          </a:bodyPr>
          <a:lstStyle/>
          <a:p>
            <a:pPr>
              <a:defRPr sz="950" b="1">
                <a:solidFill>
                  <a:srgbClr val="5C5950"/>
                </a:solidFill>
                <a:latin typeface="Calibri"/>
              </a:defRPr>
            </a:pPr>
            <a:r>
              <a:t>ALANDAS TEA BERLIN  •  TIERED REVENUE ARCHITECTURE  |  SLIDE 19 OF 19</a:t>
            </a:r>
          </a:p>
        </p:txBody>
      </p:sp>
      <p:sp>
        <p:nvSpPr>
          <p:cNvPr id="4" name="Rounded Rectangle 3"/>
          <p:cNvSpPr/>
          <p:nvPr/>
        </p:nvSpPr>
        <p:spPr>
          <a:xfrm>
            <a:off x="731520" y="1828800"/>
            <a:ext cx="3383280"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50976" y="2029968"/>
            <a:ext cx="2944368" cy="3986784"/>
          </a:xfrm>
          <a:prstGeom prst="rect">
            <a:avLst/>
          </a:prstGeom>
          <a:noFill/>
        </p:spPr>
        <p:txBody>
          <a:bodyPr wrap="square" lIns="0" tIns="0" rIns="0" bIns="0">
            <a:spAutoFit/>
          </a:bodyPr>
          <a:lstStyle/>
          <a:p>
            <a:pPr>
              <a:spcAft>
                <a:spcPts val="400"/>
              </a:spcAft>
              <a:defRPr sz="1100" b="1">
                <a:solidFill>
                  <a:srgbClr val="444C32"/>
                </a:solidFill>
                <a:latin typeface="Calibri"/>
              </a:defRPr>
            </a:pPr>
            <a:r>
              <a:t>MONTHS 1–3 // START TODAY</a:t>
            </a:r>
          </a:p>
          <a:p>
            <a:pPr>
              <a:spcAft>
                <a:spcPts val="800"/>
              </a:spcAft>
              <a:defRPr sz="1800" b="1">
                <a:solidFill>
                  <a:srgbClr val="181916"/>
                </a:solidFill>
                <a:latin typeface="Georgia"/>
              </a:defRPr>
            </a:pPr>
            <a:r>
              <a:t>Sprint 1: Tier 1 Launch</a:t>
            </a:r>
          </a:p>
          <a:p>
            <a:pPr>
              <a:spcAft>
                <a:spcPts val="500"/>
              </a:spcAft>
              <a:defRPr sz="1150">
                <a:solidFill>
                  <a:srgbClr val="5C5950"/>
                </a:solidFill>
                <a:latin typeface="Calibri"/>
              </a:defRPr>
            </a:pPr>
            <a:r>
              <a:t>•  Target: 25 ➔ 40 Active Accounts (€5k/mo)</a:t>
            </a:r>
          </a:p>
          <a:p>
            <a:pPr>
              <a:spcAft>
                <a:spcPts val="500"/>
              </a:spcAft>
              <a:defRPr sz="1150">
                <a:solidFill>
                  <a:srgbClr val="5C5950"/>
                </a:solidFill>
                <a:latin typeface="Calibri"/>
              </a:defRPr>
            </a:pPr>
            <a:r>
              <a:t>•  Stabilize Dolibarr CRM with automated daily cloud backups.</a:t>
            </a:r>
          </a:p>
          <a:p>
            <a:pPr>
              <a:spcAft>
                <a:spcPts val="500"/>
              </a:spcAft>
              <a:defRPr sz="1150">
                <a:solidFill>
                  <a:srgbClr val="5C5950"/>
                </a:solidFill>
                <a:latin typeface="Calibri"/>
              </a:defRPr>
            </a:pPr>
            <a:r>
              <a:t>•  Restore Hermes AI WhatsApp order parsing with deterministic rules.</a:t>
            </a:r>
          </a:p>
          <a:p>
            <a:pPr>
              <a:spcAft>
                <a:spcPts val="500"/>
              </a:spcAft>
              <a:defRPr sz="1150">
                <a:solidFill>
                  <a:srgbClr val="5C5950"/>
                </a:solidFill>
                <a:latin typeface="Calibri"/>
              </a:defRPr>
            </a:pPr>
            <a:r>
              <a:t>•  Deploy OpenReply Instagram comment-to-DM loop on B2B page.</a:t>
            </a:r>
          </a:p>
          <a:p>
            <a:pPr>
              <a:spcAft>
                <a:spcPts val="500"/>
              </a:spcAft>
              <a:defRPr sz="1150">
                <a:solidFill>
                  <a:srgbClr val="5C5950"/>
                </a:solidFill>
                <a:latin typeface="Calibri"/>
              </a:defRPr>
            </a:pPr>
            <a:r>
              <a:t>•  Standardize €19 discovery kit featuring shatter-resistant teapot.</a:t>
            </a:r>
          </a:p>
          <a:p>
            <a:pPr>
              <a:spcAft>
                <a:spcPts val="500"/>
              </a:spcAft>
              <a:defRPr sz="1150">
                <a:solidFill>
                  <a:srgbClr val="5C5950"/>
                </a:solidFill>
                <a:latin typeface="Calibri"/>
              </a:defRPr>
            </a:pPr>
            <a:r>
              <a:t>•  Sidy handles 10–20 WhatsApp chats daily with AI drafting.</a:t>
            </a:r>
          </a:p>
        </p:txBody>
      </p:sp>
      <p:sp>
        <p:nvSpPr>
          <p:cNvPr id="6" name="Rounded Rectangle 5"/>
          <p:cNvSpPr/>
          <p:nvPr/>
        </p:nvSpPr>
        <p:spPr>
          <a:xfrm>
            <a:off x="4403750" y="1828800"/>
            <a:ext cx="3383280"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23206" y="2029968"/>
            <a:ext cx="2944368" cy="3986784"/>
          </a:xfrm>
          <a:prstGeom prst="rect">
            <a:avLst/>
          </a:prstGeom>
          <a:noFill/>
        </p:spPr>
        <p:txBody>
          <a:bodyPr wrap="square" lIns="0" tIns="0" rIns="0" bIns="0">
            <a:spAutoFit/>
          </a:bodyPr>
          <a:lstStyle/>
          <a:p>
            <a:pPr>
              <a:spcAft>
                <a:spcPts val="400"/>
              </a:spcAft>
              <a:defRPr sz="1100" b="1">
                <a:solidFill>
                  <a:srgbClr val="C48737"/>
                </a:solidFill>
                <a:latin typeface="Calibri"/>
              </a:defRPr>
            </a:pPr>
            <a:r>
              <a:t>MONTHS 4–6 // SCALING UP</a:t>
            </a:r>
          </a:p>
          <a:p>
            <a:pPr>
              <a:spcAft>
                <a:spcPts val="800"/>
              </a:spcAft>
              <a:defRPr sz="1800" b="1">
                <a:solidFill>
                  <a:srgbClr val="181916"/>
                </a:solidFill>
                <a:latin typeface="Georgia"/>
              </a:defRPr>
            </a:pPr>
            <a:r>
              <a:t>Sprint 2: Tier 2 Governance</a:t>
            </a:r>
          </a:p>
          <a:p>
            <a:pPr>
              <a:spcAft>
                <a:spcPts val="500"/>
              </a:spcAft>
              <a:defRPr sz="1150">
                <a:solidFill>
                  <a:srgbClr val="5C5950"/>
                </a:solidFill>
                <a:latin typeface="Calibri"/>
              </a:defRPr>
            </a:pPr>
            <a:r>
              <a:t>•  Target: 40 ➔ 70 Active Accounts (€12k/mo)</a:t>
            </a:r>
          </a:p>
          <a:p>
            <a:pPr>
              <a:spcAft>
                <a:spcPts val="500"/>
              </a:spcAft>
              <a:defRPr sz="1150">
                <a:solidFill>
                  <a:srgbClr val="5C5950"/>
                </a:solidFill>
                <a:latin typeface="Calibri"/>
              </a:defRPr>
            </a:pPr>
            <a:r>
              <a:t>•  Deploy Policy Engine &amp; Decision Contracts for Meta ad spend.</a:t>
            </a:r>
          </a:p>
          <a:p>
            <a:pPr>
              <a:spcAft>
                <a:spcPts val="500"/>
              </a:spcAft>
              <a:defRPr sz="1150">
                <a:solidFill>
                  <a:srgbClr val="5C5950"/>
                </a:solidFill>
                <a:latin typeface="Calibri"/>
              </a:defRPr>
            </a:pPr>
            <a:r>
              <a:t>•  Automate Day-25 predictive refills via Dolibarr WhatsApp alerts.</a:t>
            </a:r>
          </a:p>
          <a:p>
            <a:pPr>
              <a:spcAft>
                <a:spcPts val="500"/>
              </a:spcAft>
              <a:defRPr sz="1150">
                <a:solidFill>
                  <a:srgbClr val="5C5950"/>
                </a:solidFill>
                <a:latin typeface="Calibri"/>
              </a:defRPr>
            </a:pPr>
            <a:r>
              <a:t>•  Add OpenTelemetry tracing &amp; audit log for all AI decisions.</a:t>
            </a:r>
          </a:p>
          <a:p>
            <a:pPr>
              <a:spcAft>
                <a:spcPts val="500"/>
              </a:spcAft>
              <a:defRPr sz="1150">
                <a:solidFill>
                  <a:srgbClr val="5C5950"/>
                </a:solidFill>
                <a:latin typeface="Calibri"/>
              </a:defRPr>
            </a:pPr>
            <a:r>
              <a:t>•  Deploy barista table talkers and QR counter refill portals.</a:t>
            </a:r>
          </a:p>
          <a:p>
            <a:pPr>
              <a:spcAft>
                <a:spcPts val="500"/>
              </a:spcAft>
              <a:defRPr sz="1150">
                <a:solidFill>
                  <a:srgbClr val="5C5950"/>
                </a:solidFill>
                <a:latin typeface="Calibri"/>
              </a:defRPr>
            </a:pPr>
            <a:r>
              <a:t>•  Sidy reduces administrative hours to &lt; 4 hours/week.</a:t>
            </a:r>
          </a:p>
        </p:txBody>
      </p:sp>
      <p:sp>
        <p:nvSpPr>
          <p:cNvPr id="8" name="Rounded Rectangle 7"/>
          <p:cNvSpPr/>
          <p:nvPr/>
        </p:nvSpPr>
        <p:spPr>
          <a:xfrm>
            <a:off x="8075980" y="1828800"/>
            <a:ext cx="3383280" cy="4389120"/>
          </a:xfrm>
          <a:prstGeom prst="roundRect">
            <a:avLst/>
          </a:prstGeom>
          <a:solidFill>
            <a:srgbClr val="FFFFFF"/>
          </a:solidFill>
          <a:ln w="12700">
            <a:solidFill>
              <a:srgbClr val="E4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95436" y="2029968"/>
            <a:ext cx="2944368" cy="3986784"/>
          </a:xfrm>
          <a:prstGeom prst="rect">
            <a:avLst/>
          </a:prstGeom>
          <a:noFill/>
        </p:spPr>
        <p:txBody>
          <a:bodyPr wrap="square" lIns="0" tIns="0" rIns="0" bIns="0">
            <a:spAutoFit/>
          </a:bodyPr>
          <a:lstStyle/>
          <a:p>
            <a:pPr>
              <a:spcAft>
                <a:spcPts val="400"/>
              </a:spcAft>
              <a:defRPr sz="1100" b="1">
                <a:solidFill>
                  <a:srgbClr val="2F5339"/>
                </a:solidFill>
                <a:latin typeface="Calibri"/>
              </a:defRPr>
            </a:pPr>
            <a:r>
              <a:t>MONTHS 7–12 // FULL FREEDOM</a:t>
            </a:r>
          </a:p>
          <a:p>
            <a:pPr>
              <a:spcAft>
                <a:spcPts val="800"/>
              </a:spcAft>
              <a:defRPr sz="1800" b="1">
                <a:solidFill>
                  <a:srgbClr val="181916"/>
                </a:solidFill>
                <a:latin typeface="Georgia"/>
              </a:defRPr>
            </a:pPr>
            <a:r>
              <a:t>Sprint 3: Tier 3 Platform</a:t>
            </a:r>
          </a:p>
          <a:p>
            <a:pPr>
              <a:spcAft>
                <a:spcPts val="500"/>
              </a:spcAft>
              <a:defRPr sz="1150">
                <a:solidFill>
                  <a:srgbClr val="5C5950"/>
                </a:solidFill>
                <a:latin typeface="Calibri"/>
              </a:defRPr>
            </a:pPr>
            <a:r>
              <a:t>•  Target: 100 Active Accounts (€20k–€30k/mo)</a:t>
            </a:r>
          </a:p>
          <a:p>
            <a:pPr>
              <a:spcAft>
                <a:spcPts val="500"/>
              </a:spcAft>
              <a:defRPr sz="1150">
                <a:solidFill>
                  <a:srgbClr val="5C5950"/>
                </a:solidFill>
                <a:latin typeface="Calibri"/>
              </a:defRPr>
            </a:pPr>
            <a:r>
              <a:t>•  Closed-loop revenue flywheel: LTV data drives Meta ad creative.</a:t>
            </a:r>
          </a:p>
          <a:p>
            <a:pPr>
              <a:spcAft>
                <a:spcPts val="500"/>
              </a:spcAft>
              <a:defRPr sz="1150">
                <a:solidFill>
                  <a:srgbClr val="5C5950"/>
                </a:solidFill>
                <a:latin typeface="Calibri"/>
              </a:defRPr>
            </a:pPr>
            <a:r>
              <a:t>•  MCP capability layer connects multi-city logistics and warehouse.</a:t>
            </a:r>
          </a:p>
          <a:p>
            <a:pPr>
              <a:spcAft>
                <a:spcPts val="500"/>
              </a:spcAft>
              <a:defRPr sz="1150">
                <a:solidFill>
                  <a:srgbClr val="5C5950"/>
                </a:solidFill>
                <a:latin typeface="Calibri"/>
              </a:defRPr>
            </a:pPr>
            <a:r>
              <a:t>•  Multi-agent coordination across Germany, Austria &amp; Switzerland.</a:t>
            </a:r>
          </a:p>
          <a:p>
            <a:pPr>
              <a:spcAft>
                <a:spcPts val="500"/>
              </a:spcAft>
              <a:defRPr sz="1150">
                <a:solidFill>
                  <a:srgbClr val="5C5950"/>
                </a:solidFill>
                <a:latin typeface="Calibri"/>
              </a:defRPr>
            </a:pPr>
            <a:r>
              <a:t>•  Predictable recurring gross margin of €15,000–€30,000/month.</a:t>
            </a:r>
          </a:p>
          <a:p>
            <a:pPr>
              <a:spcAft>
                <a:spcPts val="500"/>
              </a:spcAft>
              <a:defRPr sz="1150">
                <a:solidFill>
                  <a:srgbClr val="5C5950"/>
                </a:solidFill>
                <a:latin typeface="Calibri"/>
              </a:defRPr>
            </a:pPr>
            <a:r>
              <a:t>•  Sidy quits Swiss job to be his own boss 100% full-time.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