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85800"/>
            <a:ext cx="5943600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ALANDAS TEA BERLIN // STRATEGIC ROADMAP</a:t>
            </a:r>
          </a:p>
          <a:p>
            <a:pPr>
              <a:spcAft>
                <a:spcPts val="800"/>
              </a:spcAft>
              <a:defRPr sz="3600" b="1">
                <a:solidFill>
                  <a:srgbClr val="181916"/>
                </a:solidFill>
                <a:latin typeface="Georgia"/>
              </a:defRPr>
            </a:pPr>
            <a:r>
              <a:t>The Path from 25 to 100 Cafes</a:t>
            </a:r>
          </a:p>
          <a:p>
            <a:pPr>
              <a:defRPr sz="1350">
                <a:solidFill>
                  <a:srgbClr val="545148"/>
                </a:solidFill>
                <a:latin typeface="Calibri"/>
              </a:defRPr>
            </a:pPr>
            <a:r>
              <a:t>A plain-English strategic blueprint for Sidy Sow: How we automate sales grunt work, protect brand integrity, scale predictable wholesale reorders, and get you back to being your own boss full-time.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4114800"/>
            <a:ext cx="1645920" cy="173736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4206240"/>
            <a:ext cx="142646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444C32"/>
                </a:solidFill>
                <a:latin typeface="Calibri"/>
              </a:defRPr>
            </a:pPr>
            <a:r>
              <a:t>THE TARGET</a:t>
            </a:r>
          </a:p>
          <a:p>
            <a:pPr>
              <a:spcAft>
                <a:spcPts val="300"/>
              </a:spcAft>
              <a:defRPr sz="1200" b="1">
                <a:solidFill>
                  <a:srgbClr val="181916"/>
                </a:solidFill>
                <a:latin typeface="Georgia"/>
              </a:defRPr>
            </a:pPr>
            <a:r>
              <a:t>100 Partner Cafes</a:t>
            </a:r>
          </a:p>
          <a:p>
            <a:pPr>
              <a:defRPr sz="1000">
                <a:solidFill>
                  <a:srgbClr val="545148"/>
                </a:solidFill>
                <a:latin typeface="Calibri"/>
              </a:defRPr>
            </a:pPr>
            <a:r>
              <a:t>€15k–€30k/mo predictable income so Sidy quits his Swiss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4114800"/>
            <a:ext cx="1645920" cy="173736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0088" y="4206240"/>
            <a:ext cx="142646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C48737"/>
                </a:solidFill>
                <a:latin typeface="Calibri"/>
              </a:defRPr>
            </a:pPr>
            <a:r>
              <a:t>THE ENGINE</a:t>
            </a:r>
          </a:p>
          <a:p>
            <a:pPr>
              <a:spcAft>
                <a:spcPts val="300"/>
              </a:spcAft>
              <a:defRPr sz="1200" b="1">
                <a:solidFill>
                  <a:srgbClr val="181916"/>
                </a:solidFill>
                <a:latin typeface="Georgia"/>
              </a:defRPr>
            </a:pPr>
            <a:r>
              <a:t>24/7 Digital Copilot</a:t>
            </a:r>
          </a:p>
          <a:p>
            <a:pPr>
              <a:defRPr sz="1000">
                <a:solidFill>
                  <a:srgbClr val="545148"/>
                </a:solidFill>
                <a:latin typeface="Calibri"/>
              </a:defRPr>
            </a:pPr>
            <a:r>
              <a:t>Scrapes cafe leads, drafts pitches, deciphers order note photos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4114800"/>
            <a:ext cx="1645920" cy="1737360"/>
          </a:xfrm>
          <a:prstGeom prst="roundRect">
            <a:avLst/>
          </a:prstGeom>
          <a:solidFill>
            <a:srgbClr val="F4EFE6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4206240"/>
            <a:ext cx="1426464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F5339"/>
                </a:solidFill>
                <a:latin typeface="Calibri"/>
              </a:defRPr>
            </a:pPr>
            <a:r>
              <a:t>THE CONTROL</a:t>
            </a:r>
          </a:p>
          <a:p>
            <a:pPr>
              <a:spcAft>
                <a:spcPts val="300"/>
              </a:spcAft>
              <a:defRPr sz="1200" b="1">
                <a:solidFill>
                  <a:srgbClr val="181916"/>
                </a:solidFill>
                <a:latin typeface="Georgia"/>
              </a:defRPr>
            </a:pPr>
            <a:r>
              <a:t>3 Governed Tiers</a:t>
            </a:r>
          </a:p>
          <a:p>
            <a:pPr>
              <a:defRPr sz="1000">
                <a:solidFill>
                  <a:srgbClr val="545148"/>
                </a:solidFill>
                <a:latin typeface="Calibri"/>
              </a:defRPr>
            </a:pPr>
            <a:r>
              <a:t>Sidy retains 100% authority via WhatsApp; zero brand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685800"/>
            <a:ext cx="4553712" cy="5486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andas_trial_teapot_k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868680"/>
            <a:ext cx="4187952" cy="31270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86600" y="4160520"/>
            <a:ext cx="418795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THE B2B CONVERSION WEAPON // €19 TRIAL KIT</a:t>
            </a:r>
          </a:p>
          <a:p>
            <a:pPr>
              <a:spcAft>
                <a:spcPts val="3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Borosilicate Teapot + 4 Signature Blends</a:t>
            </a:r>
          </a:p>
          <a:p>
            <a:pPr>
              <a:defRPr sz="1150">
                <a:solidFill>
                  <a:srgbClr val="545148"/>
                </a:solidFill>
                <a:latin typeface="Calibri"/>
              </a:defRPr>
            </a:pPr>
            <a:r>
              <a:t>The physical Trojan Horse that turns cold Berlin cafes into lifelong wholesale accounts. 100% of the €19 is credited back on their first commercial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01 // THE BIG PICTURE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Why Are We Doing This? Sidy's Reality vs. The Goal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Sidy imports exceptional organic tea, but current manual operations demand too much time for too little cashflow.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02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303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4791456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CURRENT REALITY // THE FOUNDER'S TRAP</a:t>
            </a:r>
          </a:p>
          <a:p>
            <a:pPr>
              <a:spcAft>
                <a:spcPts val="600"/>
              </a:spcAft>
              <a:defRPr sz="1900" b="1">
                <a:solidFill>
                  <a:srgbClr val="181916"/>
                </a:solidFill>
                <a:latin typeface="Georgia"/>
              </a:defRPr>
            </a:pPr>
            <a:r>
              <a:t>Why Sidy Is Stuck in a Day Job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High Swiss Living Costs: Moved to Switzerland; tea business doesn't yet yield steady monthly cashflow to live on.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Exhausting Day Job: Working for a Norwegian firm: 'It's been a long walk... I'm tired. I want to become again my own boss.'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25 Happy Accounts Capped: Has ~25 great cafes buying regularly, but customer acquisition is stalled due to lack of time.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Manual Friction: Sidy spends evenings manually messaging cafes on Instagram and deciphering crumpled paper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645920"/>
            <a:ext cx="52303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47088"/>
            <a:ext cx="4791456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THE TARGET // THE 100-CAFE EQUATION</a:t>
            </a:r>
          </a:p>
          <a:p>
            <a:pPr>
              <a:spcAft>
                <a:spcPts val="600"/>
              </a:spcAft>
              <a:defRPr sz="1900" b="1">
                <a:solidFill>
                  <a:srgbClr val="181916"/>
                </a:solidFill>
                <a:latin typeface="Georgia"/>
              </a:defRPr>
            </a:pPr>
            <a:r>
              <a:t>What 100 Accounts Actually Unlocks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100 Cafes @ €200–€350 / Month: Generates €15,000 to €30,000 every month in predictable wholesale revenue.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90%+ Gross Margin: Premium tea carries extraordinary margins when shipped directly in wholesale volume.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Full-Time Freedom: Sidy hands in his notice in Switzerland and returns to Berlin as his own full-time boss.</a:t>
            </a:r>
          </a:p>
          <a:p>
            <a:pPr>
              <a:spcAft>
                <a:spcPts val="500"/>
              </a:spcAft>
              <a:defRPr sz="1250">
                <a:solidFill>
                  <a:srgbClr val="545148"/>
                </a:solidFill>
                <a:latin typeface="Calibri"/>
              </a:defRPr>
            </a:pPr>
            <a:r>
              <a:t>•  Zero Additional Headcount: Operates the entire 100-cafe network without hiring expensive administrative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EF2E8"/>
          </a:solidFill>
          <a:ln w="15240">
            <a:solidFill>
              <a:srgbClr val="D1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623560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44C32"/>
                </a:solidFill>
                <a:latin typeface="Calibri"/>
              </a:defRPr>
            </a:pPr>
            <a:r>
              <a:t>THE CORE METRIC: Every system and architecture tier Cyril designs serves ONE metric — Getting Sidy back to Berlin as his own full-time boss.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02 // OPERATIONAL DIAGNOSIS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The 5 Bottlenecks Holding Alandas Back Today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The exact friction points stopping Alandas from scaling from 25 to 100 cafes.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03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BOTTLENECK 01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Manual Scraping Sucks Time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Searching Google Maps &amp; digging for cafe owners burns 20+ hours every week without leverage.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4708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BOTTLENECK 02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Cafes Ignore Cold Emails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Baristas and cafe owners are busy on the floor. They run their entire business on WhatsApp.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84708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BOTTLENECK 03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Order Processing Is Messy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Crumpled paper order photos texted late at night cause invoice errors and delayed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22452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BOTTLENECK 04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Silent Cafe Churn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Cafes run out on Day 28. If Sidy doesn't text on Day 25, they panic-buy supermarket tea bags.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422452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BOTTLENECK 05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Burned by Hermes AI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Previous low-code bot crashed and wiped memory. Sidy rightly refuses fragile toys.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401568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4224528"/>
            <a:ext cx="29626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THE OPPORTUNITY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The Durable Solution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Replace manual hustle with a crash-resilient revenue machine backed by solid code and clear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03 // THE SOLUTION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What We Are Building: Your 24/7 Digital Revenue Machine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A tireless digital sales and operations assistant that handles the tedious grunt work while Sidy retains total authority.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04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THE 6-STAGE REVENUE PIPELINE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01 // DISCOVER: Scans Google Maps &amp; IG for &gt;30-seat specialty brunch cafes in Berlin &amp; Munich.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02 // ENRICH: Extracts verified owner WhatsApp numbers via German § 5 TMG Impressum for €0.00.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03 // OFFER: Pitches the €19 Teapot Starter Kit (100% credited back on wholesale crate).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04 // 1-TAP APPROVAL: AI drafts warm message; Sidy reviews on his phone &amp; taps 'Approve'.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05 // INVOICE OCR: AI deciphers handwritten barista notes into draft Dolibarr CRM invoices.</a:t>
            </a:r>
          </a:p>
          <a:p>
            <a:pPr>
              <a:spcAft>
                <a:spcPts val="800"/>
              </a:spcAft>
              <a:defRPr sz="1200">
                <a:solidFill>
                  <a:srgbClr val="181916"/>
                </a:solidFill>
                <a:latin typeface="Calibri"/>
              </a:defRPr>
            </a:pPr>
            <a:r>
              <a:t>06 // DAY-25 REFILL: Automated WhatsApp refill alert before cafes run dry, ending silent churn.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45920"/>
            <a:ext cx="427939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whatsapp_ti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37360"/>
            <a:ext cx="3090672" cy="4539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37360"/>
            <a:ext cx="40965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C48737"/>
                </a:solidFill>
                <a:latin typeface="Calibri"/>
              </a:defRPr>
            </a:pPr>
            <a:r>
              <a:t>WHAT SIDY SEES ON HIS IPHONE // 1-TAP APPROVAL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04 // ARCHITECTURAL LAW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Why 3 Tiers? 'Don't Build a Spaceship on Day 1'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We do not give AI full control on Day 1. Each tier earns complexity based on proven business scale.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05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10289743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F5339"/>
                </a:solidFill>
                <a:latin typeface="Calibri"/>
              </a:defRPr>
            </a:pPr>
            <a:r>
              <a:t>TIER 3 // AUTONOMOUS PLATFORM (100+ CAFES)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The Self-Running Business Machine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Closed-loop commercial machine across Germany, Austria &amp; Switzerland.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Cafe reorder velocity automatically triggers and refines Meta Ad experiments.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 acts as Chairman reviewing weekly revenue digests while enjoying tea.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27832"/>
            <a:ext cx="1072865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429000"/>
            <a:ext cx="10289743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TIER 2 // GOVERNED INTELLIGENCE (40–70 CAFES)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The Smart Assistant with Guardrails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AI recommends smart moves (e.g. +30% ad budget), but strict Policy Engines enforce rules.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Any budget delta &gt; €5 requires Sidy's 1-tap WhatsApp sign-off.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Mathematically impossible for an AI bug to drain bank accounts or leak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9744"/>
            <a:ext cx="10728655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10912"/>
            <a:ext cx="10289743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TIER 1 // ESSENTIAL AUTOMATION (25–40 CAFES) — START HERE</a:t>
            </a:r>
          </a:p>
          <a:p>
            <a:pPr>
              <a:spcAft>
                <a:spcPts val="600"/>
              </a:spcAft>
              <a:defRPr sz="1600" b="1">
                <a:solidFill>
                  <a:srgbClr val="181916"/>
                </a:solidFill>
                <a:latin typeface="Georgia"/>
              </a:defRPr>
            </a:pPr>
            <a:r>
              <a:t>The Tireless Grunt Worker (Sidy is Pilot)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Machine scrapes cafes, gets WhatsApps, drafts pitches, and parses order notes.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 retains 100% approval authority on every outbound message and invoice.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100% brand safe. Saves 15+ hours/week. Starts today with ZERO fragility.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05 // TIER 1 IN PLAIN ENGLISH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Tier 1: 'The Tireless Assistant' (Sidy is Pilot)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The machine gathers facts and proposes actions; Sidy taps Approve before anything is dispatched.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06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468172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THE 5-STAGE WORKFLOW // 100% HUMAN-IN-THE-LOOP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Read ➔ Analyze ➔ Propose ➔ Approve ➔ Execute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1. Read: Scans Google Maps &amp; Instagram for specialty brunch cafes with &gt;30 seats.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2. Analyze: Evaluates menu pricing, specialty coffee aesthetic, and owner details.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3. Propose: Drafts personalized WhatsApp message pitching the €19 teapot kit.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4. Sidy Approves: Message appears on Sidy's phone. Sidy taps Approve or edits.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5. Execute: Temporal sends WhatsApp, creates Dolibarr card, schedules follow-up.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Zero Brand Risk: Sidy protects botanical integrity &amp; tone; AI never sends alone.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Saves 15+ Hours/Week: No more late-night manual typing or deciphering notes.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Target: 25 ➔ 40 Cafes | ~€5,000/month steady wholesale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45920"/>
            <a:ext cx="53766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dolibarr_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20240"/>
            <a:ext cx="5102352" cy="39427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102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444C32"/>
                </a:solidFill>
                <a:latin typeface="Calibri"/>
              </a:defRPr>
            </a:pPr>
            <a:r>
              <a:t>WHAT DOLIBARR LOOKS LIKE // HANDWRITTEN NOTE ➔ AUTO INVOICE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06 // TIER 2 IN PLAIN ENGLISH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Tier 2: 'The Smart Assistant with Guardrails'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AI suggests business optimizations, but unbreakable Policy Engines prevent errors or runaway spend.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07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468172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REAL-WORLD EXAMPLE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Increasing Meta Ad Budget by +30%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1. AI Observes: Berlin brunch ad has 4.2x ROAS. Suggests raising €30 ➔ €39/day.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2. Hard Ceiling Check: Is €39 under our maximum €50/day policy cap? (YES).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3. Threshold Check: Does delta (&gt;€5) require human sign-off? (YES).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4. Sidy Signs Off: WhatsApp ping dings: [Approve +€9/day for Berlin Brunch Ad?].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5. Verify State: AI calls Meta API, then re-queries Meta to confirm €39.00 (NOT €390).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Zero Runaway Spend: Mathematically impossible for AI glitch to drain accounts.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Zero Pricing Leaks: Wholesale volume discounts follow strict tables, not whims.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Target: 40 ➔ 70 Cafes | ~€12,000/month recurring wholesale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45920"/>
            <a:ext cx="53766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er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737360"/>
            <a:ext cx="27432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102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C48737"/>
                </a:solidFill>
                <a:latin typeface="Calibri"/>
              </a:defRPr>
            </a:pPr>
            <a:r>
              <a:t>THE GOVERNED DECISION CONTRACT GATE // STRICT BOUNDARIES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07 // TIER 3 IN PLAIN ENGLISH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Tier 3: 'The Self-Running Business Machine'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Alandas runs like a multi-million-euro beverage brand with zero extra office staff.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08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4681728" cy="4169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F5339"/>
                </a:solidFill>
                <a:latin typeface="Calibri"/>
              </a:defRPr>
            </a:pPr>
            <a:r>
              <a:t>THE CLOSED-LOOP FLYWHEEL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Munich Terrace Summer Scenario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1. Reorder Surge: In July, Munich cafes reorder Earl Grey 2x faster for iced tea.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2. Operations Alerts Marketing: System detects Munich terrace surge in real time.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3. Automated Ad Copy: Marketing Agent writes: 'Serving iced tea on your terrace? Try our €19 kit.'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4. Closed-Loop Optimization: Launches tests and scales ad spend without manual human effort.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Zero Linear Headcount: Operates across Germany, Austria &amp; Switzerland.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Automated Circuit Breakers: Any anomaly halts the system instantly.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 Acts as Chairman: Reviews weekly digests while enjoying tea.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Target: 100+ Cafes | €20k–€30k/month. Sidy is 100% his own boss.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645920"/>
            <a:ext cx="53766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er3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193792" cy="67519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91640"/>
            <a:ext cx="510235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F5339"/>
                </a:solidFill>
                <a:latin typeface="Calibri"/>
              </a:defRPr>
            </a:pPr>
            <a:r>
              <a:t>THE AUTONOMOUS CLOSED-LOOP COMMERCIAL FLYWHEEL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08 // TECHNICAL DEFENSE MADE SIMPLE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The 3 Technical 'Secret Weapons' (In Plain English)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Three simple metaphors to explain the architecture to Sidy or investors without confusing jargon.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09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29626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SECRET WEAPON 01</a:t>
            </a:r>
          </a:p>
          <a:p>
            <a:pPr>
              <a:spcAft>
                <a:spcPts val="2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Temporal vs. n8n</a:t>
            </a:r>
          </a:p>
          <a:p>
            <a:pPr>
              <a:spcAft>
                <a:spcPts val="800"/>
              </a:spcAft>
              <a:defRPr sz="1150" b="1">
                <a:solidFill>
                  <a:srgbClr val="444C32"/>
                </a:solidFill>
                <a:latin typeface="Calibri"/>
              </a:defRPr>
            </a:pPr>
            <a:r>
              <a:t>Carving in Stone vs. Sticky Notes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n8n writes orders on sticky notes. When the server crashes, notes blow away and data is lost.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Temporal carves every step into solid rock. If the server reboots, it resumes at the exact line of code.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Zero lost invoices, zero lost cafe leads. 100% durable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83080"/>
            <a:ext cx="29626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SECRET WEAPON 02</a:t>
            </a:r>
          </a:p>
          <a:p>
            <a:pPr>
              <a:spcAft>
                <a:spcPts val="2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Impressum Waterfall</a:t>
            </a:r>
          </a:p>
          <a:p>
            <a:pPr>
              <a:spcAft>
                <a:spcPts val="800"/>
              </a:spcAft>
              <a:defRPr sz="1150" b="1">
                <a:solidFill>
                  <a:srgbClr val="C48737"/>
                </a:solidFill>
                <a:latin typeface="Calibri"/>
              </a:defRPr>
            </a:pPr>
            <a:r>
              <a:t>Cheapest Tool First (87% Savings)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Normal agencies waste €80 looking up 1,000 leads.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Under German § 5 TMG law, every site publishes owner details. Our free scraper gets 48% of leads for €0.00.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We only call paid tools for the missed few. Total cost: €10 instead of €80.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783080"/>
            <a:ext cx="29626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F5339"/>
                </a:solidFill>
                <a:latin typeface="Calibri"/>
              </a:defRPr>
            </a:pPr>
            <a:r>
              <a:t>SECRET WEAPON 03</a:t>
            </a:r>
          </a:p>
          <a:p>
            <a:pPr>
              <a:spcAft>
                <a:spcPts val="200"/>
              </a:spcAft>
              <a:defRPr sz="1800" b="1">
                <a:solidFill>
                  <a:srgbClr val="181916"/>
                </a:solidFill>
                <a:latin typeface="Georgia"/>
              </a:defRPr>
            </a:pPr>
            <a:r>
              <a:t>Policy Engine Bouncer</a:t>
            </a:r>
          </a:p>
          <a:p>
            <a:pPr>
              <a:spcAft>
                <a:spcPts val="800"/>
              </a:spcAft>
              <a:defRPr sz="1150" b="1">
                <a:solidFill>
                  <a:srgbClr val="2F5339"/>
                </a:solidFill>
                <a:latin typeface="Calibri"/>
              </a:defRPr>
            </a:pPr>
            <a:r>
              <a:t>The Guardrail at the Bank Vault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No AI is ever handed Sidy's credit card or pricing authority.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AI writes a typed proposal. The Policy Engine checks: Is discount allowed? Is budget safe?</a:t>
            </a:r>
          </a:p>
          <a:p>
            <a:pPr>
              <a:spcAft>
                <a:spcPts val="500"/>
              </a:spcAft>
              <a:defRPr sz="1200">
                <a:solidFill>
                  <a:srgbClr val="545148"/>
                </a:solidFill>
                <a:latin typeface="Calibri"/>
              </a:defRPr>
            </a:pPr>
            <a:r>
              <a:t>•  If unusual, it rings Sidy's phone for 1-tap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FCF4E8"/>
          </a:solidFill>
          <a:ln w="15240">
            <a:solidFill>
              <a:srgbClr val="F0D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23560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8737"/>
                </a:solidFill>
                <a:latin typeface="Calibri"/>
              </a:defRPr>
            </a:pPr>
            <a:r>
              <a:t>CORE ARCHITECTURAL DEFENSE: Zero low-code toys. Zero lost data via Temporal state durability. Zero runaway spend via deterministic Policy Engines.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09 // ARCHITECTURE COMPARISON &amp; SELECTION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Choose Your Tier: Modular Revenue Architecture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Sidy chooses which tier fits his current stage and comfort. Every tier is modular—you never discard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10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2962656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OPTION 01 // RECOMMENDED START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Tier 1: Essential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The Tireless Assistant (Sidy is Pilot)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What It Solves: Stops 20+ hours of manual Google Maps scraping &amp; messaging.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Core Engine: Legal Impressum § 5 TMG scraper, AI drafts, Dolibarr invoice OCR.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Human Control: Sidy approves every outbound message on WhatsApp.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Sidy's Routine: Spends just 30 mins/day on WhatsApp reviews.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 Scale: 25 ➔ 40 Cafes | ~€5,000 / month recurring cashflow.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847088"/>
            <a:ext cx="2962656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48737"/>
                </a:solidFill>
                <a:latin typeface="Calibri"/>
              </a:defRPr>
            </a:pPr>
            <a:r>
              <a:t>OPTION 02 // GROWTH &amp; PROTECTION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Tier 2: Governed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Smart Assistant with Guardrails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What It Solves: Eliminates silent cafe churn and prevents runaway ad spend.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Core Engine: Policy Engine (+30% ad rules, hard caps), Day-25 refill alerts.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Human Control: Any budget change &gt;€5 requires Sidy's 1-tap WhatsApp sign-off.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Sidy's Routine: Admin drops to &lt; 4 hrs/week. Sidy prepares notice at Swiss firm.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 Scale: 40 ➔ 70 Cafes | ~€12,000 / month recurring cashflow.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01568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847088"/>
            <a:ext cx="2962656" cy="3300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F5339"/>
                </a:solidFill>
                <a:latin typeface="Calibri"/>
              </a:defRPr>
            </a:pPr>
            <a:r>
              <a:t>OPTION 03 // ENTERPRISE SCALE</a:t>
            </a:r>
          </a:p>
          <a:p>
            <a:pPr>
              <a:spcAft>
                <a:spcPts val="600"/>
              </a:spcAft>
              <a:defRPr sz="1700" b="1">
                <a:solidFill>
                  <a:srgbClr val="181916"/>
                </a:solidFill>
                <a:latin typeface="Georgia"/>
              </a:defRPr>
            </a:pPr>
            <a:r>
              <a:t>Tier 3: Autonomous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Self-Running Multi-City Flywheel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What It Solves: Scales across Germany, Austria &amp; Switzerland without hiring reps.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Core Engine: Closed-loop reorder-to-ad flywheel, multi-city warehouse sync.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Human Control: Automatic circuit breakers halt anomalies; Sidy acts as Chairman.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Sidy's Routine: 100% full-time independent founder &amp; CEO (&lt; 2 hrs/week oversight).</a:t>
            </a:r>
          </a:p>
          <a:p>
            <a:pPr>
              <a:spcAft>
                <a:spcPts val="500"/>
              </a:spcAft>
              <a:defRPr sz="1150">
                <a:solidFill>
                  <a:srgbClr val="545148"/>
                </a:solidFill>
                <a:latin typeface="Calibri"/>
              </a:defRPr>
            </a:pPr>
            <a:r>
              <a:t>•  Target Scale: 100+ Cafes | €20,000–€30,000 / month recurring.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32120"/>
            <a:ext cx="10728655" cy="777240"/>
          </a:xfrm>
          <a:prstGeom prst="roundRect">
            <a:avLst/>
          </a:prstGeom>
          <a:solidFill>
            <a:srgbClr val="EDF5EF"/>
          </a:solidFill>
          <a:ln w="15240">
            <a:solidFill>
              <a:srgbClr val="D1D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23560"/>
            <a:ext cx="101800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5339"/>
                </a:solidFill>
                <a:latin typeface="Calibri"/>
              </a:defRPr>
            </a:pPr>
            <a:r>
              <a:t>THE FREEDOM PRINCIPLE: Sidy chooses where to begin. No fixed timeline. Tier 1 gives immediate relief on Day 1; higher tiers unlock whenever Sidy wants to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444C32"/>
                </a:solidFill>
                <a:latin typeface="Calibri"/>
              </a:defRPr>
            </a:pPr>
            <a:r>
              <a:t>10 // IMMEDIATE NEXT STEPS</a:t>
            </a:r>
          </a:p>
          <a:p>
            <a:pPr>
              <a:spcAft>
                <a:spcPts val="200"/>
              </a:spcAft>
              <a:defRPr sz="2600" b="1">
                <a:solidFill>
                  <a:srgbClr val="181916"/>
                </a:solidFill>
                <a:latin typeface="Georgia"/>
              </a:defRPr>
            </a:pPr>
            <a:r>
              <a:t>Starting Sprint 1 Today: The First 4 Concrete Steps</a:t>
            </a:r>
          </a:p>
          <a:p>
            <a:pPr>
              <a:defRPr sz="1250">
                <a:solidFill>
                  <a:srgbClr val="545148"/>
                </a:solidFill>
                <a:latin typeface="Calibri"/>
              </a:defRPr>
            </a:pPr>
            <a:r>
              <a:t>We do not need months of planning. We kick off Tier 1 immediately with 4 clear deliverables.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545148"/>
                </a:solidFill>
                <a:latin typeface="Calibri"/>
              </a:defRPr>
            </a:pPr>
            <a:r>
              <a:t>ALANDAS TEA BERLIN  •  EXECUTIVE CHEAT SHEET  |  SLIDE 11 OF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788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847088"/>
            <a:ext cx="2350008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STEP 01</a:t>
            </a:r>
          </a:p>
          <a:p>
            <a:pPr>
              <a:spcAft>
                <a:spcPts val="6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Stabilize Dolibarr CRM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Automate daily cloud backups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Clean existing 25 cafe accounts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Ensure order history is never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645920"/>
            <a:ext cx="2788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22776" y="1847088"/>
            <a:ext cx="2350008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STEP 02</a:t>
            </a:r>
          </a:p>
          <a:p>
            <a:pPr>
              <a:spcAft>
                <a:spcPts val="6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Standardize €19 Trial Kit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Assemble borosilicate teapot kit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Pack 4 signature tea blends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Include 100% wholesale credit voucher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788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224528"/>
            <a:ext cx="2350008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STEP 03</a:t>
            </a:r>
          </a:p>
          <a:p>
            <a:pPr>
              <a:spcAft>
                <a:spcPts val="6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Run § 5 TMG Scraper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Extract 200 brunch cafes in Berlin &amp; Munich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Resolve owner names &amp; emails for €0.00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Zero wasted lead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4023360"/>
            <a:ext cx="27889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22776" y="4224528"/>
            <a:ext cx="2350008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44C32"/>
                </a:solidFill>
                <a:latin typeface="Calibri"/>
              </a:defRPr>
            </a:pPr>
            <a:r>
              <a:t>STEP 04</a:t>
            </a:r>
          </a:p>
          <a:p>
            <a:pPr>
              <a:spcAft>
                <a:spcPts val="600"/>
              </a:spcAft>
              <a:defRPr sz="1500" b="1">
                <a:solidFill>
                  <a:srgbClr val="181916"/>
                </a:solidFill>
                <a:latin typeface="Georgia"/>
              </a:defRPr>
            </a:pPr>
            <a:r>
              <a:t>1-Tap WhatsApp Pilot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Generate first 10 personalized drafts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Send to Sidy's WhatsApp for review</a:t>
            </a:r>
          </a:p>
          <a:p>
            <a:pPr>
              <a:spcAft>
                <a:spcPts val="500"/>
              </a:spcAft>
              <a:defRPr sz="1100">
                <a:solidFill>
                  <a:srgbClr val="545148"/>
                </a:solidFill>
                <a:latin typeface="Calibri"/>
              </a:defRPr>
            </a:pPr>
            <a:r>
              <a:t>•  Sidy taps Approve with one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45920"/>
            <a:ext cx="464515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andas_trial_teapot_k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83080"/>
            <a:ext cx="4279392" cy="3195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95160" y="5074920"/>
            <a:ext cx="427939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C48737"/>
                </a:solidFill>
                <a:latin typeface="Calibri"/>
              </a:defRPr>
            </a:pPr>
            <a:r>
              <a:t>SPRINT 1 TANGIBLE DELIVERABLE</a:t>
            </a:r>
          </a:p>
          <a:p>
            <a:pPr>
              <a:defRPr sz="1150">
                <a:solidFill>
                  <a:srgbClr val="181916"/>
                </a:solidFill>
                <a:latin typeface="Calibri"/>
              </a:defRPr>
            </a:pPr>
            <a:r>
              <a:t>The €19 Trial Teapot Starter Kit is ready to dispatch to the first 10 Berlin cafes this week. Real, tangible progress on Day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